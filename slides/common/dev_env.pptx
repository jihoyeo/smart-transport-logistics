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과목이 같은 환경을 쓴다. 설치가 막히는 사람은 손을 들게 하고, 끝난 사람이 옆자리를 돕게 한다. 오늘 안 끝나면 오피스 아워에서 이어 처리한다.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가지가 각자 노트북에서 확인되어야 다음 시간 실습이 나간다. 마지막 항목은 설치가 아니라 소개다.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Antigravity가 VS Code 기반이라 확장과 단축키가 거의 같다. 둘 다 깔아도 되고, 주력 하나를 정해 두면 수업 진행이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3.11로 고정하는 이유는 두 과목의 실습 코드가 그 버전에서 검증되어 있어서다. 이미 3.12나 3.13이 깔린 사람도 3.11을 추가로 설치하면 된다. 윈도우에서 파이썬이 안 잡히면 대부분 PATH 항목을 놓친 경우다.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가상환경은 과목마다 하나씩 만든다. 프롬프트 앞에 .venv 표시가 붙으면 활성화된 것이다. 윈도우에서 실행 정책 오류가 나면 Set-ExecutionPolicy -Scope CurrentUser RemoteSigned를 한 번 실행한다.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여기까지가 파이썬 쪽 끝이다. 인터프리터를 .venv로 안 잡으면 터미널에서는 되는데 편집기에서만 임포트가 실패한다. 학기 내내 가장 자주 나오는 증상이다.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셋의 차이는 성능이 아니라 사람이 어디에 앉아 있는가다. 편집기는 사람이 중심이고, 터미널 에이전트는 지시와 확인이 중심이다. 오른쪽 Orca는 오늘 설치하지 않고 마지막에 소개만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윈도우는 파워셸에서 실행한다. Git for Windows를 함께 깔면 에이전트가 배시를 쓸 수 있어 명령 호환 문제가 준다. 설치 후 터미널을 새로 열어야 claude 명령이 잡힌다.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노드를 안 깔았으면 nodejs.org에서 LTS를 먼저 설치한다. 설치가 계속 막히면 웹 버전으로 진행해도 오늘 목표에는 지장이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에디터 안에 에이전트가 들어 있는 형태라 터미널이 낯선 사람이 시작하기 쉽다. 인텔 맥은 지원 대상이 아니므로 그 경우 VS Code에 터미널 에이전트 조합으로 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개를 다 깔게 하는 이유는 한도가 서로 다른 시점에 소진되기 때문이다. 과제는 셋 중 무엇을 썼는지 묻지 않는다. 학생 계정 지원 여부는 단톡방에 공지한다.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폴더를 잘못 열고 지시하면 엉뚱한 파일이 바뀐다. 첫 줄에서 경로를 확인하는 습관을 오늘 들인다.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각자 한 번 시켜 본다. 설치가 이미 끝난 사람은 파이썬 버전과 설치된 패키지를 정리해 달라고 시킨다. 지시가 길 필요는 없고, 목적과 실패 시 행동을 적는 것으로 충분하다.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 사용 여부는 묻지 않는다. 설명할 수 있는지만 확인한다. 설명하지 못하는 제출물은 점수가 없다는 규칙을 여기서 한 번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코드를 쓰는 시간보다 확인하는 시간이 길어지는 것이 정상이다. 두 과목 과제 채점이 전부 이 항목을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브랜치를 폴더로 펼쳐 놓은 것이 worktree다. 에이전트마다 폴더가 다르니 같은 파일을 동시에 고쳐도 충돌하지 않는다. 관심 있는 사람은 깃허브 stablyai/orca에서 내려받는다.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도구를 늘리는 것이 진도를 늘리지 않는다. 확인이 병목이면 병렬 실행은 대기 화면만 늘린다.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손을 들게 해 확인한다. 통과하지 못한 사람의 오류 메시지를 모아 오피스 아워에 처리한다.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목표 네 가지를 다시 확인하고 마친다.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과목별 첫 실습 내용은 각 과목 덱에서 이어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개발 환경과 AI 코딩 에이전트 · 2026-2 공용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공용 · 스마트 교통물류 / AI 모빌리티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1주차 공용 세션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개발 환경과 AI 코딩 에이전트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VS Code · 파이썬 · Claude Code · Codex · Antigravity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2학기 1주차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공용 세션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오늘 준비하는 것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오늘 만드는 작업 환경  ·  1.2 학습 목표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편집기와 파이썬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VS Code 설치와 확장  ·  2.2 파이썬 3.11 설치  ·  2.3 프로젝트 폴더와 가상환경  ·  2.4 설치 확인 3단계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코딩 에이전트 세 가지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도구의 층위  ·  3.2 Claude Code 설치  ·  3.3 Codex 설치  ·  3.4 Antigravity 설치  ·  3.5 계정과 사용 한도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에이전트와 함께 하는 환경 세팅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에이전트를 여는 위치  ·  4.2 첫 지시 문장  ·  4.3 에이전트가 대신 못 하는 것  ·  4.4 결과 확인 항목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여러 에이전트 병렬 실행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Orca  ·  5.2 병렬 실행이 필요한 시점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설치 확인 목록  ·  6.2 오늘의 정리  ·  6.3 다음 시간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오늘 준비하는 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오늘 만드는 작업 환경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오늘 만드는 작업 환경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오늘 준비하는 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설치 대상 4가지 — 편집기, 파이썬, 터미널 에이전트 2종</a:t>
            </a:r>
          </a:p>
          <a:p>
            <a:pPr/>
            <a:r>
              <a:t>두 과목 공용 — 같은 환경으로 한 학기 진행</a:t>
            </a:r>
          </a:p>
          <a:p>
            <a:pPr/>
            <a:r>
              <a:t>진행 방식: 슬라이드를 화면에 표시한 상태로 각자 노트북에서 설치</a:t>
            </a:r>
          </a:p>
          <a:p>
            <a:pPr/>
            <a:r>
              <a:t>오늘의 종료 조건: 확인 항목 네 개가 각자 화면에서 통과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오늘 준비하는 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VS Code와 파이썬 설치, 가상환경까지 확인</a:t>
            </a:r>
          </a:p>
          <a:p>
            <a:pPr/>
            <a:r>
              <a:t>코딩 에이전트 3종 설치와 로그인</a:t>
            </a:r>
          </a:p>
          <a:p>
            <a:pPr/>
            <a:r>
              <a:t>환경 오류를 에이전트에게 맡기고 결과를 사람이 확인</a:t>
            </a:r>
          </a:p>
          <a:p>
            <a:pPr/>
            <a:r>
              <a:t>에이전트를 여러 개 굴리는 도구의 위치 파악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VS Code 설치와 확장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2.2  </a:t>
            </a:r>
            <a:r>
              <a:t>파이썬 3.11 설치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2.3  </a:t>
            </a:r>
            <a:r>
              <a:t>프로젝트 폴더와 가상환경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2.4  </a:t>
            </a:r>
            <a:r>
              <a:t>설치 확인 3단계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VS Code 설치와 확장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내려받기: code.visualstudio.com — 운영체제 자동 인식</a:t>
            </a:r>
          </a:p>
          <a:p>
            <a:pPr/>
            <a:r>
              <a:t>Windows 설치 화면: PATH 추가 항목 체크</a:t>
            </a:r>
          </a:p>
          <a:p>
            <a:pPr/>
            <a:r>
              <a:t>확장 3개</a:t>
            </a:r>
          </a:p>
          <a:p>
            <a:pPr lvl="1"/>
            <a:r>
              <a:t>Python · Jupyter · Korean Language Pack</a:t>
            </a:r>
          </a:p>
          <a:p>
            <a:pPr/>
            <a:r>
              <a:t>편집기 선택: VS Code 또는 Antigravity 중 하나를 주력으로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2.2 파이썬 3.11 설치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내려받기: python.org — 3.11 계열</a:t>
            </a:r>
          </a:p>
          <a:p>
            <a:pPr/>
            <a:r>
              <a:t>Windows 설치 첫 화면: PATH 추가 항목 체크 후 설치</a:t>
            </a:r>
          </a:p>
          <a:p>
            <a:pPr/>
            <a:r>
              <a:t>macOS: python.org 설치본 또는 Homebrew</a:t>
            </a:r>
          </a:p>
          <a:p>
            <a:pPr/>
            <a:r>
              <a:t>확인: python --version → Python 3.11.x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2.3 프로젝트 폴더와 가상환경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폴더 위치: 한글과 공백이 없는 경로 (예: C 드라이브 아래 dev 폴더)</a:t>
            </a:r>
          </a:p>
          <a:p>
            <a:pPr/>
            <a:r>
              <a:t>가상환경 생성: python -m venv .venv</a:t>
            </a:r>
          </a:p>
          <a:p>
            <a:pPr/>
            <a:r>
              <a:t>활성화</a:t>
            </a:r>
          </a:p>
          <a:p>
            <a:pPr lvl="1"/>
            <a:r>
              <a:t>Windows: .venv\Scripts\Activate.ps1</a:t>
            </a:r>
          </a:p>
          <a:p>
            <a:pPr lvl="1"/>
            <a:r>
              <a:t>macOS·Linux: source .venv/bin/activate</a:t>
            </a:r>
          </a:p>
          <a:p>
            <a:pPr/>
            <a:r>
              <a:t>패키지 설치: pip install -r requirements.txt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2.4 설치 확인 3단계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편집기와 파이썬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파이썬 버전: python --version</a:t>
            </a:r>
          </a:p>
          <a:p>
            <a:pPr/>
            <a:r>
              <a:t>패키지 목록: pip list — requirements의 이름이 보이는지</a:t>
            </a:r>
          </a:p>
          <a:p>
            <a:pPr/>
            <a:r>
              <a:t>VS Code 인터프리터: 명령 팔레트에서 Python: Select Interpreter → .venv 선택</a:t>
            </a:r>
          </a:p>
          <a:p>
            <a:pPr/>
            <a:r>
              <a:t>확인 지점: 편집기 왼쪽 아래 인터프리터 표시가 .venv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코딩 에이전트 세 가지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도구의 층위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Claude Code 설치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Codex 설치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3.4  </a:t>
            </a:r>
            <a:r>
              <a:t>Antigravity 설치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3.5  </a:t>
            </a:r>
            <a:r>
              <a:t>계정과 사용 한도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도구의 층위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코딩 에이전트 세 가지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편집기: 사람이 코드를 보고 고치는 곳</a:t>
            </a:r>
          </a:p>
          <a:p>
            <a:pPr/>
            <a:r>
              <a:t>터미널 에이전트: 지시를 받아 파일을 직접 고치는 프로그램</a:t>
            </a:r>
          </a:p>
          <a:p>
            <a:pPr/>
            <a:r>
              <a:t>공통점: 대상이 같은 프로젝트 폴더 하나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편집기와 터미널 에이전트가 같은 프로젝트 폴더를 고치고, Orca는 에이전트별로 폴더를 나눈다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tools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565392" cy="26150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Claude Code 설치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코딩 에이전트 세 가지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설치 명령</a:t>
            </a:r>
          </a:p>
          <a:p>
            <a:pPr lvl="1"/>
            <a:r>
              <a:t>Windows PowerShell: irm https://claude.ai/install.ps1 | iex</a:t>
            </a:r>
          </a:p>
          <a:p>
            <a:pPr lvl="1"/>
            <a:r>
              <a:t>macOS·Linux: curl -fsSL https://claude.ai/install.sh | bash</a:t>
            </a:r>
          </a:p>
          <a:p>
            <a:pPr/>
            <a:r>
              <a:t>확인: claude --version → 버전 번호 출력</a:t>
            </a:r>
          </a:p>
          <a:p>
            <a:pPr/>
            <a:r>
              <a:t>첫 실행: 프로젝트 폴더에서 claude 입력 → 브라우저 로그인</a:t>
            </a:r>
          </a:p>
          <a:p>
            <a:pPr/>
            <a:r>
              <a:t>계정 요건: Anthropic 유료 플랜 (무료 플랜 제외)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Codex 설치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코딩 에이전트 세 가지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사전 조건: Node.js 18 이상</a:t>
            </a:r>
          </a:p>
          <a:p>
            <a:pPr/>
            <a:r>
              <a:t>설치 명령: npm install -g @openai/codex</a:t>
            </a:r>
          </a:p>
          <a:p>
            <a:pPr/>
            <a:r>
              <a:t>첫 실행: codex 입력 → ChatGPT 계정 로그인</a:t>
            </a:r>
          </a:p>
          <a:p>
            <a:pPr/>
            <a:r>
              <a:t>계정 요건: ChatGPT 유료 플랜 또는 OpenAI API 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3.4 Antigravity 설치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코딩 에이전트 세 가지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내려받기: antigravity.google/download</a:t>
            </a:r>
          </a:p>
          <a:p>
            <a:pPr/>
            <a:r>
              <a:t>요건: Windows 10 64비트 이상, macOS 12 이상(애플 실리콘), Linux</a:t>
            </a:r>
          </a:p>
          <a:p>
            <a:pPr/>
            <a:r>
              <a:t>로그인: 구글 계정 · 인터넷 연결 필요</a:t>
            </a:r>
          </a:p>
          <a:p>
            <a:pPr/>
            <a:r>
              <a:t>구조: VS Code 기반 — 확장과 단축키 대부분 동일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3.5 계정과 사용 한도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코딩 에이전트 세 가지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한도와 요금제는 학기 중에도 변경</a:t>
            </a:r>
          </a:p>
          <a:p>
            <a:pPr/>
            <a:r>
              <a:t>과제 설계 전제: 특정 도구나 한도를 요구하지 않음</a:t>
            </a:r>
          </a:p>
          <a:p>
            <a:pPr/>
            <a:r>
              <a:t>도구 하나가 막히면 다른 하나로 진행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도구별 계정 요건과 한도 소진 시 대비책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641348"/>
                <a:gridCol w="1641348"/>
                <a:gridCol w="1641348"/>
                <a:gridCol w="1641348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도구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계정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요금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대비책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Claude Code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Anthropic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유료 플랜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웹 Claude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Codex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ChatGPT 또는 API 키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유료 플랜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웹 Codex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Antigravity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구글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무료 시작, 한도 있음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Google Colab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에이전트와 함께 하는 환경 세팅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에이전트를 여는 위치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첫 지시 문장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4.3  </a:t>
            </a:r>
            <a:r>
              <a:t>에이전트가 대신 못 하는 것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4.4  </a:t>
            </a:r>
            <a:r>
              <a:t>결과 확인 항목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에이전트를 여는 위치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에이전트와 함께 하는 환경 세팅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실행 위치: 프로젝트 폴더에서 터미널 실행 → 그 폴더가 작업 범위</a:t>
            </a:r>
          </a:p>
          <a:p>
            <a:pPr/>
            <a:r>
              <a:t>VS Code: 터미널 메뉴에서 새 터미널 열기</a:t>
            </a:r>
          </a:p>
          <a:p>
            <a:pPr/>
            <a:r>
              <a:t>첫 확인: 현재 경로와 파일 목록을 먼저 출력</a:t>
            </a:r>
          </a:p>
          <a:p>
            <a:pPr/>
            <a:r>
              <a:t>위험 지점: 홈 폴더나 바탕화면에서 실행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첫 지시 문장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에이전트와 함께 하는 환경 세팅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지시 예시: 이 폴더의 requirements.txt로 가상환경을 만들고 설치, 실패 시 오류 원문과 원인 보고</a:t>
            </a:r>
          </a:p>
          <a:p>
            <a:pPr/>
            <a:r>
              <a:t>오류 전달 방식: 화면 캡처가 아니라 터미널 출력 원문</a:t>
            </a:r>
          </a:p>
          <a:p>
            <a:pPr/>
            <a:r>
              <a:t>한 번에 한 가지 — 설치와 분석을 한 지시에 섞지 않기</a:t>
            </a:r>
          </a:p>
          <a:p>
            <a:pPr/>
            <a:r>
              <a:t>실행 전 확인: 무엇을 바꿀 것인지 먼저 말하게 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4.3 에이전트가 대신 못 하는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에이전트와 함께 하는 환경 세팅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데이터의 의미와 결과의 타당성 판단</a:t>
            </a:r>
          </a:p>
          <a:p>
            <a:pPr/>
            <a:r>
              <a:t>과목 규칙 — 제출 형식, 마감, 허용 범위</a:t>
            </a:r>
          </a:p>
          <a:p>
            <a:pPr/>
            <a:r>
              <a:t>무엇이 실제로 바뀌었는지 확인 (git status, 파일 목록)</a:t>
            </a:r>
          </a:p>
          <a:p>
            <a:pPr/>
            <a:r>
              <a:t>책임: 제출물의 정확성은 제출한 학생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4.4 결과 확인 항목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에이전트와 함께 하는 환경 세팅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행 수: 읽어들인 결과가 원본 파일과 일치</a:t>
            </a:r>
          </a:p>
          <a:p>
            <a:pPr/>
            <a:r>
              <a:t>결측: 삭제인지 대체인지, 대체면 어떤 값인지</a:t>
            </a:r>
          </a:p>
          <a:p>
            <a:pPr/>
            <a:r>
              <a:t>필터: 조건이 의도한 범위와 일치</a:t>
            </a:r>
          </a:p>
          <a:p>
            <a:pPr/>
            <a:r>
              <a:t>확인 없이 넘어간 코드가 오차의 출처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여러 에이전트 병렬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Orca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병렬 실행이 필요한 시점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Orca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여러 에이전트 병렬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형태: 오픈소스 데스크톱 앱 — 에이전트 CLI 여러 개를 한 화면에서 실행</a:t>
            </a:r>
          </a:p>
          <a:p>
            <a:pPr/>
            <a:r>
              <a:t>격리 방식: 깃 worktree 하나에 에이전트 하나</a:t>
            </a:r>
          </a:p>
          <a:p>
            <a:pPr/>
            <a:r>
              <a:t>지원 범위: Claude Code, Codex 등 CLI 30종 이상</a:t>
            </a:r>
          </a:p>
          <a:p>
            <a:pPr/>
            <a:r>
              <a:t>오늘 설치 대상 아님 — 존재와 쓰임만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병렬 실행이 필요한 시점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여러 에이전트 병렬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지금 단계: 에이전트 하나로 충분</a:t>
            </a:r>
          </a:p>
          <a:p>
            <a:pPr/>
            <a:r>
              <a:t>필요해지는 시점: 팀 프로젝트에서 사람마다 다른 시나리오를 동시에</a:t>
            </a:r>
          </a:p>
          <a:p>
            <a:pPr/>
            <a:r>
              <a:t>판단 기준: 기다리는 시간이 확인하는 시간보다 길어질 때</a:t>
            </a:r>
          </a:p>
          <a:p>
            <a:pPr/>
            <a:r>
              <a:t>주의: 병렬로 늘려도 확인은 사람 몫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설치 확인 목록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오늘의 정리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6.3  </a:t>
            </a:r>
            <a:r>
              <a:t>다음 시간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설치 확인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네 항목이 통과하면 오늘 목표 달성</a:t>
            </a:r>
          </a:p>
          <a:p>
            <a:pPr/>
            <a:r>
              <a:t>하나라도 막히면 오류 원문을 단톡방에 올리기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도구별 확인 방법과 정상 출력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도구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확인 방법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정상 출력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파이썬과 가상환경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python --version · pip list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3.11.x와 패키지 목록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Claude Code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claude --version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버전 번호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Codex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codex --version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버전 번호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Antigravity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앱 실행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구글 계정 로그인 상태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오늘의 정리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환경: VS Code · 파이썬 3.11 · 가상환경 · 에이전트 3종</a:t>
            </a:r>
          </a:p>
          <a:p>
            <a:pPr/>
            <a:r>
              <a:t>에이전트의 작업 범위 = 터미널을 연 폴더</a:t>
            </a:r>
          </a:p>
          <a:p>
            <a:pPr/>
            <a:r>
              <a:t>확인은 사람 몫 — 행 수, 결측, 필터, 넘어간 코드</a:t>
            </a:r>
          </a:p>
          <a:p>
            <a:pPr/>
            <a:r>
              <a:t>병렬 실행 도구는 확인이 아니라 대기를 줄이는 도구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6.3 다음 시간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두 과목 모두 다음 시간부터 각자 노트북에서 코드 실행</a:t>
            </a:r>
          </a:p>
          <a:p>
            <a:pPr/>
            <a:r>
              <a:t>준비물: 오늘 만든 가상환경, 로그인된 에이전트 1개 이상</a:t>
            </a:r>
          </a:p>
          <a:p>
            <a:pPr/>
            <a:r>
              <a:t>막힌 항목: 오피스 아워 수요일 17시부터 20시까지</a:t>
            </a:r>
          </a:p>
          <a:p>
            <a:pPr/>
            <a:r>
              <a:t>설치 관련 질문은 단톡방 — 오류 원문 포함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확인 항목 네 개를 각자 노트북에서 통과시키고 마칩니다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막힌 사람은 오피스 아워 수요일 17시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