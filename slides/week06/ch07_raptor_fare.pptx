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7장 도입부. 파라미터를 임의로 정하는 대신 측정하고 정하는 태도가 이 장의 주제다.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7장 학습 목표와 같다. 네 번째가 이 장에서 가장 오래 남는 부분이다.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슬라이드는 개요만 다룬다. 세부 내용과 코드는 교재 원고와 실습 노트북에서 확인한다. 교재 저장소는 비공개이므로 초대받은 계정으로 로그인한 상태여야 주소가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값을 임의로 두는 것보다 측정하고 두는 편이 낫다. 파일럿 프로젝트에서 대상지를 정한 뒤 이 실험을 먼저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도보 환승은 직선거리 기반이라 강이나 철길로 막힌 두 정류장에도 환승이 생성된다. 이 오류는 거리를 늘릴수록 심해진다. 거리를 늘리려면 보행 네트워크로 실제 경로를 확인해야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타는 횟수 곱하기 기본요금이 아니다. 버스에서 지하철로 갈아타도 1,550원 한 번만 낸다. 이것이 통합요금의 요점이다.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6장에서 구한 하남시청에서 미사역까지의 통행은 3.4 km라 기본요금 1,550원이다. 버스와 지하철을 둘 다 탔지만 한 번만 낸다. 이 구현은 성인 카드 기준이고 광역버스 할증, 심야 할증, 연령 할인, 30분 환승 제한을 포함하지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분포를 확인하지 않고 평균만 보고했다면 하남시 평균 통행시간 65분이라는 틀린 결론을 냈을 것이다. 1장에서 확인한 41분 승객과 같은 구조의 문제다.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어디를 가든 걷는 시간과 기다리는 시간은 비슷하다는 뜻이다.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숫자에서 정책으로 넘어가는 지점이다. 학생들에게 어느 쪽을 택할지 먼저 말하게 하고 근거를 요구한다.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요금이 환승을 억제하지 않는다는 뜻이다. 그런데도 사람들이 환승을 꺼리는 이유는 시간과 불편이다. 실제 엔진은 이것을 환승 저항으로 비용에 반영한다.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정확히 같은 값을 요구하지 않는다. 얼마나 다른지와 그 차이를 설명할 수 있는지가 채점 기준이다.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평균 65분과 중앙값 56분의 차이가 오늘의 결론이다. 8장에서는 한 사람의 경로가 아니라 수천 명의 수요를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HW2가 이번 주 마감이다. 직접 구현한 RAPTOR와 참조 결과의 대조표를 제출한다. 기말 팀 프로젝트도 이번 주에 시작하므로 팀 구성과 시나리오 배정을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7장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7장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7장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7장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7장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7장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7장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6주차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환승·요금과 대중교통 지표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7장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10월 6일 (화) · 10월 7일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7장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정하지 않고 넘어간 값들  ·  1.2 학습 목표  ·  1.3 교재와 실습을 여는 곳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7.1–7.2 환승 파라미터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환승 허용 횟수  ·  2.2 도보 환승 허용 거리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7.3 통합환승요금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세 줄 규칙  ·  3.2 손 검산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7.4–7.5 지표 분포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평균과 중앙값의 차이  ·  4.2 시간 구성  ·  4.3 개선 방향의 근거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7.6–7.7 환승·요금과 엔진 대조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환승 횟수와 요금의 관계  ·  5.2 실제 엔진과의 대조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정리와 연습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오늘의 정리  ·  6.2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정하지 않고 넘어간 값들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1.3  </a:t>
            </a:r>
            <a:r>
              <a:t>교재와 실습을 여는 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정하지 않고 넘어간 값들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6장 결과: 하남시청에서 미사역까지 23분, 도보 11분, 대기 5분</a:t>
            </a:r>
          </a:p>
          <a:p>
            <a:pPr/>
            <a:r>
              <a:t>그 계산에서 확정하지 않은 값 세 가지</a:t>
            </a:r>
          </a:p>
          <a:p>
            <a:pPr lvl="1"/>
            <a:r>
              <a:t>환승 허용 횟수</a:t>
            </a:r>
          </a:p>
          <a:p>
            <a:pPr lvl="1"/>
            <a:r>
              <a:t>도보 환승 허용 거리</a:t>
            </a:r>
          </a:p>
          <a:p>
            <a:pPr lvl="1"/>
            <a:r>
              <a:t>통행 요금</a:t>
            </a:r>
          </a:p>
          <a:p>
            <a:pPr/>
            <a:r>
              <a:t>이 장의 범위: 값을 정하고, 그 값이 결과를 얼마나 바꾸는지 측정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환승 허용 횟수와 도보 환승 거리가 결과에 미치는 영향 측정</a:t>
            </a:r>
          </a:p>
          <a:p>
            <a:pPr/>
            <a:r>
              <a:t>수도권 통합환승요금 구현과 손 검산</a:t>
            </a:r>
          </a:p>
          <a:p>
            <a:pPr/>
            <a:r>
              <a:t>통행시간, 차내, 도보, 대기, 환승, 요금 여섯 지표의 분포 확인</a:t>
            </a:r>
          </a:p>
          <a:p>
            <a:pPr/>
            <a:r>
              <a:t>평균으로는 보이지 않는 것을 분포에서 발견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1.3 교재와 실습을 여는 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저장소: github.com/jihoyeo/mobility-simulation-book — blob/main 아래 경로</a:t>
            </a:r>
          </a:p>
          <a:p>
            <a:pPr/>
            <a:r>
              <a:t>노트북 실행: jupyter lab labs/ch07_raptor_fare.ipynb</a:t>
            </a:r>
          </a:p>
          <a:p>
            <a:pPr/>
            <a:r>
              <a:t>진행 순서: 슬라이드 개요 → 교재 본문 → 실습 노트북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오늘 여는 파일과 경로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자료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경로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교재 원고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ko/ch07_raptor_fare.md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실습 노트북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labs/ch07_raptor_fare.ipynb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7.1–7.2 환승 파라미터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환승 허용 횟수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도보 환승 허용 거리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환승 허용 횟수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7.1–7.2 환승 파라미터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하남 규모에서는 환승 1회로 대부분 도달</a:t>
            </a:r>
          </a:p>
          <a:p>
            <a:pPr/>
            <a:r>
              <a:t>최대 라운드를 크게 설정하면 계산량만 증가</a:t>
            </a:r>
          </a:p>
          <a:p>
            <a:pPr/>
            <a:r>
              <a:t>대상지를 넓히면 결과가 달라짐 — 프로젝트에서 먼저 측정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환승 허용 횟수별 도달 정류장 수 (하남시청 오전 8시 출발)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허용 환승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도달 정류장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0회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1,679개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1회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4,152개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2회 이상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4개 추가에 그침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도보 환승 허용 거리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7.1–7.2 환승 파라미터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200 m에서 1,000 m로 확대 시 환승 쌍 12배, 도달 정류장은 15개 증가</a:t>
            </a:r>
          </a:p>
          <a:p>
            <a:pPr/>
            <a:r>
              <a:t>실제로 변하는 것은 도달 여부가 아니라 도착 시각</a:t>
            </a:r>
          </a:p>
          <a:p>
            <a:pPr/>
            <a:r>
              <a:t>확대의 대가: 실제로 걷기 어려운 환승이 포함</a:t>
            </a:r>
          </a:p>
          <a:p>
            <a:pPr/>
            <a:r>
              <a:t>채택값 500 m — 도보 약 7분, 사람이 감수하는 수준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7.3 통합환승요금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세 줄 규칙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손 검산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세 줄 규칙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7.3 통합환승요금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탄 수단 중 기본요금이 가장 비싼 것 하나만 부과</a:t>
            </a:r>
          </a:p>
          <a:p>
            <a:pPr/>
            <a:r>
              <a:t>총 이동거리 10 km까지는 기본요금만</a:t>
            </a:r>
          </a:p>
          <a:p>
            <a:pPr/>
            <a:r>
              <a:t>10 km 초과분은 5 km 단위로 올림해 가산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3. 수단별 기본요금과 거리 초과 요금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수단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기본요금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초과 5 km당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버스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1,500원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100원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도시철도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1,550원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100원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GTX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3,200원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250원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손 검산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7.3 통합환승요금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예시: 버스 4 km + 지하철 12 km = 총 16 km</a:t>
            </a:r>
          </a:p>
          <a:p>
            <a:pPr lvl="1"/>
            <a:r>
              <a:t>기본요금은 더 비싼 지하철 1,550원</a:t>
            </a:r>
          </a:p>
          <a:p>
            <a:pPr lvl="1"/>
            <a:r>
              <a:t>초과 6 km를 5 km 단위로 올림 → 2블록 × 100원</a:t>
            </a:r>
          </a:p>
          <a:p>
            <a:pPr lvl="1"/>
            <a:r>
              <a:t>합계 1,750원</a:t>
            </a:r>
          </a:p>
          <a:p>
            <a:pPr/>
            <a:r>
              <a:t>15.1 km와 20 km의 요금이 같은 이유: 올림 처리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7.4–7.5 지표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평균과 중앙값의 차이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시간 구성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4.3  </a:t>
            </a:r>
            <a:r>
              <a:t>개선 방향의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평균과 중앙값의 차이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7.4–7.5 지표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최댓값 16시간은 오류가 아님 — 다음 날 첫차 대기</a:t>
            </a:r>
          </a:p>
          <a:p>
            <a:pPr/>
            <a:r>
              <a:t>해당 사례는 하루 몇 회만 운행하는 시외 노선의 종점</a:t>
            </a:r>
          </a:p>
          <a:p>
            <a:pPr/>
            <a:r>
              <a:t>3시간 초과 통행에서는 대기시간이 대부분</a:t>
            </a:r>
          </a:p>
          <a:p>
            <a:pPr/>
            <a:r>
              <a:t>대표값으로는 중앙값 56분이 타당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4. 도달 가능한 정류장 300개 표본의 통행시간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통계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평균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65분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표준편차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66분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중앙값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56분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최댓값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1,007분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시간 구성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7.4–7.5 지표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차내시간은 넓게 분포, 도보와 대기는 좁게 집중</a:t>
            </a:r>
          </a:p>
          <a:p>
            <a:pPr/>
            <a:r>
              <a:t>해석: 목적지가 멀수록 차내시간 증가, 도보와 대기는 목적지와 무관</a:t>
            </a:r>
          </a:p>
          <a:p>
            <a:pPr/>
            <a:r>
              <a:t>구성비 — 차내 72.5%, 도보 14.3%, 대기 13.2%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극단값을 제외한 통행의 차내·도보·대기 시간 분포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7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4.3 개선 방향의 근거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7.4–7.5 지표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선택지 1: 버스 속도 향상 — 차내시간 단축</a:t>
            </a:r>
          </a:p>
          <a:p>
            <a:pPr/>
            <a:r>
              <a:t>선택지 2: 배차간격 단축 — 대기시간 단축</a:t>
            </a:r>
          </a:p>
          <a:p>
            <a:pPr/>
            <a:r>
              <a:t>대기 비중이 이 수준이면 배차 개선의 여지가 큼</a:t>
            </a:r>
          </a:p>
          <a:p>
            <a:pPr/>
            <a:r>
              <a:t>기말 프로젝트 시나리오 선택 시 이 분해를 근거로 사용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7.6–7.7 환승·요금과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환승 횟수와 요금의 관계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실제 엔진과의 대조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환승 횟수와 요금의 관계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7.6–7.7 환승·요금과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300개 표본 중 환승 0회는 24개 — 대부분 1회에서 3회</a:t>
            </a:r>
          </a:p>
          <a:p>
            <a:pPr/>
            <a:r>
              <a:t>환승 증가 시 통행시간은 증가</a:t>
            </a:r>
          </a:p>
          <a:p>
            <a:pPr/>
            <a:r>
              <a:t>환승 증가에도 요금은 거의 불변</a:t>
            </a:r>
          </a:p>
          <a:p>
            <a:pPr/>
            <a:r>
              <a:t>이유: 통합요금은 횟수가 아니라 거리에만 반응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실제 엔진과의 대조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7.6–7.7 환승·요금과 엔진 대조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서버가 있으면 우리 RAPTOR와 엔진 결과를 나란히 비교</a:t>
            </a:r>
          </a:p>
          <a:p>
            <a:pPr/>
            <a:r>
              <a:t>차이의 원인</a:t>
            </a:r>
          </a:p>
          <a:p>
            <a:pPr lvl="1"/>
            <a:r>
              <a:t>엔진은 도보 환승을 보행 네트워크로 계산</a:t>
            </a:r>
          </a:p>
          <a:p>
            <a:pPr lvl="1"/>
            <a:r>
              <a:t>승하차 소요시간 반영, 환승 저항을 비용에 포함</a:t>
            </a:r>
          </a:p>
          <a:p>
            <a:pPr/>
            <a:r>
              <a:t>판단 기준: 5분 차이면 대체로 정확, 30분 차이면 구현 오류</a:t>
            </a:r>
          </a:p>
          <a:p>
            <a:pPr/>
            <a:r>
              <a:t>파일럿 프로젝트 제출물에 이 대조표가 포함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하남에서는 환승 1회로 도달 정류장이 1,679개에서 4,152개로 증가</a:t>
            </a:r>
          </a:p>
          <a:p>
            <a:pPr/>
            <a:r>
              <a:t>도보 환승 거리 확대는 도달 정류장을 거의 늘리지 못하고 오류만 증가</a:t>
            </a:r>
          </a:p>
          <a:p>
            <a:pPr/>
            <a:r>
              <a:t>통합환승요금: 가장 비싼 기본요금 1회 + 10 km 초과분 5 km당 100원</a:t>
            </a:r>
          </a:p>
          <a:p>
            <a:pPr/>
            <a:r>
              <a:t>통행시간의 27.5%가 도보와 대기 — 배차 개선의 여지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7.1 ★ — 세 가지 통행의 요금 계산과 손 검산</a:t>
            </a:r>
          </a:p>
          <a:p>
            <a:pPr lvl="1"/>
            <a:r>
              <a:t>산출물: 각 요금과 계산 과정</a:t>
            </a:r>
          </a:p>
          <a:p>
            <a:pPr/>
            <a:r>
              <a:t>연습 7.2 ★★ — 출발지를 미사역으로 변경한 300개 표본 비교</a:t>
            </a:r>
          </a:p>
          <a:p>
            <a:pPr lvl="1"/>
            <a:r>
              <a:t>산출물: 두 출발지의 지표 비교표, 원인 설명 4~5줄</a:t>
            </a:r>
          </a:p>
          <a:p>
            <a:pPr/>
            <a:r>
              <a:t>연습 7.3 ★★★ — 30분 환승 제한 규칙 구현</a:t>
            </a:r>
          </a:p>
          <a:p>
            <a:pPr/>
            <a:r>
              <a:t>다음 장: 8장 통행 수요 생성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8장 — 통행 수요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