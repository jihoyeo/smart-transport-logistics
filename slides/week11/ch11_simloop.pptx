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11장 도입부. 이것이 끝나면 학기 초에 그린 시뮬레이터 그림의 상자가 전부 채워진다.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11장 학습 목표와 같다. 세 번째와 네 번째가 기말 프로젝트 보고서에 직접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1분이라는 단위는 정한 값이다. 짧게 하면 정밀해지지만 느려지고, 길게 하면 반대다. 택시 배차에서 1분은 사람이 체감하는 단위와 비슷해 적당하다.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엔진은 이것을 객체가 아니라 표 여러 개로 관리한다. 승객 1만 명이면 파이썬 객체 1만 개보다 표 하나가 훨씬 빠르다. 읽기는 우리 방식이 쉽고 실행은 그쪽이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기록에 남기는 컬럼 다섯 개는 실제 엔진의 기록 형식과 동일하게 맞췄다. 같은 형식이라야 대조할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근사를 쓴 대가를 다음 절에서 엔진과 대조해 확인한다. 연습 11.2에서 9장 예측 모델로 교체해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도시, 같은 수요, 같은 차량으로 실행한 결과다. 12장에서 이 대조를 지표 표로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대기 승객이 거의 0인 시나리오에서 상관계수를 보고하면 숫자는 나오지만 뜻이 없다. 프로젝트 보고서에서 자주 나오는 실수다.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엔진도 같은 구조다. 평균 대기 4분이라는 보고를 받으면 어느 대기인지 확인해야 한다. 이 구분이 12장 지표 해석의 기초가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1장에서 던진 차량을 절반으로 줄이면 어떻게 되는지가 이 표의 답이다. 승객의 대기시간과 운영자의 차량 비용 중 무엇을 얼마나 중시할지는 사람이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차량을 25대로 줄이면 차이가 다시 드러난다. 어떤 개선이 언제 의미가 있는지 확인하는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이것으로 시뮬레이터가 완성됐다. 학기 초 그림의 상자가 전부 채워졌다. 다음 주는 기말 프로젝트 발표다.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11.3은 12장에서 확인한 외곽 대기 문제에 대한 해법이다. 기말 프로젝트에서 노선 변경 시나리오를 맡은 팀원에게 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11주차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이산시간 시뮬레이션 루프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11장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11월 10일 (화) · 11월 11일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11장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재료가 다 모였습니다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11.1–11.2 스텝과 상태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한 스텝의 다섯 단계  ·  2.2 상태는 값 두 개면 충분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11.3–11.4 루프와 실행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배차 이후의 처리  ·  3.2 실행 결과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11.5 엔진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지표와 시계열 비교  ·  4.2 상관계수를 쓸 수 없는 경우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11.6 대기시간의 두 부분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포기 기준 10분인데 최대 26분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11.7–11.8 조건 변경과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1장 질문에 대한 답  ·  6.2 배차 방법의 효과  ·  6.3 오늘의 정리  ·  6.4 연습과 다음 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재료가 다 모였습니다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재료가 다 모였습니다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도로망 2장, 최단경로 3~4장, 수요 8장, 소요시간 예측 9장, 배차 10장</a:t>
            </a:r>
          </a:p>
          <a:p>
            <a:pPr/>
            <a:r>
              <a:t>이 장의 작업: 재료를 시간 축 위에서 결합</a:t>
            </a:r>
          </a:p>
          <a:p>
            <a:pPr/>
            <a:r>
              <a:t>만드는 것: 0장에서 한 줄로 호출했던 시뮬레이션 루프</a:t>
            </a:r>
          </a:p>
          <a:p>
            <a:pPr/>
            <a:r>
              <a:t>직접 구현 세 개 중 마지막 · 약 150줄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이산시간 시뮬레이션 한 스텝의 절차를 순서대로 기술</a:t>
            </a:r>
          </a:p>
          <a:p>
            <a:pPr/>
            <a:r>
              <a:t>상태를 클래스가 아니라 값 두 개로 표현하는 방법 확인</a:t>
            </a:r>
          </a:p>
          <a:p>
            <a:pPr/>
            <a:r>
              <a:t>직접 작성한 루프를 실제 엔진과 대조하고 차이 지점 발견</a:t>
            </a:r>
          </a:p>
          <a:p>
            <a:pPr/>
            <a:r>
              <a:t>대기시간이 두 부분으로 구성된다는 점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11.1–11.2 스텝과 상태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한 스텝의 다섯 단계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상태는 값 두 개면 충분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한 스텝의 다섯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11.1–11.2 스텝과 상태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접수와 포기 처리</a:t>
            </a:r>
          </a:p>
          <a:p>
            <a:pPr lvl="1"/>
            <a:r>
              <a:t>1단계: 이번 분에 들어온 호출을 대기 목록에 추가</a:t>
            </a:r>
          </a:p>
          <a:p>
            <a:pPr lvl="1"/>
            <a:r>
              <a:t>2단계: 기준 시간을 초과해 기다린 호출을 포기 처리</a:t>
            </a:r>
          </a:p>
          <a:p>
            <a:pPr/>
            <a:r>
              <a:t>3단계: 대기 승객과 빈 차가 모두 있으면 배차 — 10장에서 만든 부분</a:t>
            </a:r>
          </a:p>
          <a:p>
            <a:pPr/>
            <a:r>
              <a:t>갱신과 기록</a:t>
            </a:r>
          </a:p>
          <a:p>
            <a:pPr lvl="1"/>
            <a:r>
              <a:t>4단계: 배차된 차량의 다음 가용 시각 계산</a:t>
            </a:r>
          </a:p>
          <a:p>
            <a:pPr lvl="1"/>
            <a:r>
              <a:t>5단계: 이번 분의 상태 기록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상태는 값 두 개면 충분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11.1–11.2 스텝과 상태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차량 상태를 대기, 픽업 이동, 승객 탑승의 세 가지로 열거하고 싶어지는 상황</a:t>
            </a:r>
          </a:p>
          <a:p>
            <a:pPr/>
            <a:r>
              <a:t>실제로 필요한 것: 현재 위치와 다시 가용해지는 시각</a:t>
            </a:r>
          </a:p>
          <a:p>
            <a:pPr/>
            <a:r>
              <a:t>가용 시각 하나로 운행 중과 대기 중이 모두 표현됨</a:t>
            </a:r>
          </a:p>
          <a:p>
            <a:pPr/>
            <a:r>
              <a:t>상태 변수를 따로 두면 상태와 시각이 어긋나는 오류가 발생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11.3–11.4 루프와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배차 이후의 처리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실행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배차 이후의 처리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11.3–11.4 루프와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차량의 다음 가용 시각 = 하차 시각</a:t>
            </a:r>
          </a:p>
          <a:p>
            <a:pPr/>
            <a:r>
              <a:t>차량 위치 = 승객의 목적지 — 내려준 자리에 정차</a:t>
            </a:r>
          </a:p>
          <a:p>
            <a:pPr/>
            <a:r>
              <a:t>실제 택시 기사는 수요가 많은 곳으로 빈 차를 이동 — 재배치</a:t>
            </a:r>
          </a:p>
          <a:p>
            <a:pPr/>
            <a:r>
              <a:t>이 책에서는 재배치를 다루지 않음, 연습 11.3에서 시도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실행 결과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11.3–11.4 루프와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 6시간 시뮬레이션 실행 시간 0.4초</a:t>
            </a:r>
          </a:p>
          <a:p>
            <a:pPr/>
            <a:r>
              <a:t>4장에서 우려한 수 분이 아닌 이유: 소요시간을 직선거리로 근사</a:t>
            </a:r>
          </a:p>
          <a:p>
            <a:pPr/>
            <a:r>
              <a:t>수요 데이터와 차량 데이터를 그대로 입력</a:t>
            </a:r>
          </a:p>
          <a:p>
            <a:pPr/>
            <a:r>
              <a:t>결과로 요약 지표와 분 단위 기록을 반환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11.5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지표와 시계열 비교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상관계수를 쓸 수 없는 경우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지표와 시계열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11.5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평균 대기시간 — 우리 루프 4.28분, 엔진 4.08분</a:t>
            </a:r>
          </a:p>
          <a:p>
            <a:pPr/>
            <a:r>
              <a:t>차이 0.2분</a:t>
            </a:r>
          </a:p>
          <a:p>
            <a:pPr/>
            <a:r>
              <a:t>운행 중 차량 시계열의 상관계수 0.9 이상</a:t>
            </a:r>
          </a:p>
          <a:p>
            <a:pPr/>
            <a:r>
              <a:t>서로 다른 코드가 같은 답을 내는 것은 좋은 신호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상관계수를 쓸 수 없는 경우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11.5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대기 승객 시계열의 상관계수는 0에 근접</a:t>
            </a:r>
          </a:p>
          <a:p>
            <a:pPr/>
            <a:r>
              <a:t>원인: 양쪽 모두 거의 항상 0이라 남은 잡음끼리의 상관</a:t>
            </a:r>
          </a:p>
          <a:p>
            <a:pPr/>
            <a:r>
              <a:t>대안: 0인 비율과 평균으로 분포를 비교</a:t>
            </a:r>
          </a:p>
          <a:p>
            <a:pPr/>
            <a:r>
              <a:t>원칙: 그 지표가 무엇을 측정할 수 있는 상태인지 먼저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11.6 대기시간의 두 부분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포기 기준 10분인데 최대 26분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포기 기준 10분인데 최대 26분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11.6 대기시간의 두 부분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대기시간의 구성</a:t>
            </a:r>
          </a:p>
          <a:p>
            <a:pPr lvl="1"/>
            <a:r>
              <a:t>호출부터 배차 확정까지</a:t>
            </a:r>
          </a:p>
          <a:p>
            <a:pPr lvl="1"/>
            <a:r>
              <a:t>배차 확정부터 차량 도착까지</a:t>
            </a:r>
          </a:p>
          <a:p>
            <a:pPr/>
            <a:r>
              <a:t>포기 기준은 앞부분에만 적용</a:t>
            </a:r>
          </a:p>
          <a:p>
            <a:pPr/>
            <a:r>
              <a:t>배차가 확정된 뒤에는 차량이 멀어도 대기</a:t>
            </a:r>
          </a:p>
          <a:p>
            <a:pPr/>
            <a:r>
              <a:t>결과: 멀리 있는 차량이 배차되면 총 대기가 10분을 크게 초과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11.7–11.8 조건 변경과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1장 질문에 대한 답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배차 방법의 효과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6.4  </a:t>
            </a:r>
            <a:r>
              <a:t>연습과 다음 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1장 질문에 대한 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11.7–11.8 조건 변경과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차량 80대에서 40대로 감축 시 가동률 상승, 서비스율 하락, 대기 증가</a:t>
            </a:r>
          </a:p>
          <a:p>
            <a:pPr/>
            <a:r>
              <a:t>20대에서는 상당수가 배차 실패</a:t>
            </a:r>
          </a:p>
          <a:p>
            <a:pPr/>
            <a:r>
              <a:t>선택 지점은 이 그림이 정해 주지 않음</a:t>
            </a:r>
          </a:p>
          <a:p>
            <a:pPr/>
            <a:r>
              <a:t>시뮬레이터의 역할: 선택지마다 대가를 수치로 제시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차량 대수에 따른 평균 대기시간과 서비스율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11_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배차 방법의 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11.7–11.8 조건 변경과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10장 실험에서 헝가리안이 탐욕보다 14% 우수</a:t>
            </a:r>
          </a:p>
          <a:p>
            <a:pPr/>
            <a:r>
              <a:t>전체 시뮬레이션에서는 차이가 1% 남짓</a:t>
            </a:r>
          </a:p>
          <a:p>
            <a:pPr/>
            <a:r>
              <a:t>원인: 대부분의 분에 대기 승객이 0명에서 1명</a:t>
            </a:r>
          </a:p>
          <a:p>
            <a:pPr/>
            <a:r>
              <a:t>결론: 배차 알고리즘은 수요가 공급을 압박할 때만 효과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11.7–11.8 조건 변경과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 스텝은 다섯 단계 — 접수, 포기, 배차, 상태 갱신, 기록</a:t>
            </a:r>
          </a:p>
          <a:p>
            <a:pPr/>
            <a:r>
              <a:t>차량 상태는 위치와 가용 시각 두 값이면 충분</a:t>
            </a:r>
          </a:p>
          <a:p>
            <a:pPr/>
            <a:r>
              <a:t>우리 루프 4.28분, 엔진 4.08분, 운행 차량 시계열 상관 0.9 이상</a:t>
            </a:r>
          </a:p>
          <a:p>
            <a:pPr/>
            <a:r>
              <a:t>대기시간은 배차까지와 차량 도착까지로 분리 — 포기 기준은 앞부분에만 적용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6.4 연습과 다음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11.7–11.8 조건 변경과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11.1 ★ — 포기 기준을 3, 5, 10, 20분으로 변경했을 때의 지표</a:t>
            </a:r>
          </a:p>
          <a:p>
            <a:pPr lvl="1"/>
            <a:r>
              <a:t>산출물: 기준별 지표 표, 적정 값과 근거 3줄</a:t>
            </a:r>
          </a:p>
          <a:p>
            <a:pPr/>
            <a:r>
              <a:t>연습 11.2 ★★ — 소요시간 계산을 9장 예측 모델로 교체</a:t>
            </a:r>
          </a:p>
          <a:p>
            <a:pPr lvl="1"/>
            <a:r>
              <a:t>산출물: 두 방식의 비교표, 배치 예측의 속도 개선폭</a:t>
            </a:r>
          </a:p>
          <a:p>
            <a:pPr/>
            <a:r>
              <a:t>연습 11.3 ★★★ — 차량 재배치 구현과 공차 거리의 대가 판단</a:t>
            </a:r>
          </a:p>
          <a:p>
            <a:pPr/>
            <a:r>
              <a:t>다음 주: 12주차 기말 프로젝트 발표와 종강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12주차 — 기말 프로젝트 발표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