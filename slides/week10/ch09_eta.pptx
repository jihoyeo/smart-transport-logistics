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6"/>
    <p:sldId id="265" r:id="rId5"/>
    <p:sldId id="266" r:id="rId4"/>
    <p:sldId id="267" r:id="rId3"/>
    <p:sldId id="268" r:id="rId2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3.xml"/><Relationship Id="rId3" Type="http://schemas.openxmlformats.org/officeDocument/2006/relationships/slide" Target="slides/slide12.xml"/><Relationship Id="rId4" Type="http://schemas.openxmlformats.org/officeDocument/2006/relationships/slide" Target="slides/slide11.xml"/><Relationship Id="rId5" Type="http://schemas.openxmlformats.org/officeDocument/2006/relationships/slide" Target="slides/slide10.xml"/><Relationship Id="rId6" Type="http://schemas.openxmlformats.org/officeDocument/2006/relationships/slide" Target="slides/slide9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목차는 표입니다. 섹션 수가 바뀌면 행을 삽입/삭제하세요.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교재 9장 도입부. 그 추정을 데이터로 학습시키는 것이 이 장의 내용이다.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교재 9장 학습 목표와 같다. 부교재 『핸즈온 머신러닝』이 이 장의 배경이다.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학습에 쓴 데이터로 평가하면 외운 것과 이해한 것을 구분할 수 없다. 데이터 생성은 약 3분이 걸려서 미리 만들어 저장해 두었다.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예측할 때 얻을 수 없는 값을 특징에 넣으면 안 된다. 이것이 이 절의 요점이고 기말 프로젝트에서도 반복된다.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기준선을 먼저 정한다. 기준선보다 못하면 그 모델은 쓸모가 없다.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위도가 0.01 올라갈 때 시간이 항상 같은 만큼 늘지 않는다. 시가지에서는 신호가 여럿이고 외곽에서는 도로가 뚫려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얽힌 조건을 자연스럽게 표현하는 것이 나무 계열 모델의 장점이다. 이 부분은 다른 과목에서 더 자세히 다룬다.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4장에서 확인한 62% 차이는 특정 구간의 이야기다. 무작위 출발지와 목적지 쌍의 대부분은 이면도로를 쓰는 짧은 통행이고, 이면도로는 시간대별 속도 차이가 작다.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모델을 만든 이유는 정확도가 아니라 속도다. 거래를 받아들일지는 용도에 달렸다.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강 건너편이거나 산을 우회해야 하는 경우다. 좌표만 확인하는 모델이 이것을 알아내기 어렵다. 개선하려면 두 지점 사이의 장애물 여부를 알려 주는 특징이 필요하고, 연습 9.3에서 시도한다.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원 위의 값은 사인과 코사인 두 개로 분해해 넣는다는 점도 다시 언급한다. 오후에는 이 예측을 배차 비용행렬에 넣는다.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연습 9.3에서는 특징 계산 비용도 함께 측정한다. 모델을 쓰는 이유가 속도였으므로 특징 계산이 라우팅만큼 비싸지면 의미가 없다.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표지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64008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/>
        </p:spPr>
        <p:txBody>
          <a:bodyPr wrap="square" lIns="0" tIns="0" rIns="0" bIns="0" rtlCol="0" anchor="ctr">
            <a:noAutofit/>
          </a:bodyPr>
          <a:lstStyle>
            <a:lvl1pPr algn="ctr" indent="0" marL="0">
              <a:buNone/>
              <a:def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과목 코드 · 과목명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85800" y="19659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8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N주차</a:t>
            </a:r>
            <a:endParaRPr lang="en-US" sz="18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685800" y="23774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algn="l" indent="0" marL="0">
              <a:buNone/>
              <a:defRPr lang="en-US" sz="5200" dirty="0">
                <a:solidFill>
                  <a:srgbClr val="000000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defRPr>
            </a:lvl1pPr>
          </a:lstStyle>
          <a:p>
            <a:pPr indent="0" marL="0">
              <a:buNone/>
            </a:pPr>
            <a:r>
              <a:rPr lang="en-US" sz="5200" dirty="0">
                <a:solidFill>
                  <a:srgbClr val="000000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강의 제목</a:t>
            </a:r>
            <a:endParaRPr lang="en-US" sz="52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85800" y="34747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2200" dirty="0">
                <a:solidFill>
                  <a:srgbClr val="000000"/>
                </a:solidFill>
                <a:latin typeface="Pretendard ExtraLight" pitchFamily="34" charset="0"/>
                <a:ea typeface="Pretendard ExtraLight" pitchFamily="34" charset="-122"/>
                <a:cs typeface="Pretendard ExtraLight" pitchFamily="34" charset="-120"/>
              </a:defRPr>
            </a:lvl1pPr>
          </a:lstStyle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Pretendard ExtraLight" pitchFamily="34" charset="0"/>
                <a:ea typeface="Pretendard ExtraLight" pitchFamily="34" charset="-122"/>
                <a:cs typeface="Pretendard ExtraLight" pitchFamily="34" charset="-120"/>
              </a:rPr>
              <a:t>부제</a:t>
            </a:r>
            <a:endParaRPr lang="en-US" sz="2200" dirty="0"/>
          </a:p>
        </p:txBody>
      </p:sp>
      <p:sp>
        <p:nvSpPr>
          <p:cNvPr id="6" name="Text 0"/>
          <p:cNvSpPr/>
          <p:nvPr>
            <p:ph idx="104" type="body" hasCustomPrompt="1"/>
          </p:nvPr>
        </p:nvSpPr>
        <p:spPr>
          <a:xfrm>
            <a:off x="685800" y="55778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4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이름 · 소속</a:t>
            </a:r>
            <a:endParaRPr lang="en-US" sz="1400" dirty="0"/>
          </a:p>
        </p:txBody>
      </p:sp>
      <p:sp>
        <p:nvSpPr>
          <p:cNvPr id="7" name="Text 0"/>
          <p:cNvSpPr/>
          <p:nvPr>
            <p:ph idx="105" type="body" hasCustomPrompt="1"/>
          </p:nvPr>
        </p:nvSpPr>
        <p:spPr>
          <a:xfrm>
            <a:off x="685800" y="58978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4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4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날짜</a:t>
            </a:r>
            <a:endParaRPr lang="en-US" sz="1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섹션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137160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Autofit/>
          </a:bodyPr>
          <a:lstStyle>
            <a:lvl1pPr algn="l" indent="0" marL="0">
              <a:buNone/>
              <a:defRPr lang="en-US" sz="12000" dirty="0">
                <a:solidFill>
                  <a:srgbClr val="AFAFAF"/>
                </a:solidFill>
                <a:latin typeface="Pretendard ExtraLight" pitchFamily="34" charset="0"/>
                <a:ea typeface="Pretendard ExtraLight" pitchFamily="34" charset="-122"/>
                <a:cs typeface="Pretendard ExtraLight" pitchFamily="34" charset="-120"/>
              </a:defRPr>
            </a:lvl1pPr>
          </a:lstStyle>
          <a:p>
            <a:pPr indent="0" marL="0">
              <a:buNone/>
            </a:pPr>
            <a:r>
              <a:rPr lang="en-US" sz="12000" dirty="0">
                <a:solidFill>
                  <a:srgbClr val="AFAFAF"/>
                </a:solidFill>
                <a:latin typeface="Pretendard ExtraLight" pitchFamily="34" charset="0"/>
                <a:ea typeface="Pretendard ExtraLight" pitchFamily="34" charset="-122"/>
                <a:cs typeface="Pretendard ExtraLight" pitchFamily="34" charset="-120"/>
              </a:rPr>
              <a:t>01</a:t>
            </a:r>
            <a:endParaRPr lang="en-US" sz="12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352044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4400" dirty="0">
                <a:solidFill>
                  <a:srgbClr val="000000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defRPr>
            </a:lvl1pPr>
          </a:lstStyle>
          <a:p>
            <a:pPr indent="0" marL="0">
              <a:buNone/>
            </a:pPr>
            <a:r>
              <a:rPr lang="en-US" sz="4400" dirty="0">
                <a:solidFill>
                  <a:srgbClr val="000000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섹션 이름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949440" y="3611880"/>
            <a:ext cx="4572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6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1.1 하위 섹션</a:t>
            </a:r>
            <a:endParaRPr lang="en-US" sz="1600" dirty="0"/>
          </a:p>
        </p:txBody>
      </p:sp>
      <p:sp>
        <p:nvSpPr>
          <p:cNvPr id="5" name="Text 0"/>
          <p:cNvSpPr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스마트 교통물류 · 2026-2 · 교재 9장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본문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5029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algn="l" indent="0" marL="0">
              <a:buNone/>
              <a:def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1.1 슬라이드 제목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677095" y="667512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/>
        </p:spPr>
        <p:txBody>
          <a:bodyPr wrap="square" lIns="0" tIns="0" rIns="0" bIns="0" rtlCol="0" anchor="ctr">
            <a:noAutofit/>
          </a:bodyPr>
          <a:lstStyle>
            <a:lvl1pPr algn="ctr" indent="0" marL="0">
              <a:buNone/>
              <a:def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1. 섹션</a:t>
            </a:r>
            <a:endParaRPr lang="en-US" sz="11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1417320"/>
            <a:ext cx="10820095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marL="228600" indent="-228600">
              <a:lnSpc>
                <a:spcPct val="115000"/>
              </a:lnSpc>
              <a:spcAft>
                <a:spcPts val="1000"/>
              </a:spcAft>
              <a:buClr>
                <a:srgbClr val="000000"/>
              </a:buClr>
              <a:buFont typeface="Arial"/>
              <a:buChar char="•"/>
              <a:defRPr sz="16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defRPr>
            </a:lvl1pPr>
            <a:lvl2pPr marL="406400" indent="-203200">
              <a:lnSpc>
                <a:spcPct val="115000"/>
              </a:lnSpc>
              <a:spcAft>
                <a:spcPts val="600"/>
              </a:spcAft>
              <a:buClr>
                <a:srgbClr val="5E5E5E"/>
              </a:buClr>
              <a:buFont typeface="Arial"/>
              <a:buChar char="–"/>
              <a:defRPr sz="1400">
                <a:solidFill>
                  <a:srgbClr val="5E5E5E"/>
                </a:solidFill>
                <a:latin typeface="Pretendard Medium"/>
                <a:ea typeface="Pretendard Medium"/>
                <a:cs typeface="Pretendard Medium"/>
              </a:defRPr>
            </a:lvl2pPr>
            <a:lvl3pPr marL="609600" indent="-203200">
              <a:lnSpc>
                <a:spcPct val="115000"/>
              </a:lnSpc>
              <a:spcAft>
                <a:spcPts val="600"/>
              </a:spcAft>
              <a:buClr>
                <a:srgbClr val="5E5E5E"/>
              </a:buClr>
              <a:buFont typeface="Arial"/>
              <a:buChar char="–"/>
              <a:defRPr sz="1400">
                <a:solidFill>
                  <a:srgbClr val="5E5E5E"/>
                </a:solidFill>
                <a:latin typeface="Pretendard Medium"/>
                <a:ea typeface="Pretendard Medium"/>
                <a:cs typeface="Pretendard Medium"/>
              </a:defRPr>
            </a:lvl3pPr>
          </a:lstStyle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본문 (Tab: 2단계 불릿)</a:t>
            </a:r>
            <a:endParaRPr lang="en-US" sz="1600" dirty="0"/>
          </a:p>
        </p:txBody>
      </p:sp>
      <p:sp>
        <p:nvSpPr>
          <p:cNvPr id="5" name="Text 0"/>
          <p:cNvSpPr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스마트 교통물류 · 2026-2 · 교재 9장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본문+그림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5029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algn="l" indent="0" marL="0">
              <a:buNone/>
              <a:def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1.1 슬라이드 제목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677095" y="667512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/>
        </p:spPr>
        <p:txBody>
          <a:bodyPr wrap="square" lIns="0" tIns="0" rIns="0" bIns="0" rtlCol="0" anchor="ctr">
            <a:noAutofit/>
          </a:bodyPr>
          <a:lstStyle>
            <a:lvl1pPr algn="ctr" indent="0" marL="0">
              <a:buNone/>
              <a:def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1. 섹션</a:t>
            </a:r>
            <a:endParaRPr lang="en-US" sz="11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1417320"/>
            <a:ext cx="393192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marL="228600" indent="-228600">
              <a:lnSpc>
                <a:spcPct val="115000"/>
              </a:lnSpc>
              <a:spcAft>
                <a:spcPts val="1000"/>
              </a:spcAft>
              <a:buClr>
                <a:srgbClr val="000000"/>
              </a:buClr>
              <a:buFont typeface="Arial"/>
              <a:buChar char="•"/>
              <a:defRPr sz="16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defRPr>
            </a:lvl1pPr>
            <a:lvl2pPr marL="406400" indent="-203200">
              <a:lnSpc>
                <a:spcPct val="115000"/>
              </a:lnSpc>
              <a:spcAft>
                <a:spcPts val="600"/>
              </a:spcAft>
              <a:buClr>
                <a:srgbClr val="5E5E5E"/>
              </a:buClr>
              <a:buFont typeface="Arial"/>
              <a:buChar char="–"/>
              <a:defRPr sz="1400">
                <a:solidFill>
                  <a:srgbClr val="5E5E5E"/>
                </a:solidFill>
                <a:latin typeface="Pretendard Medium"/>
                <a:ea typeface="Pretendard Medium"/>
                <a:cs typeface="Pretendard Medium"/>
              </a:defRPr>
            </a:lvl2pPr>
            <a:lvl3pPr marL="609600" indent="-203200">
              <a:lnSpc>
                <a:spcPct val="115000"/>
              </a:lnSpc>
              <a:spcAft>
                <a:spcPts val="600"/>
              </a:spcAft>
              <a:buClr>
                <a:srgbClr val="5E5E5E"/>
              </a:buClr>
              <a:buFont typeface="Arial"/>
              <a:buChar char="–"/>
              <a:defRPr sz="1400">
                <a:solidFill>
                  <a:srgbClr val="5E5E5E"/>
                </a:solidFill>
                <a:latin typeface="Pretendard Medium"/>
                <a:ea typeface="Pretendard Medium"/>
                <a:cs typeface="Pretendard Medium"/>
              </a:defRPr>
            </a:lvl3pPr>
          </a:lstStyle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본문 (Tab: 2단계 불릿)</a:t>
            </a:r>
            <a:endParaRPr lang="en-US" sz="1600" dirty="0"/>
          </a:p>
        </p:txBody>
      </p:sp>
      <p:sp>
        <p:nvSpPr>
          <p:cNvPr id="5" name="Text 0"/>
          <p:cNvSpPr/>
          <p:nvPr>
            <p:ph idx="103" type="pic" hasCustomPrompt="1"/>
          </p:nvPr>
        </p:nvSpPr>
        <p:spPr>
          <a:xfrm>
            <a:off x="4937760" y="1417320"/>
            <a:ext cx="6565392" cy="4160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그림</a:t>
            </a:r>
            <a:endParaRPr lang="en-US" dirty="0"/>
          </a:p>
        </p:txBody>
      </p:sp>
      <p:sp>
        <p:nvSpPr>
          <p:cNvPr id="6" name="Text 0"/>
          <p:cNvSpPr/>
          <p:nvPr>
            <p:ph idx="104" type="body" hasCustomPrompt="1"/>
          </p:nvPr>
        </p:nvSpPr>
        <p:spPr>
          <a:xfrm>
            <a:off x="4937760" y="5715000"/>
            <a:ext cx="6565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200" dirty="0">
                <a:solidFill>
                  <a:srgbClr val="5E5E5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200" dirty="0">
                <a:solidFill>
                  <a:srgbClr val="5E5E5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그림 1. 캡션</a:t>
            </a:r>
            <a:endParaRPr lang="en-US" sz="1200" dirty="0"/>
          </a:p>
        </p:txBody>
      </p:sp>
      <p:sp>
        <p:nvSpPr>
          <p:cNvPr id="7" name="Text 0"/>
          <p:cNvSpPr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스마트 교통물류 · 2026-2 · 교재 9장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그림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5029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algn="l" indent="0" marL="0">
              <a:buNone/>
              <a:def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1.1 슬라이드 제목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677095" y="667512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/>
        </p:spPr>
        <p:txBody>
          <a:bodyPr wrap="square" lIns="0" tIns="0" rIns="0" bIns="0" rtlCol="0" anchor="ctr">
            <a:noAutofit/>
          </a:bodyPr>
          <a:lstStyle>
            <a:lvl1pPr algn="ctr" indent="0" marL="0">
              <a:buNone/>
              <a:def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1. 섹션</a:t>
            </a:r>
            <a:endParaRPr lang="en-US" sz="1100" dirty="0"/>
          </a:p>
        </p:txBody>
      </p:sp>
      <p:sp>
        <p:nvSpPr>
          <p:cNvPr id="4" name="Text 0"/>
          <p:cNvSpPr/>
          <p:nvPr>
            <p:ph idx="102" type="pic" hasCustomPrompt="1"/>
          </p:nvPr>
        </p:nvSpPr>
        <p:spPr>
          <a:xfrm>
            <a:off x="685800" y="1417320"/>
            <a:ext cx="10820095" cy="4297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그림</a:t>
            </a:r>
            <a:endParaRPr lang="en-US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85800" y="585216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200" dirty="0">
                <a:solidFill>
                  <a:srgbClr val="5E5E5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200" dirty="0">
                <a:solidFill>
                  <a:srgbClr val="5E5E5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그림 1. 캡션</a:t>
            </a:r>
            <a:endParaRPr lang="en-US" sz="1200" dirty="0"/>
          </a:p>
        </p:txBody>
      </p:sp>
      <p:sp>
        <p:nvSpPr>
          <p:cNvPr id="6" name="Text 0"/>
          <p:cNvSpPr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스마트 교통물류 · 2026-2 · 교재 9장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표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5029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algn="l" indent="0" marL="0">
              <a:buNone/>
              <a:def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1.1 슬라이드 제목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677095" y="667512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/>
        </p:spPr>
        <p:txBody>
          <a:bodyPr wrap="square" lIns="0" tIns="0" rIns="0" bIns="0" rtlCol="0" anchor="ctr">
            <a:noAutofit/>
          </a:bodyPr>
          <a:lstStyle>
            <a:lvl1pPr algn="ctr" indent="0" marL="0">
              <a:buNone/>
              <a:def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1. 섹션</a:t>
            </a:r>
            <a:endParaRPr lang="en-US" sz="11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141732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200" dirty="0">
                <a:solidFill>
                  <a:srgbClr val="5E5E5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200" dirty="0">
                <a:solidFill>
                  <a:srgbClr val="5E5E5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표 1. 캡션</a:t>
            </a:r>
            <a:endParaRPr lang="en-US" sz="1200" dirty="0"/>
          </a:p>
        </p:txBody>
      </p:sp>
      <p:sp>
        <p:nvSpPr>
          <p:cNvPr id="5" name="Text 0"/>
          <p:cNvSpPr/>
          <p:nvPr>
            <p:ph idx="103" type="tbl" hasCustomPrompt="1"/>
          </p:nvPr>
        </p:nvSpPr>
        <p:spPr>
          <a:xfrm>
            <a:off x="685800" y="1828800"/>
            <a:ext cx="10820095" cy="4251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표</a:t>
            </a:r>
            <a:endParaRPr lang="en-US" dirty="0"/>
          </a:p>
        </p:txBody>
      </p:sp>
      <p:sp>
        <p:nvSpPr>
          <p:cNvPr id="6" name="Text 0"/>
          <p:cNvSpPr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스마트 교통물류 · 2026-2 · 교재 9장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본문+표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5029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algn="l" indent="0" marL="0">
              <a:buNone/>
              <a:def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1.1 슬라이드 제목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677095" y="667512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/>
        </p:spPr>
        <p:txBody>
          <a:bodyPr wrap="square" lIns="0" tIns="0" rIns="0" bIns="0" rtlCol="0" anchor="ctr">
            <a:noAutofit/>
          </a:bodyPr>
          <a:lstStyle>
            <a:lvl1pPr algn="ctr" indent="0" marL="0">
              <a:buNone/>
              <a:def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1. 섹션</a:t>
            </a:r>
            <a:endParaRPr lang="en-US" sz="11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1417320"/>
            <a:ext cx="393192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marL="228600" indent="-228600">
              <a:lnSpc>
                <a:spcPct val="115000"/>
              </a:lnSpc>
              <a:spcAft>
                <a:spcPts val="1000"/>
              </a:spcAft>
              <a:buClr>
                <a:srgbClr val="000000"/>
              </a:buClr>
              <a:buFont typeface="Arial"/>
              <a:buChar char="•"/>
              <a:defRPr sz="16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defRPr>
            </a:lvl1pPr>
            <a:lvl2pPr marL="406400" indent="-203200">
              <a:lnSpc>
                <a:spcPct val="115000"/>
              </a:lnSpc>
              <a:spcAft>
                <a:spcPts val="600"/>
              </a:spcAft>
              <a:buClr>
                <a:srgbClr val="5E5E5E"/>
              </a:buClr>
              <a:buFont typeface="Arial"/>
              <a:buChar char="–"/>
              <a:defRPr sz="1400">
                <a:solidFill>
                  <a:srgbClr val="5E5E5E"/>
                </a:solidFill>
                <a:latin typeface="Pretendard Medium"/>
                <a:ea typeface="Pretendard Medium"/>
                <a:cs typeface="Pretendard Medium"/>
              </a:defRPr>
            </a:lvl2pPr>
            <a:lvl3pPr marL="609600" indent="-203200">
              <a:lnSpc>
                <a:spcPct val="115000"/>
              </a:lnSpc>
              <a:spcAft>
                <a:spcPts val="600"/>
              </a:spcAft>
              <a:buClr>
                <a:srgbClr val="5E5E5E"/>
              </a:buClr>
              <a:buFont typeface="Arial"/>
              <a:buChar char="–"/>
              <a:defRPr sz="1400">
                <a:solidFill>
                  <a:srgbClr val="5E5E5E"/>
                </a:solidFill>
                <a:latin typeface="Pretendard Medium"/>
                <a:ea typeface="Pretendard Medium"/>
                <a:cs typeface="Pretendard Medium"/>
              </a:defRPr>
            </a:lvl3pPr>
          </a:lstStyle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본문 (Tab: 2단계 불릿)</a:t>
            </a:r>
            <a:endParaRPr lang="en-US" sz="16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4937760" y="1417320"/>
            <a:ext cx="6565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200" dirty="0">
                <a:solidFill>
                  <a:srgbClr val="5E5E5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200" dirty="0">
                <a:solidFill>
                  <a:srgbClr val="5E5E5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표 1. 캡션</a:t>
            </a:r>
            <a:endParaRPr lang="en-US" sz="1200" dirty="0"/>
          </a:p>
        </p:txBody>
      </p:sp>
      <p:sp>
        <p:nvSpPr>
          <p:cNvPr id="6" name="Text 0"/>
          <p:cNvSpPr/>
          <p:nvPr>
            <p:ph idx="104" type="tbl" hasCustomPrompt="1"/>
          </p:nvPr>
        </p:nvSpPr>
        <p:spPr>
          <a:xfrm>
            <a:off x="4937760" y="1828800"/>
            <a:ext cx="6565392" cy="4251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표</a:t>
            </a:r>
            <a:endParaRPr lang="en-US" dirty="0"/>
          </a:p>
        </p:txBody>
      </p:sp>
      <p:sp>
        <p:nvSpPr>
          <p:cNvPr id="7" name="Text 0"/>
          <p:cNvSpPr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스마트 교통물류 · 2026-2 · 교재 9장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본문+코드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5029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algn="l" indent="0" marL="0">
              <a:buNone/>
              <a:def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1.1 슬라이드 제목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677095" y="667512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/>
        </p:spPr>
        <p:txBody>
          <a:bodyPr wrap="square" lIns="0" tIns="0" rIns="0" bIns="0" rtlCol="0" anchor="ctr">
            <a:noAutofit/>
          </a:bodyPr>
          <a:lstStyle>
            <a:lvl1pPr algn="ctr" indent="0" marL="0">
              <a:buNone/>
              <a:def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1. 섹션</a:t>
            </a:r>
            <a:endParaRPr lang="en-US" sz="11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1417320"/>
            <a:ext cx="393192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marL="228600" indent="-228600">
              <a:lnSpc>
                <a:spcPct val="115000"/>
              </a:lnSpc>
              <a:spcAft>
                <a:spcPts val="1000"/>
              </a:spcAft>
              <a:buClr>
                <a:srgbClr val="000000"/>
              </a:buClr>
              <a:buFont typeface="Arial"/>
              <a:buChar char="•"/>
              <a:defRPr sz="16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defRPr>
            </a:lvl1pPr>
            <a:lvl2pPr marL="406400" indent="-203200">
              <a:lnSpc>
                <a:spcPct val="115000"/>
              </a:lnSpc>
              <a:spcAft>
                <a:spcPts val="600"/>
              </a:spcAft>
              <a:buClr>
                <a:srgbClr val="5E5E5E"/>
              </a:buClr>
              <a:buFont typeface="Arial"/>
              <a:buChar char="–"/>
              <a:defRPr sz="1400">
                <a:solidFill>
                  <a:srgbClr val="5E5E5E"/>
                </a:solidFill>
                <a:latin typeface="Pretendard Medium"/>
                <a:ea typeface="Pretendard Medium"/>
                <a:cs typeface="Pretendard Medium"/>
              </a:defRPr>
            </a:lvl2pPr>
            <a:lvl3pPr marL="609600" indent="-203200">
              <a:lnSpc>
                <a:spcPct val="115000"/>
              </a:lnSpc>
              <a:spcAft>
                <a:spcPts val="600"/>
              </a:spcAft>
              <a:buClr>
                <a:srgbClr val="5E5E5E"/>
              </a:buClr>
              <a:buFont typeface="Arial"/>
              <a:buChar char="–"/>
              <a:defRPr sz="1400">
                <a:solidFill>
                  <a:srgbClr val="5E5E5E"/>
                </a:solidFill>
                <a:latin typeface="Pretendard Medium"/>
                <a:ea typeface="Pretendard Medium"/>
                <a:cs typeface="Pretendard Medium"/>
              </a:defRPr>
            </a:lvl3pPr>
          </a:lstStyle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본문 (Tab: 2단계 불릿)</a:t>
            </a:r>
            <a:endParaRPr lang="en-US" sz="16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4937760" y="1417320"/>
            <a:ext cx="6565392" cy="4663440"/>
          </a:xfrm>
          <a:prstGeom prst="roundRect">
            <a:avLst>
              <a:gd name="adj" fmla="val 3268"/>
            </a:avLst>
          </a:prstGeom>
          <a:solidFill>
            <a:srgbClr val="EFEFEF"/>
          </a:solidFill>
          <a:ln/>
        </p:spPr>
        <p:txBody>
          <a:bodyPr wrap="square" lIns="228600" tIns="384048" rIns="228600" bIns="137160" rtlCol="0" anchor="t">
            <a:noAutofit/>
          </a:bodyPr>
          <a:lstStyle>
            <a:lvl1pPr algn="l" marL="0" indent="0">
              <a:lnSpc>
                <a:spcPct val="100000"/>
              </a:lnSpc>
              <a:spcAft>
                <a:spcPts val="0"/>
              </a:spcAft>
              <a:buNone/>
              <a:defRPr sz="110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코드</a:t>
            </a:r>
            <a:endParaRPr lang="en-US" sz="1100" dirty="0"/>
          </a:p>
        </p:txBody>
      </p:sp>
      <p:sp>
        <p:nvSpPr>
          <p:cNvPr id="6" name="Text 0"/>
          <p:cNvSpPr/>
          <p:nvPr/>
        </p:nvSpPr>
        <p:spPr>
          <a:xfrm>
            <a:off x="5166360" y="15270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FAF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[ ]</a:t>
            </a:r>
            <a:endParaRPr lang="en-US" sz="900" dirty="0"/>
          </a:p>
        </p:txBody>
      </p:sp>
      <p:sp>
        <p:nvSpPr>
          <p:cNvPr id="7" name="Text 1"/>
          <p:cNvSpPr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스마트 교통물류 · 2026-2 · 교재 9장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1009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마무리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21945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algn="l" indent="0" marL="0">
              <a:buNone/>
              <a:defRPr lang="en-US" sz="5200" dirty="0">
                <a:solidFill>
                  <a:srgbClr val="000000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defRPr>
            </a:lvl1pPr>
          </a:lstStyle>
          <a:p>
            <a:pPr indent="0" marL="0">
              <a:buNone/>
            </a:pPr>
            <a:r>
              <a:rPr lang="en-US" sz="5200" dirty="0">
                <a:solidFill>
                  <a:srgbClr val="000000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감사합니다</a:t>
            </a:r>
            <a:endParaRPr lang="en-US" sz="5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85800" y="32461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2200" dirty="0">
                <a:solidFill>
                  <a:srgbClr val="000000"/>
                </a:solidFill>
                <a:latin typeface="Pretendard ExtraLight" pitchFamily="34" charset="0"/>
                <a:ea typeface="Pretendard ExtraLight" pitchFamily="34" charset="-122"/>
                <a:cs typeface="Pretendard ExtraLight" pitchFamily="34" charset="-120"/>
              </a:defRPr>
            </a:lvl1pPr>
          </a:lstStyle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Pretendard ExtraLight" pitchFamily="34" charset="0"/>
                <a:ea typeface="Pretendard ExtraLight" pitchFamily="34" charset="-122"/>
                <a:cs typeface="Pretendard ExtraLight" pitchFamily="34" charset="-120"/>
              </a:rPr>
              <a:t>부제</a:t>
            </a:r>
            <a:endParaRPr lang="en-US" sz="2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5577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4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4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연락처</a:t>
            </a:r>
            <a:endParaRPr lang="en-US" sz="14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스마트 교통물류 · 2026-2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10주차 화요일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t>통행시간 예측 모델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03"/>
          </p:nvPr>
        </p:nvSpPr>
        <p:spPr/>
        <p:txBody>
          <a:bodyPr/>
          <a:lstStyle/>
          <a:p>
            <a:r>
              <a:t>교재 9장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여지호 · 가천대학교 스마트시티학과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05"/>
          </p:nvPr>
        </p:nvSpPr>
        <p:spPr/>
        <p:txBody>
          <a:bodyPr/>
          <a:lstStyle/>
          <a:p>
            <a:r>
              <a:t>2026년 11월 3일 (화)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강의 목차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교재 9장</a:t>
            </a:r>
          </a:p>
        </p:txBody>
      </p:sp>
      <p:graphicFrame>
        <p:nvGraphicFramePr>
          <p:cNvPr id="5" name="Table Placeholder 4"/>
          <p:cNvGraphicFramePr>
            <a:graphicFrameLocks noGrp="1"/>
          </p:cNvGraphicFramePr>
          <p:nvPr>
            <p:ph type="tbl" idx="103"/>
          </p:nvPr>
        </p:nvGraphicFramePr>
        <p:xfrm>
          <a:off x="685800" y="1828800"/>
          <a:ext cx="10820093" cy="4419600"/>
        </p:xfrm>
        <a:graphic>
          <a:graphicData uri="http://schemas.openxmlformats.org/drawingml/2006/table">
            <a:tbl>
              <a:tblPr firstRow="0" bandRow="0" firstCol="0" lastRow="0" lastCol="0" bandCol="0"/>
              <a:tblGrid>
                <a:gridCol w="914631"/>
                <a:gridCol w="2560969"/>
                <a:gridCol w="7344493"/>
              </a:tblGrid>
              <a:tr h="736600">
                <a:tc>
                  <a:txBody>
                    <a:bodyPr/>
                    <a:lstStyle/>
                    <a:p>
                      <a:r>
                        <a:rPr sz="2600" b="0">
                          <a:solidFill>
                            <a:srgbClr val="000000"/>
                          </a:solidFill>
                          <a:latin typeface="Pretendard ExtraBold"/>
                        </a:rPr>
                        <a:t>01</a:t>
                      </a:r>
                    </a:p>
                  </a:txBody>
                  <a:tcPr marL="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Pretendard"/>
                        </a:rPr>
                        <a:t>도입과 학습 목표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1.1 계산하는 대신 예측하기  ·  1.2 학습 목표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736600">
                <a:tc>
                  <a:txBody>
                    <a:bodyPr/>
                    <a:lstStyle/>
                    <a:p>
                      <a:r>
                        <a:rPr sz="2600" b="0">
                          <a:solidFill>
                            <a:srgbClr val="000000"/>
                          </a:solidFill>
                          <a:latin typeface="Pretendard ExtraBold"/>
                        </a:rPr>
                        <a:t>02</a:t>
                      </a:r>
                    </a:p>
                  </a:txBody>
                  <a:tcPr marL="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Pretendard"/>
                        </a:rPr>
                        <a:t>교재 9.1 학습 데이터와 특징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2.1 정답 생성과 데이터 분할  ·  2.2 특징 여덟 개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736600">
                <a:tc>
                  <a:txBody>
                    <a:bodyPr/>
                    <a:lstStyle/>
                    <a:p>
                      <a:r>
                        <a:rPr sz="2600" b="0">
                          <a:solidFill>
                            <a:srgbClr val="000000"/>
                          </a:solidFill>
                          <a:latin typeface="Pretendard ExtraBold"/>
                        </a:rPr>
                        <a:t>03</a:t>
                      </a:r>
                    </a:p>
                  </a:txBody>
                  <a:tcPr marL="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Pretendard"/>
                        </a:rPr>
                        <a:t>교재 9.2–9.3 기준선과 선형회귀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3.1 기준선과 평가 지표  ·  3.2 선형회귀의 한계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736600">
                <a:tc>
                  <a:txBody>
                    <a:bodyPr/>
                    <a:lstStyle/>
                    <a:p>
                      <a:r>
                        <a:rPr sz="2600" b="0">
                          <a:solidFill>
                            <a:srgbClr val="000000"/>
                          </a:solidFill>
                          <a:latin typeface="Pretendard ExtraBold"/>
                        </a:rPr>
                        <a:t>04</a:t>
                      </a:r>
                    </a:p>
                  </a:txBody>
                  <a:tcPr marL="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Pretendard"/>
                        </a:rPr>
                        <a:t>교재 9.4–9.5 부스팅과 특징 중요도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4.1 그래디언트 부스팅  ·  4.2 중요도 상위는 좌표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736600">
                <a:tc>
                  <a:txBody>
                    <a:bodyPr/>
                    <a:lstStyle/>
                    <a:p>
                      <a:r>
                        <a:rPr sz="2600" b="0">
                          <a:solidFill>
                            <a:srgbClr val="000000"/>
                          </a:solidFill>
                          <a:latin typeface="Pretendard ExtraBold"/>
                        </a:rPr>
                        <a:t>05</a:t>
                      </a:r>
                    </a:p>
                  </a:txBody>
                  <a:tcPr marL="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Pretendard"/>
                        </a:rPr>
                        <a:t>교재 9.6 속도와 정확도의 거래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5.1 3천 배 빠르고 1분 틀림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736600">
                <a:tc>
                  <a:txBody>
                    <a:bodyPr/>
                    <a:lstStyle/>
                    <a:p>
                      <a:r>
                        <a:rPr sz="2600" b="0">
                          <a:solidFill>
                            <a:srgbClr val="000000"/>
                          </a:solidFill>
                          <a:latin typeface="Pretendard ExtraBold"/>
                        </a:rPr>
                        <a:t>06</a:t>
                      </a:r>
                    </a:p>
                  </a:txBody>
                  <a:tcPr marL="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Pretendard"/>
                        </a:rPr>
                        <a:t>교재 9.7 오차 분석과 정리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6.1 오차가 커지는 구간  ·  6.2 오늘의 정리  ·  6.3 연습과 다음 장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01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도입과 학습 목표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1.1  </a:t>
            </a:r>
            <a:r>
              <a:t>계산하는 대신 예측하기</a:t>
            </a:r>
          </a:p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1.2  </a:t>
            </a:r>
            <a:r>
              <a:t>학습 목표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1.1 계산하는 대신 예측하기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1. 도입과 학습 목표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4장의 계산: 시뮬레이션 1회에 라우팅 질의 3만 회 이상, 소요 수 분</a:t>
            </a:r>
          </a:p>
          <a:p>
            <a:pPr/>
            <a:r>
              <a:t>축약 계층은 직접 구현하지 않기로 결정</a:t>
            </a:r>
          </a:p>
          <a:p>
            <a:pPr/>
            <a:r>
              <a:t>다른 방법: 정확한 답을 계산하는 대신 예측</a:t>
            </a:r>
          </a:p>
          <a:p>
            <a:pPr/>
            <a:r>
              <a:t>근거: 좌표와 시각만 있으면 사람도 대략 추정 — 5 km면 15분 정도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1.2 학습 목표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1. 도입과 학습 목표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라우팅 결과를 정답으로 삼는 학습 데이터 구성</a:t>
            </a:r>
          </a:p>
          <a:p>
            <a:pPr/>
            <a:r>
              <a:t>직선거리 기준선부터 단계적 모델 개선</a:t>
            </a:r>
          </a:p>
          <a:p>
            <a:pPr/>
            <a:r>
              <a:t>평균절대오차와 결정계수로 모델 평가</a:t>
            </a:r>
          </a:p>
          <a:p>
            <a:pPr/>
            <a:r>
              <a:t>예측 속도와 정확도의 거래를 수치로 확인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교재 9.1 학습 데이터와 특징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2.1  </a:t>
            </a:r>
            <a:r>
              <a:t>정답 생성과 데이터 분할</a:t>
            </a:r>
          </a:p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2.2  </a:t>
            </a:r>
            <a:r>
              <a:t>특징 여덟 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2.1 정답 생성과 데이터 분할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2. 교재 9.1 학습 데이터와 특징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정답 생성 장치: 3장의 다익스트라</a:t>
            </a:r>
          </a:p>
          <a:p>
            <a:pPr/>
            <a:r>
              <a:t>무작위 출발지와 목적지 쌍 2만 건의 실제 소요시간 계산</a:t>
            </a:r>
          </a:p>
          <a:p>
            <a:pPr/>
            <a:r>
              <a:t>학습 80%, 검증 20%로 분할</a:t>
            </a:r>
          </a:p>
          <a:p>
            <a:pPr/>
            <a:r>
              <a:t>검증 데이터를 분리하는 이유: 암기와 일반화를 구분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2.2 특징 여덟 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2. 교재 9.1 학습 데이터와 특징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실제 도로 거리는 특징에서 제외 — 예측 시점에 알 수 없음</a:t>
            </a:r>
          </a:p>
          <a:p>
            <a:pPr/>
            <a:r>
              <a:t>방위각을 두 값으로 분해하는 이유</a:t>
            </a:r>
          </a:p>
          <a:p>
            <a:pPr lvl="1"/>
            <a:r>
              <a:t>359도와 1도는 거의 같은 방향인데 숫자로는 358만큼 차이</a:t>
            </a:r>
          </a:p>
          <a:p>
            <a:pPr lvl="1"/>
            <a:r>
              <a:t>원 위의 각도를 좌표 두 개로 변환하면 해결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03"/>
          </p:nvPr>
        </p:nvSpPr>
        <p:spPr/>
        <p:txBody>
          <a:bodyPr/>
          <a:lstStyle/>
          <a:p>
            <a:r>
              <a:t>표 1. 예측에 사용하는 특징과 선택 이유</a:t>
            </a:r>
          </a:p>
        </p:txBody>
      </p:sp>
      <p:graphicFrame>
        <p:nvGraphicFramePr>
          <p:cNvPr id="6" name="Table Placeholder 5"/>
          <p:cNvGraphicFramePr>
            <a:graphicFrameLocks noGrp="1"/>
          </p:cNvGraphicFramePr>
          <p:nvPr>
            <p:ph type="tbl" idx="104"/>
          </p:nvPr>
        </p:nvGraphicFramePr>
        <p:xfrm>
          <a:off x="4937760" y="1828800"/>
          <a:ext cx="6565392" cy="2946400"/>
        </p:xfrm>
        <a:graphic>
          <a:graphicData uri="http://schemas.openxmlformats.org/drawingml/2006/table">
            <a:tbl>
              <a:tblPr firstRow="0" bandRow="0" firstCol="0" lastRow="0" lastCol="0" bandCol="0"/>
              <a:tblGrid>
                <a:gridCol w="3282696"/>
                <a:gridCol w="3282696"/>
              </a:tblGrid>
              <a:tr h="4064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Pretendard Medium"/>
                        </a:rPr>
                        <a:t>특징</a:t>
                      </a:r>
                    </a:p>
                  </a:txBody>
                  <a:tcPr marL="101600" marR="101600" marT="76200" marB="76200" anchor="ctr">
                    <a:solidFill>
                      <a:srgbClr val="00000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Pretendard Medium"/>
                        </a:rPr>
                        <a:t>선택 이유</a:t>
                      </a:r>
                    </a:p>
                  </a:txBody>
                  <a:tcPr marL="101600" marR="101600" marT="76200" marB="76200" anchor="ctr">
                    <a:solidFill>
                      <a:srgbClr val="00000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Pretendard"/>
                        </a:rPr>
                        <a:t>straight_km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거리가 가장 강한 신호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Pretendard"/>
                        </a:rPr>
                        <a:t>hour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시간대별 속도 차이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Pretendard"/>
                        </a:rPr>
                        <a:t>sin_bearing · cos_bearing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방향 — 한강 횡단과 강변 방향의 차이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Pretendard"/>
                        </a:rPr>
                        <a:t>출발·도착 위경도 네 개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시가지와 외곽의 도로 사정 차이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03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교재 9.2–9.3 기준선과 선형회귀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3.1  </a:t>
            </a:r>
            <a:r>
              <a:t>기준선과 평가 지표</a:t>
            </a:r>
          </a:p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3.2  </a:t>
            </a:r>
            <a:r>
              <a:t>선형회귀의 한계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3.1 기준선과 평가 지표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3. 교재 9.2–9.3 기준선과 선형회귀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기준선: 직선거리를 평균 속도로 나눈 값</a:t>
            </a:r>
          </a:p>
          <a:p>
            <a:pPr/>
            <a:r>
              <a:t>기준선 성능 MAE 2.52분 — 평균 통행 11.8분 대비 20% 초과 오차</a:t>
            </a:r>
          </a:p>
          <a:p>
            <a:pPr/>
            <a:r>
              <a:t>MAE(평균절대오차) — 평균 몇 분 틀리는지, 단위가 분이라 바로 해석</a:t>
            </a:r>
          </a:p>
          <a:p>
            <a:pPr/>
            <a:r>
              <a:t>R²(결정계수) — 정답 변동의 설명 비율, 0이면 평균값 응답과 동일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3.2 선형회귀의 한계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3. 교재 9.2–9.3 기준선과 선형회귀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단일 특징 모델이 나아진 이유: 절편이 출발·도착 소요시간을 반영</a:t>
            </a:r>
          </a:p>
          <a:p>
            <a:pPr/>
            <a:r>
              <a:t>특징을 일곱 개 추가해도 거의 개선되지 않음</a:t>
            </a:r>
          </a:p>
          <a:p>
            <a:pPr/>
            <a:r>
              <a:t>원인: 선형회귀는 각 특징이 일정 비율로 기여한다고 가정</a:t>
            </a:r>
          </a:p>
          <a:p>
            <a:pPr/>
            <a:r>
              <a:t>실제로는 위치가 다른 특징과 얽혀 작동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03"/>
          </p:nvPr>
        </p:nvSpPr>
        <p:spPr/>
        <p:txBody>
          <a:bodyPr/>
          <a:lstStyle/>
          <a:p>
            <a:r>
              <a:t>표 2. 모델별 성능 비교</a:t>
            </a:r>
          </a:p>
        </p:txBody>
      </p:sp>
      <p:graphicFrame>
        <p:nvGraphicFramePr>
          <p:cNvPr id="6" name="Table Placeholder 5"/>
          <p:cNvGraphicFramePr>
            <a:graphicFrameLocks noGrp="1"/>
          </p:cNvGraphicFramePr>
          <p:nvPr>
            <p:ph type="tbl" idx="104"/>
          </p:nvPr>
        </p:nvGraphicFramePr>
        <p:xfrm>
          <a:off x="4937760" y="1828800"/>
          <a:ext cx="6565392" cy="2311400"/>
        </p:xfrm>
        <a:graphic>
          <a:graphicData uri="http://schemas.openxmlformats.org/drawingml/2006/table">
            <a:tbl>
              <a:tblPr firstRow="0" bandRow="0" firstCol="0" lastRow="0" lastCol="0" bandCol="0"/>
              <a:tblGrid>
                <a:gridCol w="3282696"/>
                <a:gridCol w="3282696"/>
              </a:tblGrid>
              <a:tr h="4064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Pretendard Medium"/>
                        </a:rPr>
                        <a:t>모델</a:t>
                      </a:r>
                    </a:p>
                  </a:txBody>
                  <a:tcPr marL="101600" marR="101600" marT="76200" marB="76200" anchor="ctr">
                    <a:solidFill>
                      <a:srgbClr val="00000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Pretendard Medium"/>
                        </a:rPr>
                        <a:t>MAE</a:t>
                      </a:r>
                    </a:p>
                  </a:txBody>
                  <a:tcPr marL="101600" marR="101600" marT="76200" marB="76200" anchor="ctr">
                    <a:solidFill>
                      <a:srgbClr val="00000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Pretendard"/>
                        </a:rPr>
                        <a:t>기준선 (직선거리 ÷ 평균속도)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2.52분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Pretendard"/>
                        </a:rPr>
                        <a:t>선형회귀 (직선거리만)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기준선보다 소폭 개선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Pretendard"/>
                        </a:rPr>
                        <a:t>선형회귀 (특징 8개)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2.16분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04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교재 9.4–9.5 부스팅과 특징 중요도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4.1  </a:t>
            </a:r>
            <a:r>
              <a:t>그래디언트 부스팅</a:t>
            </a:r>
          </a:p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4.2  </a:t>
            </a:r>
            <a:r>
              <a:t>중요도 상위는 좌표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4.1 그래디언트 부스팅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4. 교재 9.4–9.5 부스팅과 특징 중요도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의사결정나무는 조건이 얽힌 규칙을 표현</a:t>
            </a:r>
          </a:p>
          <a:p>
            <a:pPr lvl="1"/>
            <a:r>
              <a:t>예시: 위도 37.55 초과이고 직선거리 4 km 초과면 12분</a:t>
            </a:r>
          </a:p>
          <a:p>
            <a:pPr/>
            <a:r>
              <a:t>나무 하나는 약하지만 앞 나무의 오차를 다음 나무가 보정</a:t>
            </a:r>
          </a:p>
          <a:p>
            <a:pPr/>
            <a:r>
              <a:t>결과: MAE 0.89분, R² 0.954</a:t>
            </a:r>
          </a:p>
          <a:p>
            <a:pPr/>
            <a:r>
              <a:t>선형회귀 2.16분 대비 절반 이하 — 평균 1분 이내 오차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4.2 중요도 상위는 좌표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4. 교재 9.4–9.5 부스팅과 특징 중요도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중요도 상위: 출발·도착 좌표 네 개 — 직선거리보다 높음</a:t>
            </a:r>
          </a:p>
          <a:p>
            <a:pPr/>
            <a:r>
              <a:t>이유: 좌표 네 개로 거리도 계산되고 지역별 도로 사정까지 학습</a:t>
            </a:r>
          </a:p>
          <a:p>
            <a:pPr/>
            <a:r>
              <a:t>중요도 최하위는 시간대</a:t>
            </a:r>
          </a:p>
          <a:p>
            <a:pPr/>
            <a:r>
              <a:t>시간대별 평균 소요시간은 11.0분에서 12.7분 — 차이 1.7분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교재 9.6 속도와 정확도의 거래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5.1  </a:t>
            </a:r>
            <a:r>
              <a:t>3천 배 빠르고 1분 틀림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5.1 3천 배 빠르고 1분 틀림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5. 교재 9.6 속도와 정확도의 거래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다익스트라 1건 7,400 마이크로초, 모델 예측은 약 3천 배 빠름</a:t>
            </a:r>
          </a:p>
          <a:p>
            <a:pPr/>
            <a:r>
              <a:t>시뮬레이션 1회에 수 분이 걸리던 것이 수 초로 단축</a:t>
            </a:r>
          </a:p>
          <a:p>
            <a:pPr/>
            <a:r>
              <a:t>시뮬레이터의 방식: 후보 선택은 예측, 확정 통행은 라우팅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03"/>
          </p:nvPr>
        </p:nvSpPr>
        <p:spPr/>
        <p:txBody>
          <a:bodyPr/>
          <a:lstStyle/>
          <a:p>
            <a:r>
              <a:t>표 3. 용도별 예측 모델 적용 가능 여부</a:t>
            </a:r>
          </a:p>
        </p:txBody>
      </p:sp>
      <p:graphicFrame>
        <p:nvGraphicFramePr>
          <p:cNvPr id="6" name="Table Placeholder 5"/>
          <p:cNvGraphicFramePr>
            <a:graphicFrameLocks noGrp="1"/>
          </p:cNvGraphicFramePr>
          <p:nvPr>
            <p:ph type="tbl" idx="104"/>
          </p:nvPr>
        </p:nvGraphicFramePr>
        <p:xfrm>
          <a:off x="4937760" y="1828800"/>
          <a:ext cx="6565392" cy="2311400"/>
        </p:xfrm>
        <a:graphic>
          <a:graphicData uri="http://schemas.openxmlformats.org/drawingml/2006/table">
            <a:tbl>
              <a:tblPr firstRow="0" bandRow="0" firstCol="0" lastRow="0" lastCol="0" bandCol="0"/>
              <a:tblGrid>
                <a:gridCol w="2188464"/>
                <a:gridCol w="2188464"/>
                <a:gridCol w="2188464"/>
              </a:tblGrid>
              <a:tr h="4064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Pretendard Medium"/>
                        </a:rPr>
                        <a:t>용도</a:t>
                      </a:r>
                    </a:p>
                  </a:txBody>
                  <a:tcPr marL="101600" marR="101600" marT="76200" marB="76200" anchor="ctr">
                    <a:solidFill>
                      <a:srgbClr val="00000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Pretendard Medium"/>
                        </a:rPr>
                        <a:t>판단</a:t>
                      </a:r>
                    </a:p>
                  </a:txBody>
                  <a:tcPr marL="101600" marR="101600" marT="76200" marB="76200" anchor="ctr">
                    <a:solidFill>
                      <a:srgbClr val="00000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Pretendard Medium"/>
                        </a:rPr>
                        <a:t>이유</a:t>
                      </a:r>
                    </a:p>
                  </a:txBody>
                  <a:tcPr marL="101600" marR="101600" marT="76200" marB="76200" anchor="ctr">
                    <a:solidFill>
                      <a:srgbClr val="00000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Pretendard"/>
                        </a:rPr>
                        <a:t>배차 후보 선택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사용 가능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순위만 필요, 1분 오차로 역전 드묾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Pretendard"/>
                        </a:rPr>
                        <a:t>승객 안내 도착 예정시간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사용 곤란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실제 경로 계산 필요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Pretendard"/>
                        </a:rPr>
                        <a:t>차량 주행 경로 표시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사용 불가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좌표열이 필요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06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교재 9.7 오차 분석과 정리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6.1  </a:t>
            </a:r>
            <a:r>
              <a:t>오차가 커지는 구간</a:t>
            </a:r>
          </a:p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6.2  </a:t>
            </a:r>
            <a:r>
              <a:t>오늘의 정리</a:t>
            </a:r>
          </a:p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6.3  </a:t>
            </a:r>
            <a:r>
              <a:t>연습과 다음 장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6.1 오차가 커지는 구간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6. 교재 9.7 오차 분석과 정리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예측값이 대각선을 따라 분포 — MAE 0.89분, R² 0.954</a:t>
            </a:r>
          </a:p>
          <a:p>
            <a:pPr/>
            <a:r>
              <a:t>거리 구간별 평균절대오차는 0.85분에서 0.94분으로 큰 차이 없음</a:t>
            </a:r>
          </a:p>
          <a:p>
            <a:pPr/>
            <a:r>
              <a:t>큰 오차가 나는 사례: 실제 도로 거리가 직선거리보다 훨씬 큰 통행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그림 1. 예측 대 실제, 그리고 직선거리별 오차 분포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  <p:pic>
        <p:nvPicPr>
          <p:cNvPr id="26" name="Picture 25" descr="ch09_err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417320"/>
            <a:ext cx="6565392" cy="261502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6.2 오늘의 정리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6. 교재 9.7 오차 분석과 정리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배차에 필요한 것은 정확한 경로가 아니라 순위 — 예측으로 대체 가능</a:t>
            </a:r>
          </a:p>
          <a:p>
            <a:pPr/>
            <a:r>
              <a:t>특징은 예측 시점에 얻을 수 있는 것만 사용</a:t>
            </a:r>
          </a:p>
          <a:p>
            <a:pPr/>
            <a:r>
              <a:t>기준선 2.52분, 선형회귀 2.16분, 부스팅 0.89분</a:t>
            </a:r>
          </a:p>
          <a:p>
            <a:pPr/>
            <a:r>
              <a:t>다익스트라보다 3천 배 빠르고 평균 1분 오차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6.3 연습과 다음 장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6. 교재 9.7 오차 분석과 정리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연습 9.1 ★ — 나무 개수를 50에서 800까지 변경했을 때의 성능과 학습 시간</a:t>
            </a:r>
          </a:p>
          <a:p>
            <a:pPr lvl="1"/>
            <a:r>
              <a:t>산출물: 개수별 MAE와 학습시간 표, 적정 값과 근거 2줄</a:t>
            </a:r>
          </a:p>
          <a:p>
            <a:pPr/>
            <a:r>
              <a:t>연습 9.2 ★★ — 특징을 하나씩 제거하는 실험</a:t>
            </a:r>
          </a:p>
          <a:p>
            <a:pPr lvl="1"/>
            <a:r>
              <a:t>산출물: 특징별 MAE 증가량 표, 중요도 순서와의 비교 3~4줄</a:t>
            </a:r>
          </a:p>
          <a:p>
            <a:pPr/>
            <a:r>
              <a:t>연습 9.3 ★★★ — 우회 여부를 대신하는 특징 설계</a:t>
            </a:r>
          </a:p>
          <a:p>
            <a:pPr/>
            <a:r>
              <a:t>다음 장: 10장 배차와 물류 최적화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수요일에 봅니다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교재 10장 — 배차와 물류 최적화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r>
              <a:t>jihoyeo@gachon.ac.kr · AI공학관 210호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2026-08-31T14:39:01Z</dcterms:created>
  <dcterms:modified xsi:type="dcterms:W3CDTF">2026-08-31T14:39:01Z</dcterms:modified>
</cp:coreProperties>
</file>