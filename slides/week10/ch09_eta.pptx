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9장 도입부. 그 추정을 데이터로 학습시키는 것이 이 장의 내용이다.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9장 학습 목표와 같다. 부교재 『핸즈온 머신러닝』이 이 장의 배경이다.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학습에 쓴 데이터로 평가하면 외운 것과 이해한 것을 구분할 수 없다. 데이터 생성은 약 3분이 걸려서 미리 만들어 저장해 두었다.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예측할 때 얻을 수 없는 값을 특징에 넣으면 안 된다. 이것이 이 절의 요점이고 기말 프로젝트에서도 반복된다.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기준선을 먼저 정한다. 기준선보다 못하면 그 모델은 쓸모가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위도가 0.01 올라갈 때 시간이 항상 같은 만큼 늘지 않는다. 시가지에서는 신호가 여럿이고 외곽에서는 도로가 뚫려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얽힌 조건을 자연스럽게 표현하는 것이 나무 계열 모델의 장점이다. 이 부분은 다른 과목에서 더 자세히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4장에서 확인한 62% 차이는 특정 구간의 이야기다. 무작위 출발지와 목적지 쌍의 대부분은 이면도로를 쓰는 짧은 통행이고, 이면도로는 시간대별 속도 차이가 작다.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모델을 만든 이유는 정확도가 아니라 속도다. 거래를 받아들일지는 용도에 달렸다.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강 건너편이거나 산을 우회해야 하는 경우다. 좌표만 확인하는 모델이 이것을 알아내기 어렵다. 개선하려면 두 지점 사이의 장애물 여부를 알려 주는 특징이 필요하고, 연습 9.3에서 시도한다.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 위의 값은 사인과 코사인 두 개로 분해해 넣는다는 점도 다시 언급한다. 오후에는 이 예측을 배차 비용행렬에 넣는다.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연습 9.3에서는 특징 계산 비용도 함께 측정한다. 모델을 쓰는 이유가 속도였으므로 특징 계산이 라우팅만큼 비싸지면 의미가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9장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9장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9장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9장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9장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9장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9장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10주차 화요일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통행시간 예측 모델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9장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11월 3일 (화)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9장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계산하는 대신 예측하기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9.1 학습 데이터와 특징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정답 생성과 데이터 분할  ·  2.2 특징 여덟 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9.2–9.3 기준선과 선형회귀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기준선과 평가 지표  ·  3.2 선형회귀의 한계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9.4–9.5 부스팅과 특징 중요도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그래디언트 부스팅  ·  4.2 중요도 상위는 좌표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9.6 속도와 정확도의 거래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3천 배 빠르고 1분 틀림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9.7 오차 분석과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오차가 커지는 구간  ·  6.2 오늘의 정리  ·  6.3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계산하는 대신 예측하기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계산하는 대신 예측하기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4장의 계산: 시뮬레이션 1회에 라우팅 질의 3만 회 이상, 소요 수 분</a:t>
            </a:r>
          </a:p>
          <a:p>
            <a:pPr/>
            <a:r>
              <a:t>축약 계층은 직접 구현하지 않기로 결정</a:t>
            </a:r>
          </a:p>
          <a:p>
            <a:pPr/>
            <a:r>
              <a:t>다른 방법: 정확한 답을 계산하는 대신 예측</a:t>
            </a:r>
          </a:p>
          <a:p>
            <a:pPr/>
            <a:r>
              <a:t>근거: 좌표와 시각만 있으면 사람도 대략 추정 — 5 km면 15분 정도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라우팅 결과를 정답으로 삼는 학습 데이터 구성</a:t>
            </a:r>
          </a:p>
          <a:p>
            <a:pPr/>
            <a:r>
              <a:t>직선거리 기준선부터 단계적 모델 개선</a:t>
            </a:r>
          </a:p>
          <a:p>
            <a:pPr/>
            <a:r>
              <a:t>평균절대오차와 결정계수로 모델 평가</a:t>
            </a:r>
          </a:p>
          <a:p>
            <a:pPr/>
            <a:r>
              <a:t>예측 속도와 정확도의 거래를 수치로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labs/ch09_eta.ipynb</a:t>
            </a:r>
          </a:p>
          <a:p>
            <a:pPr/>
            <a:r>
              <a:t>진행 순서: 슬라이드 개요 → 교재 본문 → 실습 노트북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ko/ch09_eta.md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labs/ch09_eta.ipynb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9.1 학습 데이터와 특징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정답 생성과 데이터 분할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특징 여덟 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정답 생성과 데이터 분할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9.1 학습 데이터와 특징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정답 생성 장치: 3장의 다익스트라</a:t>
            </a:r>
          </a:p>
          <a:p>
            <a:pPr/>
            <a:r>
              <a:t>무작위 출발지와 목적지 쌍 2만 건의 실제 소요시간 계산</a:t>
            </a:r>
          </a:p>
          <a:p>
            <a:pPr/>
            <a:r>
              <a:t>학습 80%, 검증 20%로 분할</a:t>
            </a:r>
          </a:p>
          <a:p>
            <a:pPr/>
            <a:r>
              <a:t>검증 데이터를 분리하는 이유: 암기와 일반화를 구분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특징 여덟 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9.1 학습 데이터와 특징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실제 도로 거리는 특징에서 제외 — 예측 시점에 알 수 없음</a:t>
            </a:r>
          </a:p>
          <a:p>
            <a:pPr/>
            <a:r>
              <a:t>방위각을 두 값으로 분해하는 이유</a:t>
            </a:r>
          </a:p>
          <a:p>
            <a:pPr lvl="1"/>
            <a:r>
              <a:t>359도와 1도는 거의 같은 방향인데 숫자로는 358만큼 차이</a:t>
            </a:r>
          </a:p>
          <a:p>
            <a:pPr lvl="1"/>
            <a:r>
              <a:t>원 위의 각도를 좌표 두 개로 변환하면 해결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예측에 사용하는 특징과 선택 이유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특징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선택 이유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straight_km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거리가 가장 강한 신호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hour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시간대별 속도 차이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sin_bearing · cos_bearing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방향 — 한강 횡단과 강변 방향의 차이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출발·도착 위경도 네 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시가지와 외곽의 도로 사정 차이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9.2–9.3 기준선과 선형회귀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기준선과 평가 지표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선형회귀의 한계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기준선과 평가 지표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9.2–9.3 기준선과 선형회귀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기준선: 직선거리를 평균 속도로 나눈 값</a:t>
            </a:r>
          </a:p>
          <a:p>
            <a:pPr/>
            <a:r>
              <a:t>기준선 성능 MAE 2.52분 — 평균 통행 11.8분 대비 20% 초과 오차</a:t>
            </a:r>
          </a:p>
          <a:p>
            <a:pPr/>
            <a:r>
              <a:t>MAE(평균절대오차) — 평균 몇 분 틀리는지, 단위가 분이라 바로 해석</a:t>
            </a:r>
          </a:p>
          <a:p>
            <a:pPr/>
            <a:r>
              <a:t>R²(결정계수) — 정답 변동의 설명 비율, 0이면 평균값 응답과 동일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선형회귀의 한계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9.2–9.3 기준선과 선형회귀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단일 특징 모델이 나아진 이유: 절편이 출발·도착 소요시간을 반영</a:t>
            </a:r>
          </a:p>
          <a:p>
            <a:pPr/>
            <a:r>
              <a:t>특징을 일곱 개 추가해도 거의 개선되지 않음</a:t>
            </a:r>
          </a:p>
          <a:p>
            <a:pPr/>
            <a:r>
              <a:t>원인: 선형회귀는 각 특징이 일정 비율로 기여한다고 가정</a:t>
            </a:r>
          </a:p>
          <a:p>
            <a:pPr/>
            <a:r>
              <a:t>실제로는 위치가 다른 특징과 얽혀 작동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모델별 성능 비교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모델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MAE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기준선 (직선거리 ÷ 평균속도)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2.52분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선형회귀 (직선거리만)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기준선보다 소폭 개선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선형회귀 (특징 8개)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2.16분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9.4–9.5 부스팅과 특징 중요도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그래디언트 부스팅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중요도 상위는 좌표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그래디언트 부스팅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9.4–9.5 부스팅과 특징 중요도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의사결정나무는 조건이 얽힌 규칙을 표현</a:t>
            </a:r>
          </a:p>
          <a:p>
            <a:pPr lvl="1"/>
            <a:r>
              <a:t>예시: 위도 37.55 초과이고 직선거리 4 km 초과면 12분</a:t>
            </a:r>
          </a:p>
          <a:p>
            <a:pPr/>
            <a:r>
              <a:t>나무 하나는 약하지만 앞 나무의 오차를 다음 나무가 보정</a:t>
            </a:r>
          </a:p>
          <a:p>
            <a:pPr/>
            <a:r>
              <a:t>결과: MAE 0.89분, R² 0.954</a:t>
            </a:r>
          </a:p>
          <a:p>
            <a:pPr/>
            <a:r>
              <a:t>선형회귀 2.16분 대비 절반 이하 — 평균 1분 이내 오차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중요도 상위는 좌표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9.4–9.5 부스팅과 특징 중요도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중요도 상위: 출발·도착 좌표 네 개 — 직선거리보다 높음</a:t>
            </a:r>
          </a:p>
          <a:p>
            <a:pPr/>
            <a:r>
              <a:t>이유: 좌표 네 개로 거리도 계산되고 지역별 도로 사정까지 학습</a:t>
            </a:r>
          </a:p>
          <a:p>
            <a:pPr/>
            <a:r>
              <a:t>중요도 최하위는 시간대</a:t>
            </a:r>
          </a:p>
          <a:p>
            <a:pPr/>
            <a:r>
              <a:t>시간대별 평균 소요시간은 11.0분에서 12.7분 — 차이 1.7분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9.6 속도와 정확도의 거래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3천 배 빠르고 1분 틀림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3천 배 빠르고 1분 틀림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9.6 속도와 정확도의 거래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다익스트라 1건 7,400 마이크로초, 모델 예측은 약 3천 배 빠름</a:t>
            </a:r>
          </a:p>
          <a:p>
            <a:pPr/>
            <a:r>
              <a:t>시뮬레이션 1회에 수 분이 걸리던 것이 수 초로 단축</a:t>
            </a:r>
          </a:p>
          <a:p>
            <a:pPr/>
            <a:r>
              <a:t>시뮬레이터의 방식: 후보 선택은 예측, 확정 통행은 라우팅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4. 용도별 예측 모델 적용 가능 여부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용도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판단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이유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배차 후보 선택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사용 가능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순위만 필요, 1분 오차로 역전 드묾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승객 안내 도착 예정시간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사용 곤란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실제 경로 계산 필요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차량 주행 경로 표시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사용 불가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좌표열이 필요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9.7 오차 분석과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오차가 커지는 구간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6.3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오차가 커지는 구간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9.7 오차 분석과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예측값이 대각선을 따라 분포 — MAE 0.89분, R² 0.954</a:t>
            </a:r>
          </a:p>
          <a:p>
            <a:pPr/>
            <a:r>
              <a:t>거리 구간별 평균절대오차는 0.85분에서 0.94분으로 큰 차이 없음</a:t>
            </a:r>
          </a:p>
          <a:p>
            <a:pPr/>
            <a:r>
              <a:t>큰 오차가 나는 사례: 실제 도로 거리가 직선거리보다 훨씬 큰 통행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예측 대 실제, 그리고 직선거리별 오차 분포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9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565392" cy="261502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9.7 오차 분석과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배차에 필요한 것은 정확한 경로가 아니라 순위 — 예측으로 대체 가능</a:t>
            </a:r>
          </a:p>
          <a:p>
            <a:pPr/>
            <a:r>
              <a:t>특징은 예측 시점에 얻을 수 있는 것만 사용</a:t>
            </a:r>
          </a:p>
          <a:p>
            <a:pPr/>
            <a:r>
              <a:t>기준선 2.52분, 선형회귀 2.16분, 부스팅 0.89분</a:t>
            </a:r>
          </a:p>
          <a:p>
            <a:pPr/>
            <a:r>
              <a:t>다익스트라보다 3천 배 빠르고 평균 1분 오차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6.3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9.7 오차 분석과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9.1 ★ — 나무 개수를 50에서 800까지 변경했을 때의 성능과 학습 시간</a:t>
            </a:r>
          </a:p>
          <a:p>
            <a:pPr lvl="1"/>
            <a:r>
              <a:t>산출물: 개수별 MAE와 학습시간 표, 적정 값과 근거 2줄</a:t>
            </a:r>
          </a:p>
          <a:p>
            <a:pPr/>
            <a:r>
              <a:t>연습 9.2 ★★ — 특징을 하나씩 제거하는 실험</a:t>
            </a:r>
          </a:p>
          <a:p>
            <a:pPr lvl="1"/>
            <a:r>
              <a:t>산출물: 특징별 MAE 증가량 표, 중요도 순서와의 비교 3~4줄</a:t>
            </a:r>
          </a:p>
          <a:p>
            <a:pPr/>
            <a:r>
              <a:t>연습 9.3 ★★★ — 우회 여부를 대신하는 특징 설계</a:t>
            </a:r>
          </a:p>
          <a:p>
            <a:pPr/>
            <a:r>
              <a:t>다음 장: 10장 배차와 물류 최적화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수요일에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10장 — 배차와 물류 최적화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