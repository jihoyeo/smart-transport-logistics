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5장 도입부. 하남시청에서 미사역까지 버스로 몇 분 걸리는지가 이 장과 6장을 관통하는 질문이다.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5장 학습 목표와 같다. 두 번째와 세 번째는 한국 데이터를 다룰 때 반복해서 마주친다.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GTFS는 텍스트 파일 여덟 개짜리 zip이고 이 책에서 쓰는 것이 다섯 개다. 위에서 아래로 routes에서 trips, stop_times, stops 순서로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구분을 놓치면 6장에서 RAPTOR를 구현할 때 노선 단위 순회와 운행 단위 승차를 섞게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route_type이 3인 것만 버스로 거르면 하남시 버스가 4개만 나온다. 다른 나라 데이터로 만든 코드를 한국 데이터에 그대로 쓰면 이런 일이 생긴다. 2장의 검증 습관이 여기서도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파싱은 자정부터의 초로 변환한다. 25:30:00은 다음 날 새벽 1시 30분이고 같은 운행일이다. smartmob.data.parse_gtfs_time이 이 일을 하고 6장에서 계속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위도 37도에서는 경도 1도가 위도 1도보다 짧아서 종횡비를 보정해야 지도 모양이 맞는다.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smartmob.data.gtfs.clip_to_boundary가 이 순서로 되어 있다. 기말 프로젝트에서 무당이 GTFS를 다룰 때 같은 문제를 겪는다.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실습에서 하남시청 정류장을 지나는 노선과 각 노선의 운행 수를 계산한다. 그것이 그 정류장의 공급 수준이고, 기말 프로젝트에서 무당이에 대해 같은 계산을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5.3의 순서가 같은 운행 묶음이 6장에서 중요해진다. 한 노선에 여러 순서가 나오는 이유는 상행과 하행, 지선, 회차다.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5장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5장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5장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5장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5장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5장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5장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4주차 수요일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GTFS와 한국 대중교통 데이터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5장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23일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5장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버스는 아무 때나 출발하지 않습니다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5.1 표 다섯 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GTFS 다섯 개 표의 연결  ·  2.2 노선과 운행의 구분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5.2 한국의 route_type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TAGO 코드와 국제 명세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5.3 24시 초과 시각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30시가 나오는 이유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5.4–5.5 지도와 경계 절단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정류장 분포  ·  5.2 노선 단위 절단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5.6 실습과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오늘의 정리  ·  6.2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버스는 아무 때나 출발하지 않습니다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버스는 아무 때나 출발하지 않습니다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도로망만으로 계산 불가 — 버스에는 시간표가 존재</a:t>
            </a:r>
          </a:p>
          <a:p>
            <a:pPr/>
            <a:r>
              <a:t>예시: 18:03 도착, 직전 차량이 18:01 출발 → 다음 차까지 대기</a:t>
            </a:r>
          </a:p>
          <a:p>
            <a:pPr/>
            <a:r>
              <a:t>전 세계 대중교통 시간표의 공통 형식이 GTFS</a:t>
            </a:r>
          </a:p>
          <a:p>
            <a:pPr/>
            <a:r>
              <a:t>이 장의 범위: GTFS 형식의 구조와 한국 데이터의 차이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GTFS 다섯 개 표의 연결 관계 설명</a:t>
            </a:r>
          </a:p>
          <a:p>
            <a:pPr/>
            <a:r>
              <a:t>한국 GTFS의 route_type이 국제 표준과 다르다는 점 확인과 해석</a:t>
            </a:r>
          </a:p>
          <a:p>
            <a:pPr/>
            <a:r>
              <a:t>24시를 넘는 시각 표기 처리</a:t>
            </a:r>
          </a:p>
          <a:p>
            <a:pPr/>
            <a:r>
              <a:t>경계 절단 시 노선 전체를 유지하는 방법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5.1 표 다섯 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GTFS 다섯 개 표의 연결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노선과 운행의 구분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GTFS 다섯 개 표의 연결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5.1 표 다섯 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표 1. 이 과목에서 사용하는 GTFS 다섯 개 표와 연결 키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5" cy="358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705023"/>
                <a:gridCol w="2705023"/>
                <a:gridCol w="2705023"/>
                <a:gridCol w="270502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담는 것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예시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연결 키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routes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노선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340번 버스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route_id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trips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운행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340번의 07:12 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trip_id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stop_times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시각표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정류장별 정차 시각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stop_id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stops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정류장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이름과 위경도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calendar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운행일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다니는 요일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노선과 운행의 구분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5.1 표 다섯 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노선(route)과 운행(trip)은 다른 개념</a:t>
            </a:r>
          </a:p>
          <a:p>
            <a:pPr lvl="1"/>
            <a:r>
              <a:t>340번 버스는 노선 하나, 하루 수십 회 운행</a:t>
            </a:r>
          </a:p>
          <a:p>
            <a:pPr lvl="1"/>
            <a:r>
              <a:t>각 운행이 별개의 trip</a:t>
            </a:r>
          </a:p>
          <a:p>
            <a:pPr/>
            <a:r>
              <a:t>하남 GTFS 최다 노선의 운행 수: 하루 293회 — 약 3분 간격</a:t>
            </a:r>
          </a:p>
          <a:p>
            <a:pPr/>
            <a:r>
              <a:t>정류장 수: 4,203개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5.2 한국의 route_type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TAGO 코드와 국제 명세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TAGO 코드와 국제 명세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5.2 한국의 route_type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국제 명세대로 읽으면 하남시에 트램 132개 노선</a:t>
            </a:r>
          </a:p>
          <a:p>
            <a:pPr/>
            <a:r>
              <a:t>오류 없이 실행되고 결과 숫자만 이상해짐</a:t>
            </a:r>
          </a:p>
          <a:p>
            <a:pPr/>
            <a:r>
              <a:t>그 외 하남 데이터: 공항리무진 8개, 일반철도 6개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route_type 값의 해석 차이와 하남 GTFS의 노선 수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41348"/>
                <a:gridCol w="1641348"/>
                <a:gridCol w="1641348"/>
                <a:gridCol w="1641348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국제 GTFS 명세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한국 TAGO 코드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하남 노선 수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트램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시내·농어촌·마을버스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132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지하철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도시철도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15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버스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시외버스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5.3 24시 초과 시각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30시가 나오는 이유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30시가 나오는 이유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5.3 24시 초과 시각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arrival_time은 HH:MM:SS 문자열 — 그대로 파싱하면 실패</a:t>
            </a:r>
          </a:p>
          <a:p>
            <a:pPr/>
            <a:r>
              <a:t>하남 GTFS의 시 최댓값은 30 — 새벽 6시를 의미</a:t>
            </a:r>
          </a:p>
          <a:p>
            <a:pPr/>
            <a:r>
              <a:t>24시 미만으로 적을 때의 문제</a:t>
            </a:r>
          </a:p>
          <a:p>
            <a:pPr lvl="1"/>
            <a:r>
              <a:t>23:50 출발, 00:20 도착이면 도착이 출발보다 이른 시각</a:t>
            </a:r>
          </a:p>
          <a:p>
            <a:pPr lvl="1"/>
            <a:r>
              <a:t>그날 밤차인지 다음날 첫차인지 구분 불가</a:t>
            </a:r>
          </a:p>
          <a:p>
            <a:pPr/>
            <a:r>
              <a:t>24:20:00 표기의 효과: 시각 증가 유지, 운행일은 출발일로 고정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5.4–5.5 지도와 경계 절단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정류장 분포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노선 단위 절단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정류장 분포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5.4–5.5 지도와 경계 절단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하남시 경계 밖까지 넓게 분포</a:t>
            </a:r>
          </a:p>
          <a:p>
            <a:pPr/>
            <a:r>
              <a:t>이유: 하남시를 지나는 노선의 정류장 전체가 포함</a:t>
            </a:r>
          </a:p>
          <a:p>
            <a:pPr/>
            <a:r>
              <a:t>예시: 340번이 서울 강변역까지 가면 강변역 정류장도 포함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하남 GTFS 정류장 4,203개의 위치 분포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5_s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노선 단위 절단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5.4–5.5 지도와 경계 절단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정류장 기준 절단의 문제: 경계에서 노선이 끊김</a:t>
            </a:r>
          </a:p>
          <a:p>
            <a:pPr lvl="1"/>
            <a:r>
              <a:t>340번의 정류장이 안에 10개, 밖에 15개면 10개짜리 노선이 됨</a:t>
            </a:r>
          </a:p>
          <a:p>
            <a:pPr lvl="1"/>
            <a:r>
              <a:t>실제로 갈 수 있는 곳을 못 간다고 응답</a:t>
            </a:r>
          </a:p>
          <a:p>
            <a:pPr/>
            <a:r>
              <a:t>노선 단위 절단 순서</a:t>
            </a:r>
          </a:p>
          <a:p>
            <a:pPr lvl="1"/>
            <a:r>
              <a:t>경계 안 정류장 → 그 정류장을 지나는 운행 → 그 운행의 노선 → 그 노선의 운행 전부</a:t>
            </a:r>
          </a:p>
          <a:p>
            <a:pPr/>
            <a:r>
              <a:t>버퍼 500 m 적용 — 경계 30 m 밖 정류장도 사실상 그 동네의 정류장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5.6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5.6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표 연결: routes에서 trips, stop_times, stops 순서</a:t>
            </a:r>
          </a:p>
          <a:p>
            <a:pPr lvl="1"/>
            <a:r>
              <a:t>노선과 운행은 다름 — 340번은 노선 하나, 하루 수십 회 운행</a:t>
            </a:r>
          </a:p>
          <a:p>
            <a:pPr/>
            <a:r>
              <a:t>한국 route_type은 TAGO 코드 — 0은 시내버스이고 트램이 아님</a:t>
            </a:r>
          </a:p>
          <a:p>
            <a:pPr/>
            <a:r>
              <a:t>시각은 24시를 넘음 — 25:30:00은 다음 날 새벽이고 같은 운행일</a:t>
            </a:r>
          </a:p>
          <a:p>
            <a:pPr/>
            <a:r>
              <a:t>경계 절단은 정류장이 아니라 노선 단위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5.6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5.1 ★ — 첫차와 막차 시각, 24시 초과 표기 처리</a:t>
            </a:r>
          </a:p>
          <a:p>
            <a:pPr lvl="1"/>
            <a:r>
              <a:t>산출물: 첫차 시각, 막차 시각, 처리 방식 한 문장</a:t>
            </a:r>
          </a:p>
          <a:p>
            <a:pPr/>
            <a:r>
              <a:t>연습 5.2 ★★ — 시간대별 운행 편수 히스토그램</a:t>
            </a:r>
          </a:p>
          <a:p>
            <a:pPr lvl="1"/>
            <a:r>
              <a:t>산출물: 히스토그램 1장, 첨두 시간대와 심야 운행 유무 2~3줄</a:t>
            </a:r>
          </a:p>
          <a:p>
            <a:pPr/>
            <a:r>
              <a:t>연습 5.3 ★★★ — 노선별 정류장 순서의 종류 수</a:t>
            </a:r>
          </a:p>
          <a:p>
            <a:pPr/>
            <a:r>
              <a:t>다음 장: 6장 RAPTOR 직접 구현 — 직접 구현 세 개 중 두 번째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6장 — RAPTOR 직접 구현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