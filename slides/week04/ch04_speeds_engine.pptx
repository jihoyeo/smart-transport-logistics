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4장 도입부. 3장 결과를 그대로 믿으면 저녁 시간대 시뮬레이션이 실제보다 낙관적으로 나온다는 점을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4장 학습 목표와 같다. 두 번째 항목이 오늘의 중심이다.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2장에서 엣지 표를 확인할 때 지나쳤던 컬럼들이다. 교재에서 컬럼 목록을 다시 출력해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비워 두면 그 도로를 아예 사용할 수 없게 되므로 더 나쁘다. 결측이 이면도로에 몰려 있다는 점이 자유류 대체를 그럭저럭 타당하게 만든다. 연습 4.2에서 다른 대체 방식과 비교한다.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심야 7분 58초와 오후 첨두 8분 59초도 1분 차이가 난다. 하루 종일 같은 속도로 시뮬레이션하면 저녁 배차가 실제보다 잘 되는 것처럼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최단경로를 미리 계산해 저장하면 되지 않느냐는 질문이 자연스럽게 나온다. 시뮬레이터는 이 문제를 다르게 해결하고, 4.5절에서 그 방법을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파일럿 프로젝트에서 파라미터를 비교하려면 이 속도로는 부족하다. 다음 절의 엔진이 이 문제를 해결한다.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가지 모두 직접 구현하지 않는다. 필요할 때 HTTP로 호출한다. 축약 계층은 3장 끝에서 예고한 그 방법이다.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서버가 없으면 이 부분은 건너뛴다. 이 장의 나머지와 5장 이후는 서버 없이 진행된다.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자유류 속도만 쓰는 시뮬레이션은 언제나 실제보다 낙관적인 결과를 낸다. 이 한 문장이 오늘의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 4.3은 경로를 이동하는 동안 시각이 지나 시간대가 바뀌는 경우까지 반영한다. 오후 6시 50분에 출발해 7시를 지나는 상황이 예시다.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4장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4장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4장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4장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4장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4장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4장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4주차 화요일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시간대별 속도와 실제 라우팅 엔진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4장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9월 22일 (화)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4장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오전 8시의 같은 구간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4.1 시간대별 속도 컬럼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여덟 개의 시간대  ·  2.2 실측 속도와 결측 처리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4.2–4.3 소요시간과 경로 변화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시간대별 소요시간  ·  3.2 경로 자체의 변화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4.4 질의 횟수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시뮬레이션 1회의 질의 수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4.5 실제 엔진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엔진이 다르게 하는 세 가지  ·  5.2 우리 구현과의 대조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4.6 실습과 정리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오늘의 정리  ·  6.2 연습과 다음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오전 8시의 같은 구간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오전 8시의 같은 구간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3장 결과: 하남시청에서 미사역까지 5분 34초</a:t>
            </a:r>
          </a:p>
          <a:p>
            <a:pPr/>
            <a:r>
              <a:t>사용한 값은 free_flow_speed_kmh — 막히지 않을 때의 속도</a:t>
            </a:r>
          </a:p>
          <a:p>
            <a:pPr/>
            <a:r>
              <a:t>제한속도에 가깝고, 실제로 그 속도가 나오는 시간대는 새벽뿐</a:t>
            </a:r>
          </a:p>
          <a:p>
            <a:pPr/>
            <a:r>
              <a:t>이 장의 범위: 시간대별 실측 속도 적용과 엔진의 처리 방식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시간대별 속도 컬럼 적용과 소요시간 변화 측정</a:t>
            </a:r>
          </a:p>
          <a:p>
            <a:pPr/>
            <a:r>
              <a:t>속도 변경이 최단경로 자체를 바꾼다는 점 확인</a:t>
            </a:r>
          </a:p>
          <a:p>
            <a:pPr/>
            <a:r>
              <a:t>관측이 없는 엣지의 처리 방침 결정</a:t>
            </a:r>
          </a:p>
          <a:p>
            <a:pPr/>
            <a:r>
              <a:t>시뮬레이션 질의 수 계산과 실제 엔진이 필요한 이유 설명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4.1 시간대별 속도 컬럼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여덟 개의 시간대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실측 속도와 결측 처리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여덟 개의 시간대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4.1 시간대별 속도 컬럼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weekday로 시작하는 여덟 개 컬럼이 주중 시간대별 관측 속도</a:t>
            </a:r>
          </a:p>
          <a:p>
            <a:pPr lvl="1"/>
            <a:r>
              <a:t>offpeak 06–07 · am_peak 07–09 · am_shoulder 09–10 · midday 10–12</a:t>
            </a:r>
          </a:p>
          <a:p>
            <a:pPr lvl="1"/>
            <a:r>
              <a:t>afternoon 12–17 · pm_peak 17–19 · pm_shoulder 19–22 · night 22–06</a:t>
            </a:r>
          </a:p>
          <a:p>
            <a:pPr/>
            <a:r>
              <a:t>컬럼 이름의 p50은 중앙값</a:t>
            </a:r>
          </a:p>
          <a:p>
            <a:pPr/>
            <a:r>
              <a:t>출처: 국가교통데이터베이스 계열의 속도 통계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실측 속도와 결측 처리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4.1 시간대별 속도 컬럼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결측 엣지의 대부분은 이면도로와 주택가 도로</a:t>
            </a:r>
          </a:p>
          <a:p>
            <a:pPr/>
            <a:r>
              <a:t>간선도로는 대부분 관측 존재</a:t>
            </a:r>
          </a:p>
          <a:p>
            <a:pPr/>
            <a:r>
              <a:t>처리 방침: 결측은 자유류 속도로 대체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하남시 도로의 속도 통계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항목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자유류 중앙값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30 km/h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실측 중앙값 범위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19~22 km/h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가장 느린 시간대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오후 첨두 18.9 km/h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관측 결측률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21.7%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4.2–4.3 소요시간과 경로 변화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시간대별 소요시간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경로 자체의 변화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시간대별 소요시간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4.2–4.3 소요시간과 경로 변화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자유류 5분 34초 → 오후 첨두 8분 59초</a:t>
            </a:r>
          </a:p>
          <a:p>
            <a:pPr/>
            <a:r>
              <a:t>증가율 62%</a:t>
            </a:r>
          </a:p>
          <a:p>
            <a:pPr/>
            <a:r>
              <a:t>자유류 기준선이 모든 시간대보다 아래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하남시청에서 미사역까지 시간대별 소요시간과 자유류 기준선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04_time_of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2407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경로 자체의 변화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4.2–4.3 소요시간과 경로 변화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실측 속도 적용 시 자유류와 다른 경로 선택</a:t>
            </a:r>
          </a:p>
          <a:p>
            <a:pPr/>
            <a:r>
              <a:t>이유: 큰길이 정체되는 시간대에는 골목이 유리</a:t>
            </a:r>
          </a:p>
          <a:p>
            <a:pPr/>
            <a:r>
              <a:t>무작위 50쌍 검증 — 오전 첨두와 심야에서 절반 가까이가 상이</a:t>
            </a:r>
          </a:p>
          <a:p>
            <a:pPr/>
            <a:r>
              <a:t>최단경로 사전 계산의 한계: 시간대 수만큼 별도 저장 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4.4 질의 횟수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시뮬레이션 1회의 질의 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시뮬레이션 1회의 질의 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4.4 질의 횟수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배차마다 질의: 대기 차량 중 최단 도착 차량 선택</a:t>
            </a:r>
          </a:p>
          <a:p>
            <a:pPr/>
            <a:r>
              <a:t>실제 주행 경로 산출까지 포함하면 더 증가</a:t>
            </a:r>
          </a:p>
          <a:p>
            <a:pPr/>
            <a:r>
              <a:t>차량 대수를 바꿔 20회 실행하면 한 시간 초과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하남시 저녁 시뮬레이션 1회의 라우팅 질의량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항목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호출 건수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990건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대기 차량 평균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약 31대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질의 수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3만 회 이상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파이썬 다익스트라 소요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1회 7.4 ms · 합계 수 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4.5 실제 엔진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엔진이 다르게 하는 세 가지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우리 구현과의 대조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엔진이 다르게 하는 세 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4.5 실제 엔진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축약 계층 사전 구축 — 질의당 확정 노드가 수백 개 수준</a:t>
            </a:r>
          </a:p>
          <a:p>
            <a:pPr/>
            <a:r>
              <a:t>행렬 질의 — 승객 20명과 차량 30대를 600회가 아니라 20회 탐색으로 처리</a:t>
            </a:r>
          </a:p>
          <a:p>
            <a:pPr lvl="1"/>
            <a:r>
              <a:t>출발지 하나에서 모든 도착지까지 한 번에 계산하는 PHAST 방식</a:t>
            </a:r>
          </a:p>
          <a:p>
            <a:pPr/>
            <a:r>
              <a:t>속도 배열만 교체 — 시간대 전환 시 그래프 재생성 없이 계층 갱신</a:t>
            </a:r>
          </a:p>
          <a:p>
            <a:pPr lvl="1"/>
            <a:r>
              <a:t>처음부터 재구축하는 것보다 다섯 배 빠름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우리 구현과의 대조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4.5 실제 엔진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서버가 있으면 우리 다익스트라와 엔진 결과를 나란히 비교</a:t>
            </a:r>
          </a:p>
          <a:p>
            <a:pPr/>
            <a:r>
              <a:t>완전히 일치하지는 않음</a:t>
            </a:r>
          </a:p>
          <a:p>
            <a:pPr/>
            <a:r>
              <a:t>차이의 원인: 엔진은 승하차 시간과 회전 제한을 추가 반영</a:t>
            </a:r>
          </a:p>
          <a:p>
            <a:pPr/>
            <a:r>
              <a:t>값이 크게 벌어지면 대부분 스냅된 노드가 서로 다른 경우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4.6 실습과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연습과 다음 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4.6 실습과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실측 속도 적용 시 하남시청에서 미사역까지 62% 증가</a:t>
            </a:r>
          </a:p>
          <a:p>
            <a:pPr lvl="1"/>
            <a:r>
              <a:t>자유류 5분 34초 · 오후 첨두 8분 59초</a:t>
            </a:r>
          </a:p>
          <a:p>
            <a:pPr/>
            <a:r>
              <a:t>소요시간뿐 아니라 경로 자체가 변경 — 무작위 쌍의 절반 가까이</a:t>
            </a:r>
          </a:p>
          <a:p>
            <a:pPr/>
            <a:r>
              <a:t>관측 결측 21.7%는 자유류로 대체, 대부분 이면도로</a:t>
            </a:r>
          </a:p>
          <a:p>
            <a:pPr/>
            <a:r>
              <a:t>시뮬레이션 1회에 3만 회 이상 질의 — 엔진이 필요한 이유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연습과 다음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4.6 실습과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4.1 ★ — 도로 종류별 자유류와 오후 첨두 속도 차이</a:t>
            </a:r>
          </a:p>
          <a:p>
            <a:pPr lvl="1"/>
            <a:r>
              <a:t>산출물: 종류별 비교표(자유류, 오후 첨두, 감소율) 상위 6행</a:t>
            </a:r>
          </a:p>
          <a:p>
            <a:pPr/>
            <a:r>
              <a:t>연습 4.2 ★★ — 결측을 같은 도로 종류의 관측 중앙값으로 대체</a:t>
            </a:r>
          </a:p>
          <a:p>
            <a:pPr lvl="1"/>
            <a:r>
              <a:t>산출물: 두 방식의 소요시간, 선택과 근거 3~4줄</a:t>
            </a:r>
          </a:p>
          <a:p>
            <a:pPr/>
            <a:r>
              <a:t>연습 4.3 ★★★ — 시간의존 최단경로 구현</a:t>
            </a:r>
          </a:p>
          <a:p>
            <a:pPr/>
            <a:r>
              <a:t>다음 장: 5장 GTFS 대중교통 시간표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수요일에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5장 — GTFS 대중교통 시간표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