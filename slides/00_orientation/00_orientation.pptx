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오리엔테이션 뒤 남는 시간에 1주차 화요일 분(교재 1장 「왜 시뮬레이션인가」)을 시작합니다.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1828800"/>
            <a:ext cx="10515600" cy="1737360"/>
          </a:xfrm>
        </p:spPr>
        <p:txBody>
          <a:bodyPr anchor="b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0"/>
              </a:spcBef>
              <a:buNone/>
              <a:defRPr sz="3400" kern="12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886200"/>
            <a:ext cx="10515600" cy="1737360"/>
          </a:xfrm>
        </p:spPr>
        <p:txBody>
          <a:bodyPr anchor="t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600"/>
              </a:spcBef>
              <a:buNone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cxnSp>
        <p:nvCxnSpPr>
          <p:cNvPr id="7" name="Title Accent"/>
          <p:cNvCxnSpPr/>
          <p:nvPr/>
        </p:nvCxnSpPr>
        <p:spPr>
          <a:xfrm>
            <a:off x="822960" y="3703320"/>
            <a:ext cx="219456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94415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103120"/>
            <a:ext cx="10515600" cy="1371600"/>
          </a:xfrm>
        </p:spPr>
        <p:txBody>
          <a:bodyPr anchor="b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0"/>
              </a:spcBef>
              <a:buNone/>
              <a:defRPr sz="3200" kern="12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794760"/>
            <a:ext cx="10515600" cy="2194560"/>
          </a:xfrm>
        </p:spPr>
        <p:txBody>
          <a:bodyPr anchor="t" wrap="square" lIns="91440" tIns="91440" rIns="91440" bIns="91440">
            <a:normAutofit/>
          </a:bodyPr>
          <a:lstStyle>
            <a:lvl1pPr marL="0" indent="0" algn="l" defTabSz="457200" rtl="0" eaLnBrk="1" latinLnBrk="0" hangingPunct="1">
              <a:spcBef>
                <a:spcPts val="600"/>
              </a:spcBef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ection Accent"/>
          <p:cNvCxnSpPr/>
          <p:nvPr/>
        </p:nvCxnSpPr>
        <p:spPr>
          <a:xfrm>
            <a:off x="822960" y="3611880"/>
            <a:ext cx="219456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0" y="1600200"/>
            <a:ext cx="5394960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095" y="1600200"/>
            <a:ext cx="5394960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5394960" cy="4526280"/>
          </a:xfrm>
        </p:spPr>
        <p:txBody>
          <a:bodyPr anchor="t" wrap="square" lIns="91440" tIns="91440" rIns="91440" b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502920"/>
            <a:ext cx="11094415" cy="868680"/>
          </a:xfrm>
          <a:prstGeom prst="rect">
            <a:avLst/>
          </a:prstGeom>
        </p:spPr>
        <p:txBody>
          <a:bodyPr vert="horz" lIns="91440" tIns="91440" rIns="91440" bIns="91440" rtlCol="0" anchor="b" wrap="square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415" cy="4526280"/>
          </a:xfrm>
          <a:prstGeom prst="rect">
            <a:avLst/>
          </a:prstGeom>
        </p:spPr>
        <p:txBody>
          <a:bodyPr vert="horz" lIns="91440" tIns="91440" rIns="91440" bIns="91440" rtlCol="0" anchor="t" wrap="square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48640" y="6355080"/>
            <a:ext cx="8229600" cy="320040"/>
          </a:xfrm>
          <a:prstGeom prst="rect">
            <a:avLst/>
          </a:prstGeom>
        </p:spPr>
        <p:txBody>
          <a:bodyPr vert="horz" lIns="91440" tIns="91440" rIns="91440" bIns="91440" rtlCol="0" anchor="ctr" wrap="square"/>
          <a:lstStyle>
            <a:lvl1pPr marL="0" indent="0" algn="l" defTabSz="457200" rtl="0" eaLnBrk="1" latinLnBrk="0" hangingPunct="1">
              <a:spcBef>
                <a:spcPts val="0"/>
              </a:spcBef>
              <a:buNone/>
              <a:defRPr sz="1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45775" y="6355080"/>
            <a:ext cx="1097280" cy="320040"/>
          </a:xfrm>
          <a:prstGeom prst="rect">
            <a:avLst/>
          </a:prstGeom>
        </p:spPr>
        <p:txBody>
          <a:bodyPr vert="horz" lIns="91440" tIns="91440" rIns="91440" bIns="91440" rtlCol="0" anchor="ctr" wrap="square"/>
          <a:lstStyle>
            <a:lvl1pPr marL="0" indent="0" algn="r" defTabSz="457200" rtl="0" eaLnBrk="1" latinLnBrk="0" hangingPunct="1">
              <a:spcBef>
                <a:spcPts val="0"/>
              </a:spcBef>
              <a:buNone/>
              <a:defRPr sz="1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Title Rule"/>
          <p:cNvCxnSpPr/>
          <p:nvPr/>
        </p:nvCxnSpPr>
        <p:spPr>
          <a:xfrm>
            <a:off x="548640" y="1444752"/>
            <a:ext cx="11094415" cy="0"/>
          </a:xfrm>
          <a:prstGeom prst="line">
            <a:avLst/>
          </a:prstGeom>
          <a:ln w="9525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  <p:sldLayoutId id="2147483656" r:id="rId8"/>
  </p:sldLayoutIdLst>
  <p:txStyles>
    <p:titleStyle>
      <a:lvl1pPr marL="0" indent="0" algn="l" defTabSz="457200" rtl="0" eaLnBrk="1" latinLnBrk="0" hangingPunct="1">
        <a:spcBef>
          <a:spcPts val="0"/>
        </a:spcBef>
        <a:buNone/>
        <a:defRPr sz="2800" kern="1200" b="1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  <a:lvl1pPr marL="256032" indent="-256032" algn="l" defTabSz="457200" rtl="0" eaLnBrk="1" latinLnBrk="0" hangingPunct="1">
        <a:spcBef>
          <a:spcPts val="800"/>
        </a:spcBef>
        <a:buClr>
          <a:schemeClr val="accent1"/>
        </a:buClr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0352" indent="-274320" algn="l" defTabSz="457200" rtl="0" eaLnBrk="1" latinLnBrk="0" hangingPunct="1">
        <a:spcBef>
          <a:spcPts val="4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86384" indent="-256032" algn="l" defTabSz="457200" rtl="0" eaLnBrk="1" latinLnBrk="0" hangingPunct="1">
        <a:spcBef>
          <a:spcPts val="300"/>
        </a:spcBef>
        <a:buClr>
          <a:schemeClr val="accent1"/>
        </a:buClr>
        <a:buFont typeface="Arial"/>
        <a:buChar char="·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42415" indent="-256031" algn="l" defTabSz="457200" rtl="0" eaLnBrk="1" latinLnBrk="0" hangingPunct="1">
        <a:spcBef>
          <a:spcPts val="200"/>
        </a:spcBef>
        <a:buClr>
          <a:schemeClr val="accent1"/>
        </a:buClr>
        <a:buFont typeface="Arial"/>
        <a:buChar char="·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56033" algn="l" defTabSz="457200" rtl="0" eaLnBrk="1" latinLnBrk="0" hangingPunct="1">
        <a:spcBef>
          <a:spcPts val="200"/>
        </a:spcBef>
        <a:buClr>
          <a:schemeClr val="accent1"/>
        </a:buClr>
        <a:buFont typeface="Arial"/>
        <a:buChar char="·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cover|1201fdaa84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스마트 교통물류 — 오리엔테이션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2026학년도 2학기 · 가천대학교 스마트시티학과 · 학부 3학년 · 12주 과정</a:t>
            </a:r>
          </a:p>
          <a:p>
            <a:r>
              <a:t>여지호 · 가천대학교 스마트시티학과</a:t>
            </a:r>
          </a:p>
          <a:p>
            <a:r>
              <a:t>2026-09-01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#1|5e2a6e4d82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이 과목에서 만드는 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5394960" cy="4526280"/>
          </a:xfrm>
        </p:spPr>
        <p:txBody>
          <a:bodyPr/>
          <a:lstStyle/>
          <a:p>
            <a:pPr/>
            <a:r>
              <a:t>한 학기 동안 도시 모빌리티 시뮬레이터 한 대를 밑바닥부터 만듭니다.</a:t>
            </a:r>
          </a:p>
          <a:p>
            <a:pPr/>
            <a:r>
              <a:t>도로망을 읽어 최단경로를 구하고, 대중교통 시간표로 환승 경로를 찾고, 통행 수요를 만들어 차량에 배차하고, 그 결과를 지표와 그림으로 냅니다.</a:t>
            </a:r>
          </a:p>
          <a:p>
            <a:pPr/>
            <a:r>
              <a:t>마지막에는 각자 사는 동네의 대중교통을 시뮬레이션합니다.</a:t>
            </a:r>
          </a:p>
          <a:p>
            <a:pPr/>
            <a:r>
              <a:t>데이터 분석·최적화·머신러닝을 따로 배우지 않습니다. 시뮬레이터를 만드는 데 필요해진 지점에서 하나씩 다룹니다.</a:t>
            </a:r>
          </a:p>
        </p:txBody>
      </p:sp>
      <p:sp>
        <p:nvSpPr>
          <p:cNvPr id="100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02" name="Figure: ch01_framework.png" descr="ch0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4" y="1600200"/>
            <a:ext cx="5394960" cy="44467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2#1|cb1138e7c3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학습 목표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이 과목을 마치면 다음을 할 수 있습니다.</a:t>
            </a:r>
          </a:p>
          <a:p>
            <a:pPr/>
            <a:r>
              <a:t>OpenStreetMap 도로망과 GTFS 대중교통 시간표를 읽어 분석에 쓸 수 있는 형태로 만듭니다.</a:t>
            </a:r>
          </a:p>
          <a:p>
            <a:pPr/>
            <a:r>
              <a:t>최단경로 알고리즘(다익스트라, A*)과 대중교통 경로 탐색(RAPTOR)을 직접 구현하고, 실제 엔진과 대조해 정확도를 검증합니다.</a:t>
            </a:r>
          </a:p>
          <a:p>
            <a:pPr/>
            <a:r>
              <a:t>통행 수요를 생성하고, 승객과 차량을 배차하는 알고리즘을 비교합니다.</a:t>
            </a:r>
          </a:p>
          <a:p>
            <a:pPr/>
            <a:r>
              <a:t>이산시간 시뮬레이션 루프를 직접 짜고, 그 결과를 서비스율·대기시간·차량 가동률로 해석합니다.</a:t>
            </a:r>
          </a:p>
          <a:p>
            <a:pPr/>
            <a:r>
              <a:t>실제 지역을 대상으로 개선 시나리오를 설계하고, 시뮬레이션으로 그 효과를 숫자로 제시합니다.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3#1|c59b5b1a4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직접 짜는 것 셋, 가져다 쓰는 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세 가지는 라이브러리 없이 직접 짭니다. 최단경로(3주차, 약 90줄), 대중교통 경로 탐색 RAPTOR(5주차, 약 150줄), 시뮬레이션 루프(11주차, 약 150줄)입니다.</a:t>
            </a:r>
          </a:p>
          <a:p>
            <a:pPr lvl="1"/>
            <a:r>
              <a:t>셋 다 짧고, 짜 보지 않으면 안에서 무슨 일이 일어나는지 알 수 없습니다.</a:t>
            </a:r>
          </a:p>
          <a:p>
            <a:pPr/>
            <a:r>
              <a:t>나머지는 완성된 코드를 읽고 인자를 바꿔 가며 실험합니다. 수요 생성기와 배차 알고리즘이 여기에 속합니다.</a:t>
            </a:r>
          </a:p>
          <a:p>
            <a:pPr/>
            <a:r>
              <a:t>무거운 계산은 DTUMOS 엔진에 HTTP로 맡깁니다. 엔진 내부는 Rust로 되어 있지만, 이 과목에서 Rust를 다루지는 않습니다.</a:t>
            </a:r>
          </a:p>
          <a:p>
            <a:pPr/>
            <a:r>
              <a:t>직접 짠 코드는 항상 기준과 대조합니다. 다익스트라는 NetworkX와, RAPTOR는 실제 엔진과 맞춰 봅니다.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4#1|6cb6f67358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12주 흐름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548640" y="1600200"/>
          <a:ext cx="11094413" cy="3490214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36674"/>
                <a:gridCol w="2484501"/>
                <a:gridCol w="1174168"/>
                <a:gridCol w="2616719"/>
                <a:gridCol w="3682351"/>
              </a:tblGrid>
              <a:tr h="268478">
                <a:tc>
                  <a:txBody>
                    <a:bodyPr wrap="square"/>
                    <a:lstStyle/>
                    <a:p>
                      <a:pPr algn="ctr"/>
                      <a:r>
                        <a:rPr sz="1000" b="1"/>
                        <a:t>주차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/>
                        <a:t>날짜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/>
                        <a:t>교재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/>
                        <a:t>주제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/>
                        <a:t>그 주에 만드는 것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1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09-01 / 09-02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0장, 1장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환경 준비와 시뮬레이션 개요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첫 시뮬레이션 실행, 결과 읽기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2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09-08 / 09-09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2장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도로망 데이터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OSM 도로망 → 인접 리스트, 통행수단 필터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3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09-15 / 09-16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밑바닥부터 최단경로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 b="1"/>
                        <a:t>다익스트라·A\* 직접 구현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4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09-22 / 09-23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4장, 5장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시간대별 속도 · GTFS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혼잡 반영 경로, GTFS 읽기·필터링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5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09-29 / 09-30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6장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밑바닥부터 RAPTOR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 b="1"/>
                        <a:t>대중교통 경로 탐색 직접 구현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6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10-06 / 10-07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7장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환승·요금과 대중교통 지표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통합환승요금 계산, 실제 엔진과 대조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7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10-13 / 10-14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8장, 12장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통행 수요와 결과 읽기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수요 생성, 지표 계산과 시각화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8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10-20 / 10-21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 b="1"/>
                        <a:t>휴강</a:t>
                      </a:r>
                      <a:r>
                        <a:rPr sz="1000"/>
                        <a:t> (강릉세계총회)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온라인 과제 — 프로젝트 대상지 확정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9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 b="1"/>
                        <a:t>10-27 중간시험</a:t>
                      </a:r>
                      <a:r>
                        <a:rPr sz="1000"/>
                        <a:t> / 10-28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중간시험 및 해설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프로젝트 중간 점검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10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11-03 / 11-04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9장, 10장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통행시간 예측과 배차 최적화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ETA 모델, 할당 문제, 물류 배송 최적화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11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11-10 / 11-11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11장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이산시간 시뮬레이션 루프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 b="1"/>
                        <a:t>시뮬레이션 루프 직접 구현</a:t>
                      </a:r>
                    </a:p>
                  </a:txBody>
                  <a:tcPr marL="54864" marR="54864" marT="27432" marB="27432"/>
                </a:tc>
              </a:tr>
              <a:tr h="268478">
                <a:tc>
                  <a:txBody>
                    <a:bodyPr wrap="square"/>
                    <a:lstStyle/>
                    <a:p>
                      <a:pPr algn="r"/>
                      <a:r>
                        <a:rPr sz="1000"/>
                        <a:t>12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 b="1"/>
                        <a:t>11-17 종강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기말 프로젝트 발표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개인 프로젝트 제출·발표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5#1|6f23aca92f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수업 방식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화요일에 개념과 코드를 함께 보고, 수요일에 직접 짜고 돌립니다. 노트북을 매 시간 가져옵니다.</a:t>
            </a:r>
          </a:p>
          <a:p>
            <a:pPr/>
            <a:r>
              <a:t>LLM을 수업 중에도 씁니다. ChatGPT, Claude, Gemini 등의 구독을 권장합니다.</a:t>
            </a:r>
          </a:p>
          <a:p>
            <a:pPr lvl="1"/>
            <a:r>
              <a:t>나온 코드를 이해하고, 실행되지 않을 때 어디서 막혔는지 짚고 고칠 수 있어야 합니다. 중간시험 코딩테스트에서도 쓸 수 있습니다.</a:t>
            </a:r>
          </a:p>
          <a:p>
            <a:pPr/>
            <a:r>
              <a:t>"돌아간다"와 "맞다"는 다릅니다. 직접 짠 코드는 항상 기준과 대조합니다. 이 습관이 이 과목에서 가장 오래 남는 것입니다.</a:t>
            </a:r>
          </a:p>
          <a:p>
            <a:pPr/>
            <a:r>
              <a:t>8주차(10-20, 10-21)는 강릉세계총회 참석으로 휴강합니다. 온라인 과제로 대체하고, 필요하면 보강기간(11-24~11-25)을 씁니다.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6#1|29927a16e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평가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548640" y="1600200"/>
          <a:ext cx="11094413" cy="165989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476523"/>
                <a:gridCol w="1141547"/>
                <a:gridCol w="7476343"/>
              </a:tblGrid>
              <a:tr h="331978"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항목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비중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비고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중간시험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/>
                        <a:t>30%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10-27(화) · 범위 교재 0~8장, 12장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기말 개인 프로젝트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/>
                        <a:t>40%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내가 사는 동네의 대중교통 시뮬레이션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과제 및 참여도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/>
                        <a:t>20%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HW1~HW3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출결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/>
                        <a:t>10%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결석 1점/회 감점(1회까지 미차감), 지각 0.5점(2회까지 미차감)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  <p:sp>
        <p:nvSpPr>
          <p:cNvPr id="103" name="Text"/>
          <p:cNvSpPr txBox="1"/>
          <p:nvPr/>
        </p:nvSpPr>
        <p:spPr>
          <a:xfrm>
            <a:off x="548640" y="3442970"/>
            <a:ext cx="11094415" cy="26835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중간시험은 단답형(closed-book, 40%)과 코딩테스트(open-book, 60%)입니다. 코딩테스트는 사이버캠퍼스로 출제하고, LLM을 쓸 수 있습니다.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코딩테스트는 외운 것을 묻지 않습니다. 주어진 데이터에서 답을 뽑아내는 과정을 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7#1|bf456bdccc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기말 개인 프로젝트 — 내가 사는 동네의 대중교통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Text"/>
          <p:cNvSpPr txBox="1"/>
          <p:nvPr/>
        </p:nvSpPr>
        <p:spPr>
          <a:xfrm>
            <a:off x="548640" y="1600200"/>
            <a:ext cx="11094415" cy="13347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각자 사는 동네를 골라 대중교통을 시뮬레이션하고, 개선 시나리오 하나의 효과를 숫자로 제시합니다. 6주차에 시작해 12주차에 발표합니다.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평가 100점: 데이터 준비 20 · 경로 탐색 정확도 20 · 시나리오 설계 20 · 지표 해석 25 · 발표와 재현성 15</a:t>
            </a:r>
          </a:p>
        </p:txBody>
      </p:sp>
      <p:graphicFrame>
        <p:nvGraphicFramePr>
          <p:cNvPr id="103" name="Table"/>
          <p:cNvGraphicFramePr>
            <a:graphicFrameLocks noGrp="1"/>
          </p:cNvGraphicFramePr>
          <p:nvPr/>
        </p:nvGraphicFramePr>
        <p:xfrm>
          <a:off x="548640" y="3026410"/>
          <a:ext cx="11094414" cy="199186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717693"/>
                <a:gridCol w="9376721"/>
              </a:tblGrid>
              <a:tr h="331978"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시점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산출물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6주차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대상지 선정, 경계 GeoJSON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8주차 (HW3)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필터링한 GTFS, 정류장·노선 수, </a:t>
                      </a:r>
                      <a:r>
                        <a:rPr sz="1400"/>
                        <a:t>route_type</a:t>
                      </a:r>
                      <a:r>
                        <a:rPr sz="1400"/>
                        <a:t> 분포표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9주차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수요 데이터와 시간대별 프로파일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11주차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자기 RAPTOR로 O-D 100건 질의, 실제 엔진과 대조표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12주차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개선 시나리오 1개(배차간격 단축 / 노선 신설 / 정류장 이설)의 before-after, 발표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8#1|eecfd1af87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과제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548640" y="1600200"/>
          <a:ext cx="11094414" cy="165989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974124"/>
                <a:gridCol w="2321029"/>
                <a:gridCol w="6799261"/>
              </a:tblGrid>
              <a:tr h="331978"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과제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마감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/>
                        <a:t>내용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HW1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3주차 (09-15)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교재 2장 연습문제 — 하남시 도로망 통계와 스냅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HW2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6주차 (10-06)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자기가 짠 RAPTOR를 레퍼런스와 대조하고 차이를 설명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HW3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9주차 (10-27)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프로젝트 대상지 GTFS 필터링 결과 (8주차 휴강 대체)</a:t>
                      </a:r>
                    </a:p>
                  </a:txBody>
                  <a:tcPr marL="54864" marR="54864" marT="27432" marB="27432"/>
                </a:tc>
              </a:tr>
              <a:tr h="331978">
                <a:tc>
                  <a:txBody>
                    <a:bodyPr wrap="square"/>
                    <a:lstStyle/>
                    <a:p>
                      <a:r>
                        <a:rPr sz="1400"/>
                        <a:t>기말 프로젝트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12주차 (11-17)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내가 사는 동네의 대중교통 시뮬레이션 (개인)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  <p:sp>
        <p:nvSpPr>
          <p:cNvPr id="103" name="Text"/>
          <p:cNvSpPr txBox="1"/>
          <p:nvPr/>
        </p:nvSpPr>
        <p:spPr>
          <a:xfrm>
            <a:off x="548640" y="3442970"/>
            <a:ext cx="11094415" cy="26835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과제는 모두 "돌아가는 코드"가 아니라 "기준과 대조한 결과"를 냅니다. 무엇과 비교했고 어디가 달랐는지를 씁니다.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9#1|580dad1d0c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실습 환경 — 설치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2" name="Text"/>
          <p:cNvSpPr txBox="1"/>
          <p:nvPr/>
        </p:nvSpPr>
        <p:spPr>
          <a:xfrm>
            <a:off x="548640" y="1600200"/>
            <a:ext cx="11094415" cy="6616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Python 3.11을 씁니다. 교재 저장소를 받고 의존성을 설치하면 끝납니다.</a:t>
            </a:r>
          </a:p>
        </p:txBody>
      </p:sp>
      <p:sp>
        <p:nvSpPr>
          <p:cNvPr id="103" name="Code"/>
          <p:cNvSpPr/>
          <p:nvPr/>
        </p:nvSpPr>
        <p:spPr>
          <a:xfrm>
            <a:off x="548640" y="2353310"/>
            <a:ext cx="11094415" cy="937259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git clone https://github.com/jihoyeo/mobility-simulation-book.git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cd mobility-simulation-book</a:t>
            </a:r>
          </a:p>
          <a:p>
            <a:pPr algn="l"/>
            <a:r>
              <a:rPr sz="1200">
                <a:solidFill>
                  <a:srgbClr val="1F2937"/>
                </a:solidFill>
                <a:latin typeface="Consolas"/>
              </a:rPr>
              <a:t>pip install -r requirements.txt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548640" y="3473450"/>
            <a:ext cx="11094415" cy="26530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>
                <a:latin typeface="Consolas"/>
              </a:rPr>
              <a:t>requirements.txt</a:t>
            </a:r>
            <a:r>
              <a:rPr sz="1800"/>
              <a:t>는 버전을 전부 고정해 두었습니다. 같은 버전이면 같은 그림이 나옵니다.</a:t>
            </a:r>
          </a:p>
          <a:p>
            <a:pPr marL="256032" indent="-256032">
              <a:spcBef>
                <a:spcPts val="800"/>
              </a:spcBef>
              <a:buClr>
                <a:schemeClr val="accent1"/>
              </a:buClr>
              <a:buFont typeface="Arial"/>
              <a:buChar char="•"/>
            </a:pPr>
            <a:r>
              <a:rPr sz="1800"/>
              <a:t>설치가 끝났는지는 </a:t>
            </a:r>
            <a:r>
              <a:rPr sz="1800">
                <a:latin typeface="Consolas"/>
              </a:rPr>
              <a:t>from smartmob import Dtumos</a:t>
            </a:r>
            <a:r>
              <a:rPr sz="1800"/>
              <a:t> 한 줄로 확인합니다.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9-2#1|917e075a50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실습 환경 — 엔진과 코랩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시뮬레이션 엔진은 강의용 공용 서버를 씁니다. 서버에 붙지 못해도 교재에 녹화된 실행 결과로 모든 코드가 돌아가므로, 집에서 복습할 때 설치할 것이 따로 없습니다.</a:t>
            </a:r>
          </a:p>
          <a:p>
            <a:pPr/>
            <a:r>
              <a:t>엔진 내부를 직접 열어 보는 실습은 각자 노트북에서 Docker로 돌립니다. 사전 빌드 이미지를 배포합니다.</a:t>
            </a:r>
          </a:p>
          <a:p>
            <a:pPr/>
            <a:r>
              <a:t>구글 코랩도 됩니다. 각 장의 Colab 배지를 누르고 첫 셀에서 </a:t>
            </a:r>
            <a:r>
              <a:rPr>
                <a:latin typeface="Consolas"/>
              </a:rPr>
              <a:t>smartmob.colab.bootstrap()</a:t>
            </a:r>
            <a:r>
              <a:t>을 실행합니다.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0#1|51aa5c7a5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교재와 참고 자료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주교재: </a:t>
            </a:r>
            <a:r>
              <a:rPr i="1"/>
              <a:t>Urban Mobility Simulation — Digital Twin for Urban Mobility Systems</a:t>
            </a:r>
            <a:r>
              <a:t> (jihoyeo.github.io/mobility-simulation-book). 학기 중 계속 고쳐지므로 웹으로 읽는 것이 항상 최신본입니다. 코드는 같은 이름의 GitHub 저장소에 있습니다.</a:t>
            </a:r>
          </a:p>
          <a:p>
            <a:pPr/>
            <a:r>
              <a:t>부교재: 『핸즈온 머신러닝 3판』(10주차 ETA 예측 모델의 배경), Google OR-Tools 문서(10주차 배차·물류 최적화 실습).</a:t>
            </a:r>
          </a:p>
          <a:p>
            <a:pPr/>
            <a:r>
              <a:t>참고 문헌은 해당 주차에 다시 안내합니다.</a:t>
            </a:r>
          </a:p>
          <a:p>
            <a:pPr lvl="1"/>
            <a:r>
              <a:t>Boeing (2017) OSMnx — 2주차 · Delling, Pajor &amp; Werneck (2015) RAPTOR 원논문 — 5~6주차</a:t>
            </a:r>
          </a:p>
          <a:p>
            <a:pPr lvl="1"/>
            <a:r>
              <a:t>Kuhn (1955) 헝가리안 방법 — 10주차 · Alonso-Mora et al. (2017) 라이드셰어링 배차 — 10~11주차 · Lopez et al. (2018) SUMO — 1주차 비교 대상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1#1|db99784ad8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운영 정보</a:t>
            </a:r>
          </a:p>
        </p:txBody>
      </p:sp>
      <p:sp>
        <p:nvSpPr>
          <p:cNvPr id="10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548640" y="1600200"/>
          <a:ext cx="11094414" cy="30022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17664"/>
                <a:gridCol w="9476750"/>
              </a:tblGrid>
              <a:tr h="300228">
                <a:tc>
                  <a:txBody>
                    <a:bodyPr wrap="square"/>
                    <a:lstStyle/>
                    <a:p>
                      <a:pPr algn="ctr"/>
                      <a:r>
                        <a:rPr sz="1200" b="1"/>
                        <a:t>항목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/>
                        <a:t>내용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강의 시간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화 13:00–14:50 / 수 15:00–16:50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강의실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AI공학관 210호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수업 방식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대면수업 원칙 (보강은 비대면 활용)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오피스 아워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수 17:00–20:00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담당 교수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여지호 · jihoyeo@gachon.ac.kr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조교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개강 후 공지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미팅 링크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gachon.webex.com/meet/jihoyeo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소통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카카오톡 단톡방 · 이메일</a:t>
                      </a:r>
                    </a:p>
                  </a:txBody>
                  <a:tcPr marL="54864" marR="54864" marT="27432" marB="27432"/>
                </a:tc>
              </a:tr>
              <a:tr h="300228">
                <a:tc>
                  <a:txBody>
                    <a:bodyPr wrap="square"/>
                    <a:lstStyle/>
                    <a:p>
                      <a:r>
                        <a:rPr sz="1200"/>
                        <a:t>학생 상담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학기 중 1인 1회, 화·수 수업 직후. 불가능한 날짜와 시간을 상담일정 시트에 적어 주세요</a:t>
                      </a:r>
                    </a:p>
                  </a:txBody>
                  <a:tcPr marL="54864" marR="54864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2#1|2b5841fef1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종강 이후 — P-실무프로젝트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11-24(화)부터 12-10(목)까지 평일 10:00–12:00, 210호. 최종발표는 12-11(금) 10:00–12:00입니다.</a:t>
            </a:r>
          </a:p>
          <a:p>
            <a:pPr/>
            <a:r>
              <a:t>가천대 글로벌캠퍼스 셔틀버스 노선을 설계하고 최적화합니다. 정규 수업에서 만든 시뮬레이터를 그대로 씁니다.</a:t>
            </a:r>
          </a:p>
          <a:p>
            <a:pPr/>
            <a:r>
              <a:t>정해진 노선(고정 시간표)과 수요응답 방식을 같은 수요 위에서 비교하고, 차량 대수·배차간격·정원을 바꿔 가며 파레토 프론트를 그립니다.</a:t>
            </a:r>
          </a:p>
          <a:p>
            <a:pPr/>
            <a:r>
              <a:t>저장소: github.com/jihoyeo/p-practical-project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d:13#1|3ce96930c8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오늘 할 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t>거주지 설문에 응답합니다. 도로망까지 준비된 도시는 하남·성남·서울·수원 넷뿐이라, 설문 상위 10개 시군구를 미리 준비해 두고 기말 프로젝트 대상지를 그 메뉴에서 고릅니다.</a:t>
            </a:r>
          </a:p>
          <a:p>
            <a:pPr>
              <a:buFont typeface="+mj-lt"/>
              <a:buAutoNum type="arabicPeriod"/>
            </a:pPr>
            <a:r>
              <a:t>카카오톡 단톡방에 들어옵니다.</a:t>
            </a:r>
          </a:p>
          <a:p>
            <a:pPr>
              <a:buFont typeface="+mj-lt"/>
              <a:buAutoNum type="arabicPeriod"/>
            </a:pPr>
            <a:r>
              <a:t>수요일 수업 전까지 Python 3.11과 교재 저장소를 설치합니다. </a:t>
            </a:r>
            <a:r>
              <a:rPr>
                <a:latin typeface="Consolas"/>
              </a:rPr>
              <a:t>from smartmob import Dtumos</a:t>
            </a:r>
            <a:r>
              <a:t>가 되면 끝입니다.</a:t>
            </a:r>
          </a:p>
          <a:p>
            <a:pPr>
              <a:buFont typeface="+mj-lt"/>
              <a:buAutoNum type="arabicPeriod"/>
            </a:pPr>
            <a:r>
              <a:t>상담일정 시트에 상담이 불가능한 날짜와 시간을 적습니다.</a:t>
            </a:r>
          </a:p>
          <a:p>
            <a:pPr/>
            <a:r>
              <a:t>다음 시간(수 15:00, 210호): 하남시 도로망을 읽고 첫 시뮬레이션을 돌립니다. 노트북을 가져옵니다.</a:t>
            </a:r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48640" y="6355080"/>
            <a:ext cx="8229600" cy="320040"/>
          </a:xfrm>
        </p:spPr>
        <p:txBody>
          <a:bodyPr/>
          <a:lstStyle/>
          <a:p>
            <a:r>
              <a:t>스마트 교통물류 2026-2 · 오리엔테이션</a:t>
            </a:r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45775" y="6355080"/>
            <a:ext cx="109728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cademic">
      <a:dk1>
        <a:srgbClr val="1F2937"/>
      </a:dk1>
      <a:lt1>
        <a:srgbClr val="FFFFFF"/>
      </a:lt1>
      <a:dk2>
        <a:srgbClr val="1F3A5F"/>
      </a:dk2>
      <a:lt2>
        <a:srgbClr val="F3F4F6"/>
      </a:lt2>
      <a:accent1>
        <a:srgbClr val="2F5C8F"/>
      </a:accent1>
      <a:accent2>
        <a:srgbClr val="C2410C"/>
      </a:accent2>
      <a:accent3>
        <a:srgbClr val="3F8F6B"/>
      </a:accent3>
      <a:accent4>
        <a:srgbClr val="8C6D3F"/>
      </a:accent4>
      <a:accent5>
        <a:srgbClr val="6B7280"/>
      </a:accent5>
      <a:accent6>
        <a:srgbClr val="A23B3B"/>
      </a:accent6>
      <a:hlink>
        <a:srgbClr val="2F5C8F"/>
      </a:hlink>
      <a:folHlink>
        <a:srgbClr val="6B7280"/>
      </a:folHlink>
    </a:clrScheme>
    <a:fontScheme name="Academic">
      <a:majorFont>
        <a:latin typeface="Pretendard"/>
        <a:ea typeface="Pretendard"/>
        <a:cs typeface=""/>
        <a:font script="Hang" typeface="Pretendard"/>
        <a:font script="Jpan" typeface="Pretendard"/>
        <a:font script="Hans" typeface="Pretendard"/>
        <a:font script="Hant" typeface="Pretendard"/>
      </a:majorFont>
      <a:minorFont>
        <a:latin typeface="Pretendard"/>
        <a:ea typeface="Pretendard"/>
        <a:cs typeface=""/>
        <a:font script="Hang" typeface="Pretendard"/>
        <a:font script="Jpan" typeface="Pretendard"/>
        <a:font script="Hans" typeface="Pretendard"/>
        <a:font script="Hant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