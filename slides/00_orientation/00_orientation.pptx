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4" d="100"/>
          <a:sy n="114" d="100"/>
        </p:scale>
        <p:origin x="5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93016-817A-204A-86F5-3FEED79E8F95}" type="datetimeFigureOut">
              <a:rPr kumimoji="1" lang="ko-KR" altLang="en-US" smtClean="0"/>
              <a:t>2026. 9. 8.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AA2F9-9555-CF45-A89A-4C8A368D5BF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5955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오리엔테이션 뒤 남는 시간에 1주차 화요일 분(교재 1장 「왜 시뮬레이션인가」)을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828800"/>
            <a:ext cx="10515600" cy="1737360"/>
          </a:xfrm>
        </p:spPr>
        <p:txBody>
          <a:bodyPr wrap="square" lIns="91440" tIns="91440" rIns="91440" bIns="91440" anchor="b">
            <a:norm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buNone/>
              <a:defRPr sz="3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886200"/>
            <a:ext cx="10515600" cy="1737360"/>
          </a:xfrm>
        </p:spPr>
        <p:txBody>
          <a:bodyPr wrap="square" lIns="91440" tIns="91440" rIns="91440" bIns="91440" anchor="t">
            <a:normAutofit/>
          </a:bodyPr>
          <a:lstStyle>
            <a:lvl1pPr marL="0" indent="0" algn="l" defTabSz="457200" rtl="0" eaLnBrk="1" latinLnBrk="0" hangingPunct="1">
              <a:spcBef>
                <a:spcPts val="600"/>
              </a:spcBef>
              <a:buNone/>
              <a:defRPr sz="18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7" name="Title Accent"/>
          <p:cNvCxnSpPr/>
          <p:nvPr/>
        </p:nvCxnSpPr>
        <p:spPr>
          <a:xfrm>
            <a:off x="822960" y="3703320"/>
            <a:ext cx="21945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686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94415" cy="4526280"/>
          </a:xfrm>
        </p:spPr>
        <p:txBody>
          <a:bodyPr wrap="square" lIns="91440" tIns="91440" rIns="91440" bIns="9144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103120"/>
            <a:ext cx="10515600" cy="1371600"/>
          </a:xfrm>
        </p:spPr>
        <p:txBody>
          <a:bodyPr wrap="square" lIns="91440" tIns="91440" rIns="91440" bIns="91440" anchor="b">
            <a:norm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buNone/>
              <a:defRPr sz="3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794760"/>
            <a:ext cx="10515600" cy="2194560"/>
          </a:xfrm>
        </p:spPr>
        <p:txBody>
          <a:bodyPr wrap="square" lIns="91440" tIns="91440" rIns="91440" bIns="91440" anchor="t">
            <a:normAutofit/>
          </a:bodyPr>
          <a:lstStyle>
            <a:lvl1pPr marL="0" indent="0" algn="l" defTabSz="457200" rtl="0" eaLnBrk="1" latinLnBrk="0" hangingPunct="1">
              <a:spcBef>
                <a:spcPts val="600"/>
              </a:spcBef>
              <a:buNone/>
              <a:defRPr sz="16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ection Accent"/>
          <p:cNvCxnSpPr/>
          <p:nvPr/>
        </p:nvCxnSpPr>
        <p:spPr>
          <a:xfrm>
            <a:off x="822960" y="3611880"/>
            <a:ext cx="2194560" cy="0"/>
          </a:xfrm>
          <a:prstGeom prst="line">
            <a:avLst/>
          </a:prstGeom>
          <a:ln w="28575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686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600200"/>
            <a:ext cx="5394960" cy="4526280"/>
          </a:xfrm>
        </p:spPr>
        <p:txBody>
          <a:bodyPr wrap="square" lIns="91440" tIns="91440" rIns="91440" bIns="9144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095" y="1600200"/>
            <a:ext cx="5394960" cy="4526280"/>
          </a:xfrm>
        </p:spPr>
        <p:txBody>
          <a:bodyPr wrap="square" lIns="91440" tIns="91440" rIns="91440" bIns="9144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686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6868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5394960" cy="4526280"/>
          </a:xfrm>
        </p:spPr>
        <p:txBody>
          <a:bodyPr wrap="square" lIns="91440" tIns="91440" rIns="91440" bIns="9144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02920"/>
            <a:ext cx="11094415" cy="868680"/>
          </a:xfrm>
          <a:prstGeom prst="rect">
            <a:avLst/>
          </a:prstGeom>
        </p:spPr>
        <p:txBody>
          <a:bodyPr vert="horz" wrap="square" lIns="91440" tIns="91440" rIns="91440" bIns="9144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415" cy="4526280"/>
          </a:xfrm>
          <a:prstGeom prst="rect">
            <a:avLst/>
          </a:prstGeom>
        </p:spPr>
        <p:txBody>
          <a:bodyPr vert="horz" wrap="square" lIns="91440" tIns="91440" rIns="91440" bIns="9144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48640" y="6355080"/>
            <a:ext cx="8229600" cy="320040"/>
          </a:xfrm>
          <a:prstGeom prst="rect">
            <a:avLst/>
          </a:prstGeom>
        </p:spPr>
        <p:txBody>
          <a:bodyPr vert="horz" wrap="square" lIns="91440" tIns="91440" rIns="91440" bIns="91440" rtlCol="0" anchor="ctr"/>
          <a:lstStyle>
            <a:lvl1pPr marL="0" indent="0" algn="l" defTabSz="457200" rtl="0" eaLnBrk="1" latinLnBrk="0" hangingPunct="1">
              <a:spcBef>
                <a:spcPts val="0"/>
              </a:spcBef>
              <a:buNone/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45775" y="6355080"/>
            <a:ext cx="1097280" cy="320040"/>
          </a:xfrm>
          <a:prstGeom prst="rect">
            <a:avLst/>
          </a:prstGeom>
        </p:spPr>
        <p:txBody>
          <a:bodyPr vert="horz" wrap="square" lIns="91440" tIns="91440" rIns="91440" bIns="91440" rtlCol="0" anchor="ctr"/>
          <a:lstStyle>
            <a:lvl1pPr marL="0" indent="0" algn="r" defTabSz="457200" rtl="0" eaLnBrk="1" latinLnBrk="0" hangingPunct="1">
              <a:spcBef>
                <a:spcPts val="0"/>
              </a:spcBef>
              <a:buNone/>
              <a:defRPr sz="1000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Title Rule"/>
          <p:cNvCxnSpPr/>
          <p:nvPr/>
        </p:nvCxnSpPr>
        <p:spPr>
          <a:xfrm>
            <a:off x="548640" y="1444752"/>
            <a:ext cx="11094415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</p:sldLayoutIdLst>
  <p:txStyles>
    <p:titleStyle>
      <a:lvl1pPr marL="0" indent="0" algn="l" defTabSz="457200" rtl="0" eaLnBrk="1" latinLnBrk="0" hangingPunct="1">
        <a:spcBef>
          <a:spcPts val="0"/>
        </a:spcBef>
        <a:buNone/>
        <a:defRPr sz="2800" b="1" kern="120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cover|1201fdaa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스마트 교통물류 — 오리엔테이션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2026학년도 2학기 · 가천대학교 스마트시티학과 · 학부 3학년 · 12주 과정</a:t>
            </a:r>
          </a:p>
          <a:p>
            <a:r>
              <a:t>여지호 · 가천대학교 스마트시티학과</a:t>
            </a:r>
          </a:p>
          <a:p>
            <a:r>
              <a:t>2026-09-01 (화)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#1|5e2a6e4d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이 과목에서 만드는 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5394960" cy="4526280"/>
          </a:xfrm>
        </p:spPr>
        <p:txBody>
          <a:bodyPr>
            <a:normAutofit/>
          </a:bodyPr>
          <a:lstStyle/>
          <a:p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학기</a:t>
            </a:r>
            <a:r>
              <a:rPr dirty="0"/>
              <a:t> </a:t>
            </a:r>
            <a:r>
              <a:rPr dirty="0" err="1"/>
              <a:t>동안</a:t>
            </a:r>
            <a:r>
              <a:rPr dirty="0"/>
              <a:t> </a:t>
            </a:r>
            <a:r>
              <a:rPr dirty="0" err="1"/>
              <a:t>도시</a:t>
            </a:r>
            <a:r>
              <a:rPr dirty="0"/>
              <a:t> </a:t>
            </a:r>
            <a:r>
              <a:rPr dirty="0" err="1"/>
              <a:t>모빌리티</a:t>
            </a:r>
            <a:r>
              <a:rPr dirty="0"/>
              <a:t> </a:t>
            </a:r>
            <a:r>
              <a:rPr dirty="0" err="1"/>
              <a:t>시뮬레이터</a:t>
            </a:r>
            <a:r>
              <a:rPr dirty="0"/>
              <a:t> </a:t>
            </a:r>
            <a:r>
              <a:rPr dirty="0" err="1"/>
              <a:t>한</a:t>
            </a:r>
            <a:r>
              <a:rPr dirty="0"/>
              <a:t> </a:t>
            </a:r>
            <a:r>
              <a:rPr dirty="0" err="1"/>
              <a:t>대를</a:t>
            </a:r>
            <a:r>
              <a:rPr dirty="0"/>
              <a:t> </a:t>
            </a:r>
            <a:r>
              <a:rPr dirty="0" err="1"/>
              <a:t>밑바닥부터</a:t>
            </a:r>
            <a:r>
              <a:rPr dirty="0"/>
              <a:t> </a:t>
            </a:r>
            <a:r>
              <a:rPr dirty="0" err="1"/>
              <a:t>만듭니다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lang="ko-KR" altLang="en-US" dirty="0"/>
              <a:t>시뮬레이션의 </a:t>
            </a:r>
            <a:r>
              <a:rPr lang="ko-KR" altLang="en-US" dirty="0" err="1"/>
              <a:t>기초인프라를</a:t>
            </a:r>
            <a:r>
              <a:rPr lang="ko-KR" altLang="en-US" dirty="0"/>
              <a:t> 구성하는 </a:t>
            </a:r>
            <a:r>
              <a:rPr dirty="0" err="1"/>
              <a:t>도로망</a:t>
            </a:r>
            <a:r>
              <a:rPr lang="en-US" altLang="ko-KR" dirty="0"/>
              <a:t>,</a:t>
            </a:r>
            <a:r>
              <a:rPr lang="ko-KR" altLang="en-US" dirty="0"/>
              <a:t> 대중교통망</a:t>
            </a:r>
            <a:r>
              <a:rPr lang="en-US" altLang="ko-KR" dirty="0"/>
              <a:t>,</a:t>
            </a:r>
            <a:r>
              <a:rPr lang="ko-KR" altLang="en-US" dirty="0"/>
              <a:t> 통행수요를 생성하는 과정을 먼저 진행합니다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기초 데이터를 구축한 후에는</a:t>
            </a:r>
            <a:r>
              <a:rPr lang="en-US" altLang="ko-KR" dirty="0"/>
              <a:t>,</a:t>
            </a:r>
            <a:r>
              <a:rPr lang="ko-KR" altLang="en-US" dirty="0"/>
              <a:t> 시뮬레이션 구동에 필요한 핵심적인 알고리즘과 모델들을 공부합니다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ko-KR" altLang="en-US" dirty="0" err="1"/>
              <a:t>차량배차</a:t>
            </a:r>
            <a:r>
              <a:rPr lang="ko-KR" altLang="en-US" dirty="0"/>
              <a:t> 알고리즘</a:t>
            </a:r>
            <a:r>
              <a:rPr lang="en-US" altLang="ko-KR" dirty="0"/>
              <a:t>.</a:t>
            </a:r>
            <a:r>
              <a:rPr lang="ko-KR" altLang="en-US" dirty="0"/>
              <a:t> 재배치 알고리즘</a:t>
            </a:r>
            <a:r>
              <a:rPr lang="en-US" altLang="ko-KR" dirty="0"/>
              <a:t>,</a:t>
            </a:r>
            <a:r>
              <a:rPr lang="ko-KR" altLang="en-US" dirty="0"/>
              <a:t> 차량 경로 생성에 대해 공부합니다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dirty="0"/>
          </a:p>
          <a:p>
            <a:r>
              <a:rPr dirty="0"/>
              <a:t>마지막에는 가천대학교 교내셔틀인 무당이를 직접 구축해보고 개선해보는 개인 프로젝트를 수행합니다.</a:t>
            </a:r>
            <a:endParaRPr dirty="0"/>
          </a:p>
        </p:txBody>
      </p:sp>
      <p:sp>
        <p:nvSpPr>
          <p:cNvPr id="10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오리엔테이션</a:t>
            </a:r>
          </a:p>
        </p:txBody>
      </p:sp>
      <p:sp>
        <p:nvSpPr>
          <p:cNvPr id="10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102" name="Figure: ch01_framework.png" descr="ch01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4" y="1600200"/>
            <a:ext cx="5394960" cy="44467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2#1|cb1138e7c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학습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이</a:t>
            </a:r>
            <a:r>
              <a:rPr dirty="0"/>
              <a:t> </a:t>
            </a:r>
            <a:r>
              <a:rPr dirty="0" err="1"/>
              <a:t>과목을</a:t>
            </a:r>
            <a:r>
              <a:rPr dirty="0"/>
              <a:t> </a:t>
            </a:r>
            <a:r>
              <a:rPr dirty="0" err="1"/>
              <a:t>마치면</a:t>
            </a:r>
            <a:r>
              <a:rPr dirty="0"/>
              <a:t> </a:t>
            </a:r>
            <a:r>
              <a:rPr dirty="0" err="1"/>
              <a:t>다음을</a:t>
            </a:r>
            <a:r>
              <a:rPr dirty="0"/>
              <a:t> </a:t>
            </a:r>
            <a:r>
              <a:rPr dirty="0" err="1"/>
              <a:t>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  <a:r>
              <a:rPr lang="ko-KR" altLang="en-US" dirty="0"/>
              <a:t> </a:t>
            </a:r>
            <a:r>
              <a:rPr dirty="0"/>
              <a:t>OpenStreetMap </a:t>
            </a:r>
            <a:r>
              <a:rPr dirty="0" err="1"/>
              <a:t>도로망과</a:t>
            </a:r>
            <a:r>
              <a:rPr dirty="0"/>
              <a:t> GTFS </a:t>
            </a:r>
            <a:r>
              <a:rPr dirty="0" err="1"/>
              <a:t>대중교통</a:t>
            </a:r>
            <a:r>
              <a:rPr dirty="0"/>
              <a:t> </a:t>
            </a:r>
            <a:r>
              <a:rPr dirty="0" err="1"/>
              <a:t>시간표를</a:t>
            </a:r>
            <a:r>
              <a:rPr dirty="0"/>
              <a:t> </a:t>
            </a:r>
            <a:r>
              <a:rPr dirty="0" err="1"/>
              <a:t>읽어</a:t>
            </a:r>
            <a:r>
              <a:rPr dirty="0"/>
              <a:t> </a:t>
            </a:r>
            <a:r>
              <a:rPr dirty="0" err="1"/>
              <a:t>분석에</a:t>
            </a:r>
            <a:r>
              <a:rPr dirty="0"/>
              <a:t> </a:t>
            </a:r>
            <a:r>
              <a:rPr dirty="0" err="1"/>
              <a:t>쓸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있는</a:t>
            </a:r>
            <a:r>
              <a:rPr dirty="0"/>
              <a:t> </a:t>
            </a:r>
            <a:r>
              <a:rPr dirty="0" err="1"/>
              <a:t>형태로</a:t>
            </a:r>
            <a:r>
              <a:rPr dirty="0"/>
              <a:t> </a:t>
            </a:r>
            <a:r>
              <a:rPr dirty="0" err="1"/>
              <a:t>만듭니다</a:t>
            </a:r>
            <a:r>
              <a:rPr dirty="0"/>
              <a:t>.</a:t>
            </a:r>
          </a:p>
          <a:p>
            <a:endParaRPr lang="en-US" dirty="0"/>
          </a:p>
          <a:p>
            <a:r>
              <a:rPr dirty="0" err="1"/>
              <a:t>최단경로</a:t>
            </a:r>
            <a:r>
              <a:rPr dirty="0"/>
              <a:t> </a:t>
            </a:r>
            <a:r>
              <a:rPr dirty="0" err="1"/>
              <a:t>알고리즘</a:t>
            </a:r>
            <a:r>
              <a:rPr dirty="0"/>
              <a:t>(</a:t>
            </a:r>
            <a:r>
              <a:rPr dirty="0" err="1"/>
              <a:t>다익스트라</a:t>
            </a:r>
            <a:r>
              <a:rPr dirty="0"/>
              <a:t>, A*)</a:t>
            </a:r>
            <a:r>
              <a:rPr dirty="0" err="1"/>
              <a:t>과</a:t>
            </a:r>
            <a:r>
              <a:rPr dirty="0"/>
              <a:t> </a:t>
            </a:r>
            <a:r>
              <a:rPr dirty="0" err="1"/>
              <a:t>대중교통</a:t>
            </a:r>
            <a:r>
              <a:rPr dirty="0"/>
              <a:t> </a:t>
            </a:r>
            <a:r>
              <a:rPr dirty="0" err="1"/>
              <a:t>경로</a:t>
            </a:r>
            <a:r>
              <a:rPr dirty="0"/>
              <a:t> </a:t>
            </a:r>
            <a:r>
              <a:rPr dirty="0" err="1"/>
              <a:t>탐색</a:t>
            </a:r>
            <a:r>
              <a:rPr dirty="0"/>
              <a:t>(RAPTOR)</a:t>
            </a:r>
            <a:r>
              <a:rPr dirty="0" err="1"/>
              <a:t>을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구현하고</a:t>
            </a:r>
            <a:r>
              <a:rPr dirty="0"/>
              <a:t>,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엔진과</a:t>
            </a:r>
            <a:r>
              <a:rPr dirty="0"/>
              <a:t> </a:t>
            </a:r>
            <a:r>
              <a:rPr dirty="0" err="1"/>
              <a:t>대조해</a:t>
            </a:r>
            <a:r>
              <a:rPr dirty="0"/>
              <a:t> </a:t>
            </a:r>
            <a:r>
              <a:rPr dirty="0" err="1"/>
              <a:t>정확도를</a:t>
            </a:r>
            <a:r>
              <a:rPr dirty="0"/>
              <a:t> </a:t>
            </a:r>
            <a:r>
              <a:rPr dirty="0" err="1"/>
              <a:t>검증합니다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dirty="0" err="1"/>
              <a:t>통행</a:t>
            </a:r>
            <a:r>
              <a:rPr dirty="0"/>
              <a:t> </a:t>
            </a:r>
            <a:r>
              <a:rPr dirty="0" err="1"/>
              <a:t>수요를</a:t>
            </a:r>
            <a:r>
              <a:rPr dirty="0"/>
              <a:t> </a:t>
            </a:r>
            <a:r>
              <a:rPr dirty="0" err="1"/>
              <a:t>생성하고</a:t>
            </a:r>
            <a:r>
              <a:rPr dirty="0"/>
              <a:t>, </a:t>
            </a:r>
            <a:r>
              <a:rPr dirty="0" err="1"/>
              <a:t>승객과</a:t>
            </a:r>
            <a:r>
              <a:rPr dirty="0"/>
              <a:t> </a:t>
            </a:r>
            <a:r>
              <a:rPr dirty="0" err="1"/>
              <a:t>차량을</a:t>
            </a:r>
            <a:r>
              <a:rPr dirty="0"/>
              <a:t> </a:t>
            </a:r>
            <a:r>
              <a:rPr dirty="0" err="1"/>
              <a:t>배차하는</a:t>
            </a:r>
            <a:r>
              <a:rPr dirty="0"/>
              <a:t> </a:t>
            </a:r>
            <a:r>
              <a:rPr dirty="0" err="1"/>
              <a:t>알고리즘을</a:t>
            </a:r>
            <a:r>
              <a:rPr dirty="0"/>
              <a:t> </a:t>
            </a:r>
            <a:r>
              <a:rPr dirty="0" err="1"/>
              <a:t>비교합니다</a:t>
            </a:r>
            <a:r>
              <a:rPr dirty="0"/>
              <a:t>.</a:t>
            </a:r>
            <a:r>
              <a:rPr lang="ko-KR" altLang="en-US" dirty="0"/>
              <a:t> </a:t>
            </a:r>
            <a:r>
              <a:rPr dirty="0" err="1"/>
              <a:t>이산시간</a:t>
            </a:r>
            <a:r>
              <a:rPr dirty="0"/>
              <a:t> </a:t>
            </a:r>
            <a:r>
              <a:rPr dirty="0" err="1"/>
              <a:t>시뮬레이션</a:t>
            </a:r>
            <a:r>
              <a:rPr dirty="0"/>
              <a:t> </a:t>
            </a:r>
            <a:r>
              <a:rPr dirty="0" err="1"/>
              <a:t>루프를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짜고</a:t>
            </a:r>
            <a:r>
              <a:rPr dirty="0"/>
              <a:t>,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서비스율·대기시간·차량</a:t>
            </a:r>
            <a:r>
              <a:rPr dirty="0"/>
              <a:t> </a:t>
            </a:r>
            <a:r>
              <a:rPr dirty="0" err="1"/>
              <a:t>가동률로</a:t>
            </a:r>
            <a:r>
              <a:rPr dirty="0"/>
              <a:t> </a:t>
            </a:r>
            <a:r>
              <a:rPr dirty="0" err="1"/>
              <a:t>해석합니다</a:t>
            </a:r>
            <a:r>
              <a:rPr dirty="0"/>
              <a:t>.</a:t>
            </a:r>
          </a:p>
          <a:p>
            <a:endParaRPr lang="en-US" dirty="0"/>
          </a:p>
          <a:p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지역을</a:t>
            </a:r>
            <a:r>
              <a:rPr dirty="0"/>
              <a:t> </a:t>
            </a:r>
            <a:r>
              <a:rPr dirty="0" err="1"/>
              <a:t>대상으로</a:t>
            </a:r>
            <a:r>
              <a:rPr dirty="0"/>
              <a:t> </a:t>
            </a: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시나리오를</a:t>
            </a:r>
            <a:r>
              <a:rPr dirty="0"/>
              <a:t> </a:t>
            </a:r>
            <a:r>
              <a:rPr dirty="0" err="1"/>
              <a:t>설계하고</a:t>
            </a:r>
            <a:r>
              <a:rPr dirty="0"/>
              <a:t>, </a:t>
            </a:r>
            <a:r>
              <a:rPr dirty="0" err="1"/>
              <a:t>시뮬레이션으로</a:t>
            </a:r>
            <a:r>
              <a:rPr dirty="0"/>
              <a:t>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효과를</a:t>
            </a:r>
            <a:r>
              <a:rPr dirty="0"/>
              <a:t> </a:t>
            </a:r>
            <a:r>
              <a:rPr dirty="0" err="1"/>
              <a:t>숫자로</a:t>
            </a:r>
            <a:r>
              <a:rPr dirty="0"/>
              <a:t> </a:t>
            </a:r>
            <a:r>
              <a:rPr dirty="0" err="1"/>
              <a:t>제시합니다</a:t>
            </a:r>
            <a:r>
              <a:rPr dirty="0"/>
              <a:t>.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오리엔테이션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4#1|6cb6f673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dirty="0"/>
              <a:t>. 12주 </a:t>
            </a:r>
            <a:r>
              <a:rPr dirty="0" err="1"/>
              <a:t>흐름</a:t>
            </a:r>
            <a:endParaRPr dirty="0"/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오리엔테이션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548640" y="1600200"/>
          <a:ext cx="11094413" cy="349021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36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6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823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8478"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주차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날짜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교재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주제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/>
                        <a:t>그 주에 만드는 것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8478">
                <a:tc>
                  <a:txBody>
                    <a:bodyPr/>
                    <a:lstStyle/>
                    <a:p>
                      <a:pPr algn="r"/>
                      <a:r>
                        <a:rPr sz="1000"/>
                        <a:t>1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09-01 / 09-02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0장, 1장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환경 준비와 시뮬레이션 개요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첫 시뮬레이션 실행, 결과 읽기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478">
                <a:tc>
                  <a:txBody>
                    <a:bodyPr/>
                    <a:lstStyle/>
                    <a:p>
                      <a:pPr algn="r"/>
                      <a:r>
                        <a:rPr sz="1000"/>
                        <a:t>2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09-08 / 09-09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2장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도로망 데이터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OSM 도로망 → 인접 리스트, 통행수단 필터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478">
                <a:tc>
                  <a:txBody>
                    <a:bodyPr/>
                    <a:lstStyle/>
                    <a:p>
                      <a:pPr algn="r"/>
                      <a:r>
                        <a:rPr sz="1000"/>
                        <a:t>3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09-15 / 09-16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3장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밑바닥부터 최단경로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 b="1"/>
                        <a:t>다익스트라·A* 직접 구현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478">
                <a:tc>
                  <a:txBody>
                    <a:bodyPr/>
                    <a:lstStyle/>
                    <a:p>
                      <a:pPr algn="r"/>
                      <a:r>
                        <a:rPr sz="1000"/>
                        <a:t>4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09-22 / 09-23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4장, 5장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시간대별 속도 · GTFS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혼잡 반영 경로, GTFS 읽기·필터링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478">
                <a:tc>
                  <a:txBody>
                    <a:bodyPr/>
                    <a:lstStyle/>
                    <a:p>
                      <a:pPr algn="r"/>
                      <a:r>
                        <a:rPr sz="1000"/>
                        <a:t>5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09-29 / 09-30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6장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밑바닥부터 RAPTOR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 b="1"/>
                        <a:t>대중교통 경로 탐색 직접 구현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478">
                <a:tc>
                  <a:txBody>
                    <a:bodyPr/>
                    <a:lstStyle/>
                    <a:p>
                      <a:pPr algn="r"/>
                      <a:r>
                        <a:rPr sz="1000"/>
                        <a:t>6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10-06 / 10-07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7장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환승·요금과 대중교통 지표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통합환승요금 계산, 실제 엔진과 대조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478">
                <a:tc>
                  <a:txBody>
                    <a:bodyPr/>
                    <a:lstStyle/>
                    <a:p>
                      <a:pPr algn="r"/>
                      <a:r>
                        <a:rPr sz="1000"/>
                        <a:t>7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10-13 / 10-14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8장, 12장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통행 수요와 결과 읽기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수요 생성, 지표 계산과 시각화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478">
                <a:tc>
                  <a:txBody>
                    <a:bodyPr/>
                    <a:lstStyle/>
                    <a:p>
                      <a:pPr algn="r"/>
                      <a:r>
                        <a:rPr sz="1000"/>
                        <a:t>8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10-20 / 10-21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 b="1"/>
                        <a:t>휴강</a:t>
                      </a:r>
                      <a:r>
                        <a:rPr sz="1000"/>
                        <a:t> (강릉세계총회)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HW3 — 무당이 GTFS·승하차 조사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478">
                <a:tc>
                  <a:txBody>
                    <a:bodyPr/>
                    <a:lstStyle/>
                    <a:p>
                      <a:pPr algn="r"/>
                      <a:r>
                        <a:rPr sz="1000"/>
                        <a:t>9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 b="1"/>
                        <a:t>10-27 중간시험</a:t>
                      </a:r>
                      <a:r>
                        <a:rPr sz="1000"/>
                        <a:t> / 10-28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중간시험 및 해설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프로젝트 중간 점검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478">
                <a:tc>
                  <a:txBody>
                    <a:bodyPr/>
                    <a:lstStyle/>
                    <a:p>
                      <a:pPr algn="r"/>
                      <a:r>
                        <a:rPr sz="1000"/>
                        <a:t>10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11-03 / 11-04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9장, 10장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통행시간 예측과 배차 최적화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ETA 모델, 할당 문제, 물류 배송 최적화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8478">
                <a:tc>
                  <a:txBody>
                    <a:bodyPr/>
                    <a:lstStyle/>
                    <a:p>
                      <a:pPr algn="r"/>
                      <a:r>
                        <a:rPr sz="1000"/>
                        <a:t>11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11-10 / 11-11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11장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이산시간 시뮬레이션 루프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 b="1"/>
                        <a:t>시뮬레이션 루프 직접 구현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8478">
                <a:tc>
                  <a:txBody>
                    <a:bodyPr/>
                    <a:lstStyle/>
                    <a:p>
                      <a:pPr algn="r"/>
                      <a:r>
                        <a:rPr sz="1000"/>
                        <a:t>12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 b="1"/>
                        <a:t>11-17 종강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—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기말 프로젝트 마무리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000"/>
                        <a:t>개인 보고서 제출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5#1|6f23aca92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수업 방식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화요일에</a:t>
            </a:r>
            <a:r>
              <a:rPr dirty="0"/>
              <a:t> </a:t>
            </a:r>
            <a:r>
              <a:rPr dirty="0" err="1"/>
              <a:t>개념과</a:t>
            </a:r>
            <a:r>
              <a:rPr dirty="0"/>
              <a:t> </a:t>
            </a:r>
            <a:r>
              <a:rPr dirty="0" err="1"/>
              <a:t>코드를</a:t>
            </a:r>
            <a:r>
              <a:rPr dirty="0"/>
              <a:t> </a:t>
            </a:r>
            <a:r>
              <a:rPr dirty="0" err="1"/>
              <a:t>함께</a:t>
            </a:r>
            <a:r>
              <a:rPr dirty="0"/>
              <a:t> </a:t>
            </a:r>
            <a:r>
              <a:rPr dirty="0" err="1"/>
              <a:t>보고</a:t>
            </a:r>
            <a:r>
              <a:rPr dirty="0"/>
              <a:t>, </a:t>
            </a:r>
            <a:r>
              <a:rPr dirty="0" err="1"/>
              <a:t>수요일에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짜고</a:t>
            </a:r>
            <a:r>
              <a:rPr dirty="0"/>
              <a:t> </a:t>
            </a:r>
            <a:r>
              <a:rPr dirty="0" err="1"/>
              <a:t>돌립니다</a:t>
            </a:r>
            <a:r>
              <a:rPr dirty="0"/>
              <a:t>. </a:t>
            </a:r>
            <a:r>
              <a:rPr dirty="0" err="1"/>
              <a:t>노트북을</a:t>
            </a:r>
            <a:r>
              <a:rPr dirty="0"/>
              <a:t> </a:t>
            </a:r>
            <a:r>
              <a:rPr dirty="0" err="1"/>
              <a:t>매</a:t>
            </a:r>
            <a:r>
              <a:rPr dirty="0"/>
              <a:t> </a:t>
            </a:r>
            <a:r>
              <a:rPr dirty="0" err="1"/>
              <a:t>시간</a:t>
            </a:r>
            <a:r>
              <a:rPr dirty="0"/>
              <a:t> </a:t>
            </a:r>
            <a:r>
              <a:rPr dirty="0" err="1"/>
              <a:t>가져옵니다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r>
              <a:rPr dirty="0" err="1"/>
              <a:t>LLM을</a:t>
            </a:r>
            <a:r>
              <a:rPr dirty="0"/>
              <a:t> </a:t>
            </a:r>
            <a:r>
              <a:rPr dirty="0" err="1"/>
              <a:t>수업</a:t>
            </a:r>
            <a:r>
              <a:rPr dirty="0"/>
              <a:t> </a:t>
            </a:r>
            <a:r>
              <a:rPr dirty="0" err="1"/>
              <a:t>중에도</a:t>
            </a:r>
            <a:r>
              <a:rPr dirty="0"/>
              <a:t> </a:t>
            </a:r>
            <a:r>
              <a:rPr dirty="0" err="1"/>
              <a:t>씁니다</a:t>
            </a:r>
            <a:r>
              <a:rPr dirty="0"/>
              <a:t>. </a:t>
            </a:r>
            <a:r>
              <a:rPr dirty="0" err="1"/>
              <a:t>ChatGPT</a:t>
            </a:r>
            <a:r>
              <a:rPr dirty="0"/>
              <a:t>, Claude, Gemini </a:t>
            </a:r>
            <a:r>
              <a:rPr dirty="0" err="1"/>
              <a:t>등의</a:t>
            </a:r>
            <a:r>
              <a:rPr dirty="0"/>
              <a:t> </a:t>
            </a:r>
            <a:r>
              <a:rPr dirty="0" err="1"/>
              <a:t>구독을</a:t>
            </a:r>
            <a:r>
              <a:rPr dirty="0"/>
              <a:t> </a:t>
            </a:r>
            <a:r>
              <a:rPr dirty="0" err="1"/>
              <a:t>권장합니다</a:t>
            </a:r>
            <a:r>
              <a:rPr dirty="0"/>
              <a:t>.</a:t>
            </a:r>
            <a:endParaRPr lang="en-US" dirty="0"/>
          </a:p>
          <a:p>
            <a:endParaRPr dirty="0"/>
          </a:p>
          <a:p>
            <a:pPr lvl="1"/>
            <a:r>
              <a:rPr dirty="0" err="1"/>
              <a:t>나온</a:t>
            </a:r>
            <a:r>
              <a:rPr dirty="0"/>
              <a:t> </a:t>
            </a:r>
            <a:r>
              <a:rPr dirty="0" err="1"/>
              <a:t>코드를</a:t>
            </a:r>
            <a:r>
              <a:rPr dirty="0"/>
              <a:t> </a:t>
            </a:r>
            <a:r>
              <a:rPr dirty="0" err="1"/>
              <a:t>이해하고</a:t>
            </a:r>
            <a:r>
              <a:rPr dirty="0"/>
              <a:t>, </a:t>
            </a:r>
            <a:r>
              <a:rPr dirty="0" err="1"/>
              <a:t>실행되지</a:t>
            </a:r>
            <a:r>
              <a:rPr dirty="0"/>
              <a:t> </a:t>
            </a:r>
            <a:r>
              <a:rPr dirty="0" err="1"/>
              <a:t>않을</a:t>
            </a:r>
            <a:r>
              <a:rPr dirty="0"/>
              <a:t> </a:t>
            </a:r>
            <a:r>
              <a:rPr dirty="0" err="1"/>
              <a:t>때</a:t>
            </a:r>
            <a:r>
              <a:rPr dirty="0"/>
              <a:t> </a:t>
            </a:r>
            <a:r>
              <a:rPr dirty="0" err="1"/>
              <a:t>어디서</a:t>
            </a:r>
            <a:r>
              <a:rPr dirty="0"/>
              <a:t> </a:t>
            </a:r>
            <a:r>
              <a:rPr dirty="0" err="1"/>
              <a:t>막혔는지</a:t>
            </a:r>
            <a:r>
              <a:rPr dirty="0"/>
              <a:t> </a:t>
            </a:r>
            <a:r>
              <a:rPr dirty="0" err="1"/>
              <a:t>짚고</a:t>
            </a:r>
            <a:r>
              <a:rPr dirty="0"/>
              <a:t> </a:t>
            </a:r>
            <a:r>
              <a:rPr dirty="0" err="1"/>
              <a:t>고칠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있어야</a:t>
            </a:r>
            <a:r>
              <a:rPr dirty="0"/>
              <a:t> </a:t>
            </a:r>
            <a:r>
              <a:rPr dirty="0" err="1"/>
              <a:t>합니다</a:t>
            </a:r>
            <a:r>
              <a:rPr dirty="0"/>
              <a:t>. </a:t>
            </a:r>
            <a:r>
              <a:rPr dirty="0" err="1"/>
              <a:t>중간시험</a:t>
            </a:r>
            <a:r>
              <a:rPr dirty="0"/>
              <a:t> </a:t>
            </a:r>
            <a:r>
              <a:rPr dirty="0" err="1"/>
              <a:t>코딩테스트에서도</a:t>
            </a:r>
            <a:r>
              <a:rPr dirty="0"/>
              <a:t> </a:t>
            </a:r>
            <a:r>
              <a:rPr dirty="0" err="1"/>
              <a:t>쓸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있습니다</a:t>
            </a:r>
            <a:r>
              <a:rPr dirty="0"/>
              <a:t>.</a:t>
            </a:r>
            <a:endParaRPr lang="en-US" dirty="0"/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오리엔테이션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6#1|29927a16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평가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오리엔테이션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548640" y="1600200"/>
          <a:ext cx="11094413" cy="165989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476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63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978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항목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비중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비고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중간시험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/>
                        <a:t>30%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10-27(화) · 범위 교재 0~8장, 12장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기말 개인 프로젝트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/>
                        <a:t>40%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take-home 시험 · 무당이 시뮬레이션과 개선 분석 보고서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과제 및 참여도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/>
                        <a:t>20%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HW1~HW3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출결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pPr algn="r"/>
                      <a:r>
                        <a:rPr sz="1400"/>
                        <a:t>10%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결석 1점/회 감점(1회까지 미차감), 지각 0.5점(2회까지 미차감)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3" name="Text"/>
          <p:cNvSpPr txBox="1"/>
          <p:nvPr/>
        </p:nvSpPr>
        <p:spPr>
          <a:xfrm>
            <a:off x="548640" y="3442970"/>
            <a:ext cx="11094415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 dirty="0" err="1"/>
              <a:t>중간시험은</a:t>
            </a:r>
            <a:r>
              <a:rPr sz="1800" dirty="0"/>
              <a:t> </a:t>
            </a:r>
            <a:r>
              <a:rPr sz="1800" dirty="0" err="1"/>
              <a:t>단답형</a:t>
            </a:r>
            <a:r>
              <a:rPr sz="1800" dirty="0"/>
              <a:t>(closed-book, 40%)</a:t>
            </a:r>
            <a:r>
              <a:rPr sz="1800" dirty="0" err="1"/>
              <a:t>과</a:t>
            </a:r>
            <a:r>
              <a:rPr sz="1800" dirty="0"/>
              <a:t> </a:t>
            </a:r>
            <a:r>
              <a:rPr sz="1800" dirty="0" err="1"/>
              <a:t>코딩테스트</a:t>
            </a:r>
            <a:r>
              <a:rPr sz="1800" dirty="0"/>
              <a:t>(open-book, 60%)</a:t>
            </a:r>
            <a:r>
              <a:rPr sz="1800" dirty="0" err="1"/>
              <a:t>입니다</a:t>
            </a:r>
            <a:r>
              <a:rPr sz="1800" dirty="0"/>
              <a:t>. </a:t>
            </a:r>
            <a:r>
              <a:rPr sz="1800" dirty="0" err="1"/>
              <a:t>코딩테스트는</a:t>
            </a:r>
            <a:r>
              <a:rPr sz="1800" dirty="0"/>
              <a:t> </a:t>
            </a:r>
            <a:r>
              <a:rPr sz="1800" dirty="0" err="1"/>
              <a:t>사이버캠퍼스로</a:t>
            </a:r>
            <a:r>
              <a:rPr sz="1800" dirty="0"/>
              <a:t> </a:t>
            </a:r>
            <a:r>
              <a:rPr sz="1800" dirty="0" err="1"/>
              <a:t>출제하고</a:t>
            </a:r>
            <a:r>
              <a:rPr sz="1800" dirty="0"/>
              <a:t>, </a:t>
            </a:r>
            <a:r>
              <a:rPr sz="1800" dirty="0" err="1"/>
              <a:t>LLM을</a:t>
            </a:r>
            <a:r>
              <a:rPr sz="1800" dirty="0"/>
              <a:t> </a:t>
            </a:r>
            <a:r>
              <a:rPr sz="1800" dirty="0" err="1"/>
              <a:t>쓸</a:t>
            </a:r>
            <a:r>
              <a:rPr sz="1800" dirty="0"/>
              <a:t> </a:t>
            </a:r>
            <a:r>
              <a:rPr sz="1800" dirty="0" err="1"/>
              <a:t>수</a:t>
            </a:r>
            <a:r>
              <a:rPr sz="1800" dirty="0"/>
              <a:t> </a:t>
            </a:r>
            <a:r>
              <a:rPr sz="1800" dirty="0" err="1"/>
              <a:t>있습니다</a:t>
            </a:r>
            <a:r>
              <a:rPr sz="1800"/>
              <a:t>.</a:t>
            </a:r>
            <a:endParaRPr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7#1|bf456bdcc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기말 개인 프로젝트 — 가천대 교내셔틀 무당이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오리엔테이션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102" name="Text"/>
          <p:cNvSpPr txBox="1"/>
          <p:nvPr/>
        </p:nvSpPr>
        <p:spPr>
          <a:xfrm>
            <a:off x="548640" y="1600200"/>
            <a:ext cx="11094415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 dirty="0"/>
              <a:t>가천대 교내셔틀 무당이를 시뮬레이션하고, 개선 시나리오의 효과를 숫자로 제시합니다. take-home 시험이라 6주차에 시작해 12주차에 보고서를 제출하고, 발표는 하지 않습니다.</a:t>
            </a:r>
          </a:p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 dirty="0"/>
              <a:t>무당이는 GTFS도 승하차 기록도 없습니다. 시간표를 GTFS로 직접 옮기고 승하차를 직접 조사합니다. 현황 재현부터 시나리오 분석까지 전 과정을 각자 수행합니다.</a:t>
            </a:r>
          </a:p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 dirty="0"/>
              <a:t>평가 100점 — 데이터 준비 20 · 경로 탐색 정확도 20 · 시나리오 설계 20 · 지표 해석 25 · 보고서 완성도와 재현성 15.</a:t>
            </a:r>
          </a:p>
        </p:txBody>
      </p:sp>
      <p:graphicFrame>
        <p:nvGraphicFramePr>
          <p:cNvPr id="103" name="Table"/>
          <p:cNvGraphicFramePr>
            <a:graphicFrameLocks noGrp="1"/>
          </p:cNvGraphicFramePr>
          <p:nvPr/>
        </p:nvGraphicFramePr>
        <p:xfrm>
          <a:off x="548640" y="3900000"/>
          <a:ext cx="11094414" cy="199186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7176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6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978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시점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산출물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6주차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개선 시나리오 선정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8주차 (HW3)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무당이 GTFS와 승하차 조사표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9주차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수요 프로파일과 현황 재현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11주차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O-D 100건을 실제 엔진과 대조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12주차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시나리오 before-after와 개선 분석 보고서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8#1|eecfd1af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과제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오리엔테이션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548640" y="1600200"/>
          <a:ext cx="11094414" cy="165989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974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1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992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1978"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과제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마감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/>
                        <a:t>내용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HW1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3주차 (09-15)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교재 2장 연습문제 — 하남시 도로망 통계와 스냅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HW2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6주차 (10-06)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자기가 짠 RAPTOR를 레퍼런스와 대조하고 차이를 설명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HW3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9주차 (10-27)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무당이 GTFS 작성·검증과 승하차 조사표 (개인 제출, 8주차 휴강 대체)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978">
                <a:tc>
                  <a:txBody>
                    <a:bodyPr/>
                    <a:lstStyle/>
                    <a:p>
                      <a:r>
                        <a:rPr sz="1400"/>
                        <a:t>기말 프로젝트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12주차 (11-17)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400"/>
                        <a:t>무당이 시뮬레이션과 개선 분석 보고서 (개인)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3" name="Text"/>
          <p:cNvSpPr txBox="1"/>
          <p:nvPr/>
        </p:nvSpPr>
        <p:spPr>
          <a:xfrm>
            <a:off x="548640" y="3442970"/>
            <a:ext cx="11094415" cy="26835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과제는 모두 "돌아가는 코드"가 아니라 "기준과 대조한 결과"를 냅니다. 무엇과 비교했고 어디가 달랐는지를 씁니다.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9#1|580dad1d0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실습 환경 — 설치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오리엔테이션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102" name="Text"/>
          <p:cNvSpPr txBox="1"/>
          <p:nvPr/>
        </p:nvSpPr>
        <p:spPr>
          <a:xfrm>
            <a:off x="548640" y="1600200"/>
            <a:ext cx="11094415" cy="6616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Python 3.11을 씁니다. 교재 저장소를 받고 의존성을 설치하면 끝납니다.</a:t>
            </a:r>
          </a:p>
        </p:txBody>
      </p:sp>
      <p:sp>
        <p:nvSpPr>
          <p:cNvPr id="103" name="Code"/>
          <p:cNvSpPr/>
          <p:nvPr/>
        </p:nvSpPr>
        <p:spPr>
          <a:xfrm>
            <a:off x="548640" y="2353310"/>
            <a:ext cx="11094415" cy="937259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t"/>
          <a:lstStyle/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git clone https://github.com/jihoyeo/mobility-simulation-book.git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cd mobility-simulation-book</a:t>
            </a:r>
          </a:p>
          <a:p>
            <a:pPr algn="l"/>
            <a:r>
              <a:rPr sz="1200">
                <a:solidFill>
                  <a:srgbClr val="1F2937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104" name="Text"/>
          <p:cNvSpPr txBox="1"/>
          <p:nvPr/>
        </p:nvSpPr>
        <p:spPr>
          <a:xfrm>
            <a:off x="548640" y="3473450"/>
            <a:ext cx="11094415" cy="26530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>
                <a:latin typeface="Consolas"/>
              </a:rPr>
              <a:t>requirements.txt</a:t>
            </a:r>
            <a:r>
              <a:rPr sz="1800"/>
              <a:t>는 버전을 전부 고정해 두었습니다. 같은 버전이면 같은 그림이 나옵니다.</a:t>
            </a:r>
          </a:p>
          <a:p>
            <a:pPr marL="256032" indent="-256032">
              <a:spcBef>
                <a:spcPts val="800"/>
              </a:spcBef>
              <a:buClr>
                <a:schemeClr val="accent1"/>
              </a:buClr>
              <a:buFont typeface="Arial"/>
              <a:buChar char="•"/>
            </a:pPr>
            <a:r>
              <a:rPr sz="1800"/>
              <a:t>설치가 끝났는지는 </a:t>
            </a:r>
            <a:r>
              <a:rPr sz="1800">
                <a:latin typeface="Consolas"/>
              </a:rPr>
              <a:t>from smartmob import Dtumos</a:t>
            </a:r>
            <a:r>
              <a:rPr sz="1800"/>
              <a:t> 한 줄로 확인합니다.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9-2#1|917e075a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실습 환경 — 엔진과 코랩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시뮬레이션 엔진은 강의용 공용 서버를 씁니다. 서버에 붙지 못해도 교재에 녹화된 실행 결과로 모든 코드가 돌아가므로, 집에서 복습할 때 설치할 것이 따로 없습니다.</a:t>
            </a:r>
          </a:p>
          <a:p>
            <a:r>
              <a:t>엔진 내부를 직접 열어 보는 실습은 각자 노트북에서 Docker로 돌립니다. 사전 빌드 이미지를 배포합니다.</a:t>
            </a:r>
          </a:p>
          <a:p>
            <a:r>
              <a:t>구글 코랩도 됩니다. 각 장의 Colab 배지를 누르고 첫 셀에서 </a:t>
            </a:r>
            <a:r>
              <a:rPr>
                <a:latin typeface="Consolas"/>
              </a:rPr>
              <a:t>smartmob.colab.bootstrap()</a:t>
            </a:r>
            <a:r>
              <a:t>을 실행합니다.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오리엔테이션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0#1|51aa5c7a5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교재와 참고 자료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주교재: </a:t>
            </a:r>
            <a:r>
              <a:rPr i="1"/>
              <a:t>Urban Mobility Simulation — Digital Twin for Urban Mobility Systems</a:t>
            </a:r>
            <a:r>
              <a:t> (jihoyeo.github.io/mobility-simulation-book). 학기 중 계속 고쳐지므로 웹으로 읽는 것이 항상 최신본입니다. 코드는 같은 이름의 GitHub 저장소에 있습니다.</a:t>
            </a:r>
          </a:p>
          <a:p>
            <a:r>
              <a:t>부교재: 『핸즈온 머신러닝 3판』(10주차 ETA 예측 모델의 배경), Google OR-Tools 문서(10주차 배차·물류 최적화 실습).</a:t>
            </a:r>
          </a:p>
          <a:p>
            <a:r>
              <a:t>참고 문헌은 해당 주차에 다시 안내합니다.</a:t>
            </a:r>
          </a:p>
          <a:p>
            <a:pPr lvl="1"/>
            <a:r>
              <a:t>Boeing (2017) OSMnx — 2주차 · Delling, Pajor &amp; Werneck (2015) RAPTOR 원논문 — 5~6주차</a:t>
            </a:r>
          </a:p>
          <a:p>
            <a:pPr lvl="1"/>
            <a:r>
              <a:t>Kuhn (1955) 헝가리안 방법 — 10주차 · Alonso-Mora et al. (2017) 라이드셰어링 배차 — 10~11주차 · Lopez et al. (2018) SUMO — 1주차 비교 대상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오리엔테이션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1#1|db99784ad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운영 정보</a:t>
            </a:r>
          </a:p>
        </p:txBody>
      </p:sp>
      <p:sp>
        <p:nvSpPr>
          <p:cNvPr id="10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오리엔테이션</a:t>
            </a:r>
          </a:p>
        </p:txBody>
      </p:sp>
      <p:sp>
        <p:nvSpPr>
          <p:cNvPr id="101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102" name="Table"/>
          <p:cNvGraphicFramePr>
            <a:graphicFrameLocks noGrp="1"/>
          </p:cNvGraphicFramePr>
          <p:nvPr/>
        </p:nvGraphicFramePr>
        <p:xfrm>
          <a:off x="548640" y="1600200"/>
          <a:ext cx="11094414" cy="300228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617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228"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항목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/>
                        <a:t>내용</a:t>
                      </a:r>
                    </a:p>
                  </a:txBody>
                  <a:tcPr marL="54864" marR="54864" marT="27432" marB="27432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228">
                <a:tc>
                  <a:txBody>
                    <a:bodyPr/>
                    <a:lstStyle/>
                    <a:p>
                      <a:r>
                        <a:rPr sz="1200"/>
                        <a:t>강의 시간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화 13:00–14:50 / 수 15:00–16:50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228">
                <a:tc>
                  <a:txBody>
                    <a:bodyPr/>
                    <a:lstStyle/>
                    <a:p>
                      <a:r>
                        <a:rPr sz="1200"/>
                        <a:t>강의실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AI공학관 210호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228">
                <a:tc>
                  <a:txBody>
                    <a:bodyPr/>
                    <a:lstStyle/>
                    <a:p>
                      <a:r>
                        <a:rPr sz="1200"/>
                        <a:t>수업 방식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대면수업 원칙 (보강은 비대면 활용)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228">
                <a:tc>
                  <a:txBody>
                    <a:bodyPr/>
                    <a:lstStyle/>
                    <a:p>
                      <a:r>
                        <a:rPr sz="1200"/>
                        <a:t>오피스 아워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수 17:00–20:00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228">
                <a:tc>
                  <a:txBody>
                    <a:bodyPr/>
                    <a:lstStyle/>
                    <a:p>
                      <a:r>
                        <a:rPr sz="1200"/>
                        <a:t>담당 교수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여지호 · jihoyeo@gachon.ac.kr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228">
                <a:tc>
                  <a:txBody>
                    <a:bodyPr/>
                    <a:lstStyle/>
                    <a:p>
                      <a:r>
                        <a:rPr sz="1200"/>
                        <a:t>조교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개강 후 공지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228">
                <a:tc>
                  <a:txBody>
                    <a:bodyPr/>
                    <a:lstStyle/>
                    <a:p>
                      <a:r>
                        <a:rPr sz="1200"/>
                        <a:t>미팅 링크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gachon.webex.com/meet/jihoyeo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228">
                <a:tc>
                  <a:txBody>
                    <a:bodyPr/>
                    <a:lstStyle/>
                    <a:p>
                      <a:r>
                        <a:rPr sz="1200"/>
                        <a:t>소통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카카오톡 단톡방 · 이메일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228">
                <a:tc>
                  <a:txBody>
                    <a:bodyPr/>
                    <a:lstStyle/>
                    <a:p>
                      <a:r>
                        <a:rPr sz="1200"/>
                        <a:t>학생 상담</a:t>
                      </a:r>
                    </a:p>
                  </a:txBody>
                  <a:tcPr marL="54864" marR="54864" marT="27432" marB="27432"/>
                </a:tc>
                <a:tc>
                  <a:txBody>
                    <a:bodyPr/>
                    <a:lstStyle/>
                    <a:p>
                      <a:r>
                        <a:rPr sz="1200"/>
                        <a:t>학기 중 1인 1회, 화·수 수업 직후. 불가능한 날짜와 시간을 상담일정 시트에 적어 주세요</a:t>
                      </a:r>
                    </a:p>
                  </a:txBody>
                  <a:tcPr marL="54864" marR="54864" marT="27432" marB="27432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2#1|2b5841fef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종강 이후 — P-실무프로젝트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11-24(화)부터 12-10(목)까지 평일 10:00–12:00, 210호. 최종발표는 12-11(금) 10:00–12:00입니다.</a:t>
            </a:r>
          </a:p>
          <a:p>
            <a:r>
              <a:t>자유주제입니다. 실제 지자체나 광역교통을 대상으로 버스 노선 개선안을 시뮬레이션으로 평가합니다.</a:t>
            </a:r>
          </a:p>
          <a:p>
            <a:r>
              <a:t>정규 수업과 기말 프로젝트에서 만든 파이프라인(GTFS 필터링 → RAPTOR → 지표)을 새 지역에 다시 적용합니다. 전국 GTFS와 수도권 생활이동 O-D를 쓰고, 주제는 첫날 11-24에 확정합니다.</a:t>
            </a:r>
          </a:p>
          <a:p>
            <a:r>
              <a:t>저장소: github.com/jihoyeo/p-practical-project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오리엔테이션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d:13#1|3ce96930c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오늘 할 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t>카카오톡 단톡방에 들어옵니다.</a:t>
            </a:r>
          </a:p>
          <a:p>
            <a:pPr>
              <a:buFont typeface="+mj-lt"/>
              <a:buAutoNum type="arabicPeriod"/>
            </a:pPr>
            <a:r>
              <a:t>수요일 수업 전까지 Python 3.11과 교재 저장소를 설치합니다. </a:t>
            </a:r>
            <a:r>
              <a:rPr>
                <a:latin typeface="Consolas"/>
              </a:rPr>
              <a:t>from smartmob import Dtumos</a:t>
            </a:r>
            <a:r>
              <a:t>가 되면 끝입니다.</a:t>
            </a:r>
          </a:p>
          <a:p>
            <a:pPr>
              <a:buFont typeface="+mj-lt"/>
              <a:buAutoNum type="arabicPeriod"/>
            </a:pPr>
            <a:r>
              <a:t>상담일정 시트에 상담이 불가능한 날짜와 시간을 적습니다.</a:t>
            </a:r>
          </a:p>
          <a:p>
            <a:r>
              <a:t>다음 시간(수 15:00, 210호): 하남시 도로망을 읽고 첫 시뮬레이션을 돌립니다. 노트북을 가져옵니다.</a:t>
            </a:r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8640" y="6355080"/>
            <a:ext cx="8229600" cy="320040"/>
          </a:xfrm>
        </p:spPr>
        <p:txBody>
          <a:bodyPr/>
          <a:lstStyle/>
          <a:p>
            <a:r>
              <a:t>스마트 교통물류 2026-2 · 오리엔테이션</a:t>
            </a:r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cademic">
      <a:dk1>
        <a:srgbClr val="1F2937"/>
      </a:dk1>
      <a:lt1>
        <a:srgbClr val="FFFFFF"/>
      </a:lt1>
      <a:dk2>
        <a:srgbClr val="1F3A5F"/>
      </a:dk2>
      <a:lt2>
        <a:srgbClr val="F3F4F6"/>
      </a:lt2>
      <a:accent1>
        <a:srgbClr val="2F5C8F"/>
      </a:accent1>
      <a:accent2>
        <a:srgbClr val="C2410C"/>
      </a:accent2>
      <a:accent3>
        <a:srgbClr val="3F8F6B"/>
      </a:accent3>
      <a:accent4>
        <a:srgbClr val="8C6D3F"/>
      </a:accent4>
      <a:accent5>
        <a:srgbClr val="6B7280"/>
      </a:accent5>
      <a:accent6>
        <a:srgbClr val="A23B3B"/>
      </a:accent6>
      <a:hlink>
        <a:srgbClr val="2F5C8F"/>
      </a:hlink>
      <a:folHlink>
        <a:srgbClr val="6B7280"/>
      </a:folHlink>
    </a:clrScheme>
    <a:fontScheme name="Academic">
      <a:majorFont>
        <a:latin typeface="Pretendard"/>
        <a:ea typeface="Pretendard"/>
        <a:cs typeface=""/>
        <a:font script="Hang" typeface="Pretendard"/>
        <a:font script="Jpan" typeface="Pretendard"/>
        <a:font script="Hans" typeface="Pretendard"/>
        <a:font script="Hant" typeface="Pretendard"/>
      </a:majorFont>
      <a:minorFont>
        <a:latin typeface="Pretendard"/>
        <a:ea typeface="Pretendard"/>
        <a:cs typeface=""/>
        <a:font script="Hang" typeface="Pretendard"/>
        <a:font script="Jpan" typeface="Pretendard"/>
        <a:font script="Hans" typeface="Pretendard"/>
        <a:font script="Hant" typeface="Pretendar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1353</Words>
  <Application>Microsoft Macintosh PowerPoint</Application>
  <PresentationFormat>와이드스크린</PresentationFormat>
  <Paragraphs>217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Pretendard</vt:lpstr>
      <vt:lpstr>Arial</vt:lpstr>
      <vt:lpstr>Consolas</vt:lpstr>
      <vt:lpstr>Office Theme</vt:lpstr>
      <vt:lpstr>스마트 교통물류 — 오리엔테이션</vt:lpstr>
      <vt:lpstr>1. 이 과목에서 만드는 것</vt:lpstr>
      <vt:lpstr>2. 학습 목표</vt:lpstr>
      <vt:lpstr>3. 12주 흐름</vt:lpstr>
      <vt:lpstr>5. 수업 방식</vt:lpstr>
      <vt:lpstr>6. 평가</vt:lpstr>
      <vt:lpstr>7. 기말 개인 프로젝트 — 내가 사는 동네의 대중교통</vt:lpstr>
      <vt:lpstr>8. 과제</vt:lpstr>
      <vt:lpstr>9. 실습 환경 — 설치</vt:lpstr>
      <vt:lpstr>9. 실습 환경 — 엔진과 코랩</vt:lpstr>
      <vt:lpstr>10. 교재와 참고 자료</vt:lpstr>
      <vt:lpstr>11. 운영 정보</vt:lpstr>
      <vt:lpstr>12. 종강 이후 — P-실무프로젝트</vt:lpstr>
      <vt:lpstr>13. 오늘 할 일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스마트 교통물류 — 오리엔테이션</dc:title>
  <dc:subject/>
  <dc:creator/>
  <cp:keywords/>
  <dc:description>generated using python-pptx</dc:description>
  <cp:lastModifiedBy>Jiho Yeo</cp:lastModifiedBy>
  <cp:revision>6</cp:revision>
  <dcterms:created xsi:type="dcterms:W3CDTF">2013-01-27T09:14:16Z</dcterms:created>
  <dcterms:modified xsi:type="dcterms:W3CDTF">2026-09-08T03:35:21Z</dcterms:modified>
  <cp:category/>
</cp:coreProperties>
</file>