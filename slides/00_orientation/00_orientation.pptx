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스마트 교통물류 전반을 훑는 개론 수업은 아닙니다. 한 학기 동안 하나의 시뮬레이터를 단계별로 완성합니다. 이론을 모두 배운 뒤 적용하는 방식이 아니라, 구현 단계마다 필요한 이론을 배우고 바로 적용합니다.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그림은 한 학기 동안 다룰 범위를 보여 줍니다. 2~4주차에는 도로망, 3·5·6주차에는 경로 탐색, 7주차에는 수요, 10~11주차에는 배차와 시뮬레이션 루프를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기능을 직접 구현하지는 않습니다. 학습 목표와 직접 관련된 알고리즘 세 개는 직접 작성하고, 나머지는 제공 코드나 외부 엔진을 활용합니다. 직접 구현한 결과는 기준 구현과 대조합니다. 다익스트라는 NetworkX, RAPTOR는 DTUMOS 결과와 비교합니다.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3주차에는 첫 번째 직접 구현 과제인 최단경로 알고리즘을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6주차에 기말 프로젝트를 시작합니다. 8주차는 강릉세계총회 참석으로 휴강하고 온라인 과제(HW3)로 대체합니다. 그래서 중간시험이 학사일정보다 1주 늦은 10-27입니다.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11주차에는 세 번째 직접 구현 과제인 시뮬레이션 루프를 작성합니다. 이 단계까지 마치면 한 학기 동안 만든 구성요소가 하나의 시뮬레이터로 연결됩니다.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수업과 코딩테스트에서 LLM을 사용할 수 있습니다. 다만 생성된 코드를 설명하고 수정할 수 있어야 합니다. 코드가 실행되는지만 확인하지 말고, 무엇과 비교했으며 결과가 어떻게 다른지도 기록해야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출결은 결석 1회, 지각 2회까지는 차감하지 않습니다. 기말이 40%로 가장 큽니다 — 다음 장에서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학사일정상 중간고사 기간은 10월 20일부터 26일까지지만, 8주차 휴강으로 시험을 한 주 늦췄습니다. 코딩테스트에서는 실무 환경을 고려해 LLM 사용을 허용합니다. 단순히 문제를 입력해 답을 얻는 방식이 아니라, 제공된 데이터를 분석하고 결과를 검증하는 과정을 평가합니다.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학생들이 매일 이용하는 셔틀을 분석 대상으로 삼습니다. 기존 GTFS와 승하차 기록이 없기 때문에 시간표를 직접 옮기고 현장에서 승하차 인원을 조사합니다. 이 과정을 통해 교통 데이터가 만들어지는 절차도 함께 익힙니다. 현장 조사는 8주차 휴강 기간에 교내에서 진행합니다.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총점은 100점입니다. 팀 점수는 55점으로 데이터 20점, 정확도 20점, 발표 15점입니다. 개인 점수는 45점으로 시나리오 설계 20점과 지표 해석 25점입니다. 여기에 동료평가 결과를 반영해 ±10%를 조정합니다. 개인이 맡은 시나리오를 별도로 평가하므로 팀 점수만으로 개인 점수가 결정되지는 않습니다. 각 산출물은 수업 진도에 맞춰 단계별로 제출합니다.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과제에서 코드 실행 여부뿐 아니라 비교 기준과 결과의 차이를 평가합니다. 무엇과 비교했는지, 차이가 있다면 원인이 무엇인지 결과에 함께 작성해야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requirements.txt에는 패키지 버전이 고정되어 있어 같은 환경에서 교재와 같은 결과를 재현할 수 있습니다. 수요일 수업 전까지 명령을 모두 실행하고 import가 오류 없이 끝나는지 확인해 주세요. 설치 중 문제가 생기면 단톡방에 오류 메시지를 올리면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계산량이 큰 작업은 공용 서버에서 실행하므로 개인 노트북의 성능은 실습 진행에 큰 영향을 주지 않습니다. 서버에 연결할 수 없는 경우에는 교재에 저장된 실행 결과를 사용합니다.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주교재는 이 수업을 위해 작성 중인 공개 교재입니다. 학생들이 수업에서 처음 사용하게 됩니다. 오탈자나 이해하기 어려운 설명을 알려 주면 교재에 반영하겠습니다. 별도로 책을 구입할 필요는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관련 질문은 단톡방에서 가장 빠르게 확인할 수 있습니다. 학기 중 모든 학생과 한 차례씩 상담할 예정이니, 오늘 배포하는 시트에 상담이 어려운 날짜와 시간을 적어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 프로젝트는 무당이 한 노선을 분석하고, P-실무프로젝트는 실제 지자체의 노선망으로 범위를 넓힙니다. 시내버스 노선 조정, 광역버스 평가, 저수요 노선의 DRT 전환 등을 주제로 선택할 수 있습니다. 자유주제는 사전에 승인을 받아야 하며, 세부 내용은 p-practical-project 저장소에서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오리엔테이션을 마친 뒤 시간이 남으면 1주차 화요일 수업인 교재 1장 「왜 시뮬레이션인가」를 시작합니다.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오리엔테이션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오리엔테이션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스마트 교통물류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도시 모빌리티 시뮬레이터를 직접 만드는 12주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1일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Orientation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36830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수업 소개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한 학기 동안 만들 시뮬레이터  ·  1.2 시뮬레이터의 전체 구조  ·  1.3 학습 성과  ·  1.4 직접 구현과 기존 도구 활용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12주 수업 일정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1~4주차: 도로망과 경로 탐색  ·  2.2 5~8주차: 대중교통과 통행 수요  ·  2.3 9~12주차: 시험과 기말 프로젝트  ·  2.4 수업 방식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평가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평가 비중  ·  3.2 중간시험  ·  3.3 기말 팀 프로젝트: 무당이  ·  3.4 프로젝트 일정과 배점  ·  3.5 과제와 공통 평가 기준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실습 환경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실습 환경 설치  ·  4.2 실행 환경 선택  ·  4.3 교재와 참고 자료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수업 운영 안내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수업 시간과 소통 채널  ·  5.2 종강 이후 — P-실무프로젝트  ·  5.3 오늘 할 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수업 소개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한 학기 동안 만들 시뮬레이터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시뮬레이터의 전체 구조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학습 성과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1.4  </a:t>
            </a:r>
            <a:r>
              <a:t>직접 구현과 기존 도구 활용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한 학기 동안 만들 시뮬레이터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수업 소개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학기 결과물: 도시 모빌리티 시뮬레이터</a:t>
            </a:r>
          </a:p>
          <a:p>
            <a:pPr lvl="1"/>
            <a:r>
              <a:t>도로망 → 최단경로 → 환승 경로 → 수요 생성 → 배차 → 지표·시각화</a:t>
            </a:r>
          </a:p>
          <a:p>
            <a:pPr/>
            <a:r>
              <a:t>기말 적용 대상: 가천대 교내셔틀 무당이의 개선안 분석</a:t>
            </a:r>
          </a:p>
          <a:p>
            <a:pPr/>
            <a:r>
              <a:t>데이터 분석·최적화·머신러닝: 구현 과정에 필요한 시점마다 적용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시뮬레이터의 전체 구조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수업 소개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그림 1. 도로망·경로 탐색·수요·배차로 이루어진 시뮬레이터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  <p:pic>
        <p:nvPicPr>
          <p:cNvPr id="26" name="Picture 25" descr="ch0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5214132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학습 성과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수업 소개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OpenStreetMap 도로망과 GTFS 시간표를 분석 가능한 형태로 정리</a:t>
            </a:r>
          </a:p>
          <a:p>
            <a:pPr/>
            <a:r>
              <a:t>최단경로(다익스트라·A*)와 RAPTOR 직접 구현, 실제 엔진과 대조 검증</a:t>
            </a:r>
          </a:p>
          <a:p>
            <a:pPr/>
            <a:r>
              <a:t>통행 수요 생성, 배차 알고리즘 비교, 이산시간 시뮬레이션 루프 작성</a:t>
            </a:r>
          </a:p>
          <a:p>
            <a:pPr/>
            <a:r>
              <a:t>개선 시나리오 설계와 서비스율·대기시간 기반 효과 제시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1.4 직접 구현과 기존 도구 활용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수업 소개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직접 구현: 라이브러리 없이 알고리즘 3개 작성</a:t>
            </a:r>
          </a:p>
          <a:p>
            <a:pPr lvl="1"/>
            <a:r>
              <a:t>최단경로 3주차 약 90줄 · RAPTOR 5주차 약 150줄 · 루프 11주차 약 150줄</a:t>
            </a:r>
          </a:p>
          <a:p>
            <a:pPr/>
            <a:r>
              <a:t>제공 코드 활용: 수요 생성기와 배차 알고리즘</a:t>
            </a:r>
          </a:p>
          <a:p>
            <a:pPr lvl="1"/>
            <a:r>
              <a:t>완성된 코드에서 인자만 변경</a:t>
            </a:r>
          </a:p>
          <a:p>
            <a:pPr/>
            <a:r>
              <a:t>외부 엔진 활용: 계산량이 큰 작업은 DTUMOS에 HTTP 요청</a:t>
            </a:r>
          </a:p>
          <a:p>
            <a:pPr lvl="1"/>
            <a:r>
              <a:t>엔진 내부는 Rust, 이 과목의 범위 밖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12주 수업 일정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1~4주차: 도로망과 경로 탐색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5~8주차: 대중교통과 통행 수요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9~12주차: 시험과 기말 프로젝트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2.4  </a:t>
            </a:r>
            <a:r>
              <a:t>수업 방식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1~4주차: 도로망과 경로 탐색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수업 일정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1. 1~4주차 — 도로망 데이터에서 시간대별 속도까지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64019"/>
                <a:gridCol w="2164019"/>
                <a:gridCol w="2164019"/>
                <a:gridCol w="2164019"/>
                <a:gridCol w="216401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날짜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교재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실습 결과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09-01·02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0·1장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환경 준비와 시뮬레이션 개요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첫 시뮬레이션 실행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09-08·09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도로망 데이터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OSM → 인접 리스트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09-15·16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최단경로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다익스트라·A*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09-22·23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4·5장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시간대별 속도 · GTFS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혼잡 반영 경로, GTFS 필터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5~8주차: 대중교통과 통행 수요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수업 일정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2. 5~8주차 — 대중교통 경로 탐색에서 통행 수요까지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64019"/>
                <a:gridCol w="2164019"/>
                <a:gridCol w="2164019"/>
                <a:gridCol w="2164019"/>
                <a:gridCol w="216401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날짜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교재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실습 결과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09-29·30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RAPTOR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RAPTOR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6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10-06·07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환승·요금과 대중교통 지표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통합환승요금, 엔진 대조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10-13·14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8·12장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 수요와 결과 읽기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수요 생성, 지표·시각화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8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10-20·21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휴강 (강릉세계총회)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HW3 — 무당이 GTFS·조사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9~12주차: 시험과 기말 프로젝트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수업 일정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3. 9~12주차 — 중간시험에서 기말 발표까지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64019"/>
                <a:gridCol w="2164019"/>
                <a:gridCol w="2164019"/>
                <a:gridCol w="2164019"/>
                <a:gridCol w="216401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날짜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교재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주제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실습 결과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9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10-27·28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중간시험과 해설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프로젝트 중간 점검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11-03·04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9·10장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통행시간 예측과 배차 최적화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ETA 모델, 할당 문제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11-10·11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이산시간 시뮬레이션 루프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루프 직접 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11-17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기말 프로젝트 발표 · 종강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 제출·발표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2.4 수업 방식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12주 수업 일정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화요일: 개념과 코드 설명 · 수요일: 직접 구현과 실행</a:t>
            </a:r>
          </a:p>
          <a:p>
            <a:pPr lvl="1"/>
            <a:r>
              <a:t>매 시간 노트북 지참</a:t>
            </a:r>
          </a:p>
          <a:p>
            <a:pPr/>
            <a:r>
              <a:t>수업 중 LLM 사용 가능 — ChatGPT·Claude·Gemini 등</a:t>
            </a:r>
          </a:p>
          <a:p>
            <a:pPr lvl="1"/>
            <a:r>
              <a:t>조건: 생성된 코드를 설명하고 오류를 수정할 수 있는 수준</a:t>
            </a:r>
          </a:p>
          <a:p>
            <a:pPr/>
            <a:r>
              <a:t>실행 성공과 결과 검증의 구분</a:t>
            </a:r>
          </a:p>
          <a:p>
            <a:pPr lvl="1"/>
            <a:r>
              <a:t>직접 구현한 결과는 기준 구현과 대조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평가 비중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중간시험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기말 팀 프로젝트: 무당이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3.4  </a:t>
            </a:r>
            <a:r>
              <a:t>프로젝트 일정과 배점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3.5  </a:t>
            </a:r>
            <a:r>
              <a:t>과제와 공통 평가 기준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평가 비중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4. 평가 항목과 비중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비중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비고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중간시험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10-27(화) · 교재 0~8장, 12장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기말 팀 프로젝트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무당이 시뮬레이션과 개선 분석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과제 및 참여도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HW1~HW3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출결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결석 1점(1회 유예) · 지각 0.5점(2회 유예)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중간시험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일시·범위: 10-27(화) · 교재 0~8장과 12장</a:t>
            </a:r>
          </a:p>
          <a:p>
            <a:pPr/>
            <a:r>
              <a:t>구성: 단답형 closed-book 40% · 코딩테스트 open-book 60%</a:t>
            </a:r>
          </a:p>
          <a:p>
            <a:pPr lvl="1"/>
            <a:r>
              <a:t>사이버캠퍼스에서 출제 · ipynb와 데이터 제공 · LLM 사용 가능</a:t>
            </a:r>
          </a:p>
          <a:p>
            <a:pPr/>
            <a:r>
              <a:t>평가 내용: 주어진 데이터를 분석해 답을 도출하는 과정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기말 팀 프로젝트: 무당이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대상: 가천대 교내셔틀 무당이 — 개선 시나리오의 효과를 수치로 비교</a:t>
            </a:r>
          </a:p>
          <a:p>
            <a:pPr lvl="1"/>
            <a:r>
              <a:t>4~5명 팀, 최대 6팀 · 6주차 시작, 12주차 발표</a:t>
            </a:r>
          </a:p>
          <a:p>
            <a:pPr/>
            <a:r>
              <a:t>시작 조건: GTFS와 승하차 기록 없음 → 시간표 작성과 현장 조사부터 진행</a:t>
            </a:r>
          </a:p>
          <a:p>
            <a:pPr/>
            <a:r>
              <a:t>역할 분담: 팀 단위 현황 재현 · 개인별 개선 시나리오 1개</a:t>
            </a:r>
          </a:p>
          <a:p>
            <a:pPr lvl="1"/>
            <a:r>
              <a:t>배차간격 · 노선 변경 · 차량 대수 · DRT 대체 · 시간대별 운행 중 택 1 (팀 내 중복 불가)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3.4 프로젝트 일정과 배점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5. 기말 프로젝트 산출물 일정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시점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산출물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단위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6주차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 구성 · 시나리오 배정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8주차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무당이 GTFS · 승하차 조사 (HW3)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9주차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수요 프로파일 · 현황 재현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11주차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O-D 100건 실제 엔진과 대조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12주차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시나리오 before-after · 발표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개인·팀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3.5 과제와 공통 평가 기준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HW1 (4주차) — 교재 2장 도로망 통계와 3장 다익스트라 구현</a:t>
            </a:r>
          </a:p>
          <a:p>
            <a:pPr/>
            <a:r>
              <a:t>HW2 (6주차) — 직접 짠 RAPTOR를 참조 결과와 대조하고 차이 설명</a:t>
            </a:r>
          </a:p>
          <a:p>
            <a:pPr/>
            <a:r>
              <a:t>HW3 (9주차) — 무당이 GTFS 작성·검증과 승하차 조사표 · 팀 제출, 8주차 휴강 대체</a:t>
            </a:r>
          </a:p>
          <a:p>
            <a:pPr/>
            <a:r>
              <a:t>공통 평가 내용: 기준 결과와의 대조 및 차이 해석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실습 환경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실행 환경 선택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4.3  </a:t>
            </a:r>
            <a:r>
              <a:t>교재와 참고 자료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실습 환경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Python 3.11</a:t>
            </a:r>
          </a:p>
          <a:p>
            <a:pPr/>
            <a:r>
              <a:t>저장소 복제 후 의존성 설치</a:t>
            </a:r>
          </a:p>
          <a:p>
            <a:pPr lvl="1"/>
            <a:r>
              <a:t>requirements.txt가 버전 고정 → 교재와 같은 그림</a:t>
            </a:r>
          </a:p>
          <a:p>
            <a:pPr/>
            <a:r>
              <a:t>설치 확인: import 한 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git clone \</a:t>
            </a:r>
          </a:p>
          <a:p>
            <a:r>
              <a:t>  https://github.com/jihoyeo/mobility-simulation-book.git</a:t>
            </a:r>
          </a:p>
          <a:p>
            <a:r>
              <a:t>cd mobility-simulation-book</a:t>
            </a:r>
          </a:p>
          <a:p>
            <a:r>
              <a:t>pip install -r requirements.txt</a:t>
            </a:r>
          </a:p>
          <a:p/>
          <a:p>
            <a:r>
              <a:t>python -c "</a:t>
            </a:r>
            <a:r>
              <a:rPr b="1"/>
              <a:t>from</a:t>
            </a:r>
            <a:r>
              <a:t> smartmob </a:t>
            </a:r>
            <a:r>
              <a:rPr b="1"/>
              <a:t>import</a:t>
            </a:r>
            <a:r>
              <a:t> Dtumos"</a:t>
            </a:r>
          </a:p>
          <a:p>
            <a:r>
              <a:rPr>
                <a:solidFill>
                  <a:srgbClr val="5E5E5E"/>
                </a:solidFill>
              </a:rPr>
              <a:t># (결과) 아무 출력 없이 끝나면 설치 성공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실행 환경 선택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기본 환경: 강의용 공용 서버</a:t>
            </a:r>
          </a:p>
          <a:p>
            <a:pPr lvl="1"/>
            <a:r>
              <a:t>서버 연결 없이도 교재의 녹화 결과로 코드 실행 가능</a:t>
            </a:r>
          </a:p>
          <a:p>
            <a:pPr/>
            <a:r>
              <a:t>엔진 내부 확인: 개인 노트북의 Docker와 사전 빌드 이미지 사용</a:t>
            </a:r>
          </a:p>
          <a:p>
            <a:pPr/>
            <a:r>
              <a:t>Google Colab: 각 장의 Colab 배지 → 첫 셀에서 smartmob.colab.bootstrap()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4.3 교재와 참고 자료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실습 환경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주교재 — *Urban Mobility Simulation* · jihoyeo.github.io/mobility-simulation-book</a:t>
            </a:r>
          </a:p>
          <a:p>
            <a:pPr lvl="1"/>
            <a:r>
              <a:t>학기 중 계속 고쳐지므로 웹으로 읽는 것이 항상 최신본, 코드는 같은 이름의 GitHub 저장소</a:t>
            </a:r>
          </a:p>
          <a:p>
            <a:pPr/>
            <a:r>
              <a:t>부교재 — 『핸즈온 머신러닝 3판』(10주차 ETA 배경), Google OR-Tools 문서(10주차 배차·물류)</a:t>
            </a:r>
          </a:p>
          <a:p>
            <a:pPr/>
            <a:r>
              <a:t>참고 논문 — OSMnx, RAPTOR, 헝가리안 방법, 라이드셰어링, SUMO · 해당 주차에 재안내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수업 운영 안내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수업 시간과 소통 채널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종강 이후 — P-실무프로젝트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5.3  </a:t>
            </a:r>
            <a:r>
              <a:t>오늘 할 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수업 시간과 소통 채널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수업 운영 안내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6. 수업 운영 정보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5410047"/>
                <a:gridCol w="54100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내용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강의 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화 13:00–14:50 · 수 15:00–16:50 (AI공학관 210호)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오피스 아워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 17:00–20:00 · gachon.webex.com/meet/jihoyeo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담당 교수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여지호 · jihoyeo@gachon.ac.kr (조교는 개강 후 공지)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소통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카카오톡 단톡방 · 이메일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학생 상담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학기 중 1인 1회 · 화·수 수업 직후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종강 이후 — P-실무프로젝트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수업 운영 안내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일정: 11-24(화)~12-10(목) 평일 10:00–12:00, 210호 · 최종발표 12-11(금)</a:t>
            </a:r>
          </a:p>
          <a:p>
            <a:pPr/>
            <a:r>
              <a:t>주제: 실제 지자체·광역교통의 버스 노선 개선안 평가</a:t>
            </a:r>
          </a:p>
          <a:p>
            <a:pPr/>
            <a:r>
              <a:t>방법: 수업에서 만든 파이프라인(GTFS 필터링 → RAPTOR → 지표)을 새 지역에 적용</a:t>
            </a:r>
          </a:p>
          <a:p>
            <a:pPr lvl="1"/>
            <a:r>
              <a:t>전국 GTFS와 수도권 생활이동 O-D 사용 · 주제 확정은 첫날 11-24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5.3 오늘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수업 운영 안내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카카오톡 단톡방 참여</a:t>
            </a:r>
          </a:p>
          <a:p>
            <a:pPr/>
            <a:r>
              <a:t>상담 일정 시트에 상담이 어려운 날짜·시간 기입</a:t>
            </a:r>
          </a:p>
          <a:p>
            <a:pPr/>
            <a:r>
              <a:t>수요일 수업 전까지 Python 3.11과 교재 저장소 설치</a:t>
            </a:r>
          </a:p>
          <a:p>
            <a:pPr lvl="1"/>
            <a:r>
              <a:t>확인: from smartmob import Dtumos 가 오류 없이 통과</a:t>
            </a:r>
          </a:p>
          <a:p>
            <a:pPr/>
            <a:r>
              <a:t>다음 수업: 수요일 15:00, 210호</a:t>
            </a:r>
          </a:p>
          <a:p>
            <a:pPr lvl="1"/>
            <a:r>
              <a:t>하남시 도로망 읽기와 첫 시뮬레이션 · 노트북 지참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수요일 15:00, 첫 시뮬레이션을 돌립니다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