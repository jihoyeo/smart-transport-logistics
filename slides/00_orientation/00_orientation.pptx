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과목 이름은 스마트 교통물류지만, 개론 수업이 아닙니다. 결과물이 하나 있는 수업입니다. 학기가 끝나면 여러분 손에 시뮬레이터 한 대가 남습니다. 이론을 먼저 다 배우고 나중에 적용하는 순서가 아니라, 만들다가 막히는 지점에서 그때 필요한 이론을 다루는 순서입니다.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그림이 학기 전체의 진도표입니다. 도로망(2~4주차), 경로 탐색(3·5·6주차), 수요(7주차), 배차와 루프(10~11주차). 매주 이 그림의 상자 하나를 채웁니다.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전부 직접 짜면 12주 안에 시뮬레이터가 완성되지 않습니다. 짧은 세 개만 직접 짜고, 나머지는 읽고 실험합니다. 직접 짠 코드는 항상 기준과 대조합니다 — 다익스트라는 NetworkX와, RAPTOR는 실제 엔진과.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3주차가 직접 구현 세 개 중 첫 번째입니다.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6주차에 기말 프로젝트를 시작합니다. 8주차는 강릉세계총회 참석으로 휴강하고 온라인 과제(HW3)로 대체합니다. 그래서 중간시험이 학사일정보다 1주 늦은 10-27입니다.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11주차에 직접 구현 세 개 중 마지막인 시뮬레이션 루프를 짜면 시뮬레이터가 완성됩니다.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 금지가 아니라 권장입니다. 다만 LLM이 짠 코드를 설명하지 못하면 시험에서 그대로 드러납니다. 대조 습관 — 무엇과 비교했고 어디가 달랐는지 — 이 과목이 기르려는 태도입니다.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출결은 결석 1회, 지각 2회까지는 차감하지 않습니다. 기말이 40%로 가장 큽니다 — 다음 장에서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학사일정상 중간고사 기간은 10-20~26이지만 8주차 휴강으로 1주 순연했습니다. 코딩테스트에서 LLM 사용을 허용하는 이유는 실무에서도 사용하기 때문입니다. 대신 문제가 "LLM에 그대로 넣으면 풀리는" 형태가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매일 타는 셔틀이 대상입니다. 데이터가 없는 상태에서 시작한다는 점이 이 프로젝트의 요점입니다. 시간표를 GTFS로 옮기고 승하차를 세어 보면, 교통 데이터가 어떻게 만들어지는지 알게 됩니다. 조사는 8주차 휴강 주에 캠퍼스에서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배점은 100점입니다. 팀 55점(데이터 20 · 정확도 20 · 발표 15), 개인 45점(설계 20 · 해석 25)이고 동료평가로 ±10% 조정합니다. 개인 45점은 자기가 맡은 시나리오의 설계와 지표 해석입니다. 팀 점수만으로 개인 점수가 정해지지 않습니다. 산출물이 수업 진도와 맞물려 있어, 수업만 따라오면 프로젝트가 저절로 쌓입니다.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무엇과 비교했고 어디가 달랐는지를 쓰는 것이 과제에서 실제로 채점하는 부분입니다. 코드가 돌아가기만 하면 되는 과제는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requirements.txt가 버전을 전부 고정해 두었으므로, 같은 버전이면 교재와 같은 그림이 나옵니다. 수요일 수업 전까지 이 네 줄이 되는 상태로 와야 합니다. 막히면 단톡방에 올리세요.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노트북 사양 걱정은 하지 않아도 됩니다. 무거운 계산은 서버가 하고, 서버에 문제가 생겨도 교재의 녹화 모드로 진도가 나갑니다.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교재는 제가 이 수업을 위해 쓰고 있는 책이고, 여러분이 첫 독자입니다. 오탈자·이상한 설명을 찾아 주면 반영합니다. 책을 사지 않아도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질문은 단톡방이 가장 빠릅니다. 상담은 전원 1회씩 진행하니, 상담이 불가능한 날짜와 시간을 오늘 시트에 적어 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기말은 무당이 한 노선으로 범위가 닫혀 있고, P-실무프로젝트는 실제 지자체 노선망을 다룹니다. 시내버스 노선 조정, 광역버스 평가, 저수요 노선 DRT 전환 같은 메뉴가 있고 자유주제는 승인제입니다. 상세는 p-practical-project 저장소에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오리엔테이션 뒤 남는 시간에 1주차 화요일분 — 교재 1장 「왜 시뮬레이션인가」 — 을 시작합니다.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오리엔테이션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오리엔테이션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오리엔테이션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오리엔테이션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오리엔테이션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오리엔테이션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오리엔테이션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스마트 교통물류 · 2026-2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오리엔테이션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스마트 교통물류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도시 모빌리티 시뮬레이터를 밑바닥부터 만드는 12주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9월 1일 (화)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Orientation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36830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이 과목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이 과목에서 만드는 것  ·  1.2 시뮬레이터의 네 부분  ·  1.3 학습 목표  ·  1.4 직접 짜는 것과 가져다 쓰는 것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12주 흐름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12주 흐름 — 1~4주차  ·  2.2 12주 흐름 — 5~8주차  ·  2.3 12주 흐름 — 9~12주차  ·  2.4 수업 방식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평가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평가 비중  ·  3.2 중간시험  ·  3.3 기말 팀 프로젝트 — 무당이  ·  3.4 프로젝트 일정과 배점  ·  3.5 과제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실습 환경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환경 설치  ·  4.2 엔진과 코랩  ·  4.3 교재와 참고 자료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운영과 오늘 할 일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운영 정보  ·  5.2 종강 이후 — P-실무프로젝트  ·  5.3 오늘 할 일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이 과목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이 과목에서 만드는 것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시뮬레이터의 네 부분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1.3  </a:t>
            </a:r>
            <a:r>
              <a:t>학습 목표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1.4  </a:t>
            </a:r>
            <a:r>
              <a:t>직접 짜는 것과 가져다 쓰는 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이 과목에서 만드는 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이 과목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결과물: 도시 모빌리티 시뮬레이터 한 대 — 12주간 밑바닥부터</a:t>
            </a:r>
          </a:p>
          <a:p>
            <a:pPr lvl="1"/>
            <a:r>
              <a:t>도로망 → 최단경로 → 환승 경로 → 수요 생성 → 배차 → 지표·시각화</a:t>
            </a:r>
          </a:p>
          <a:p>
            <a:pPr/>
            <a:r>
              <a:t>마지막 적용 대상: 가천대 교내셔틀 무당이의 개선안 분석</a:t>
            </a:r>
          </a:p>
          <a:p>
            <a:pPr/>
            <a:r>
              <a:t>데이터 분석·최적화·머신러닝은 별도 단원 없음</a:t>
            </a:r>
          </a:p>
          <a:p>
            <a:pPr lvl="1"/>
            <a:r>
              <a:t>시뮬레이터를 만들다 필요해진 지점에서 하나씩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시뮬레이터의 네 부분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이 과목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그림 1. 도로망·경로 탐색·수요·배차로 이루어진 시뮬레이터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  <p:pic>
        <p:nvPicPr>
          <p:cNvPr id="26" name="Picture 25" descr="ch01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5214132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1.3 학습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이 과목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OpenStreetMap 도로망과 GTFS 시간표를 분석 가능한 형태로 정리</a:t>
            </a:r>
          </a:p>
          <a:p>
            <a:pPr/>
            <a:r>
              <a:t>최단경로(다익스트라·A*)와 RAPTOR 직접 구현, 실제 엔진과 대조 검증</a:t>
            </a:r>
          </a:p>
          <a:p>
            <a:pPr/>
            <a:r>
              <a:t>통행 수요 생성, 배차 알고리즘 비교, 이산시간 시뮬레이션 루프 작성</a:t>
            </a:r>
          </a:p>
          <a:p>
            <a:pPr/>
            <a:r>
              <a:t>개선 시나리오 설계와 서비스율·대기시간 기반 효과 제시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1.4 직접 짜는 것과 가져다 쓰는 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이 과목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직접 작성 3개 — 라이브러리 없이</a:t>
            </a:r>
          </a:p>
          <a:p>
            <a:pPr lvl="1"/>
            <a:r>
              <a:t>최단경로 3주차 약 90줄 · RAPTOR 5주차 약 150줄 · 루프 11주차 약 150줄</a:t>
            </a:r>
          </a:p>
          <a:p>
            <a:pPr/>
            <a:r>
              <a:t>읽고 실험 — 수요 생성기, 배차 알고리즘</a:t>
            </a:r>
          </a:p>
          <a:p>
            <a:pPr lvl="1"/>
            <a:r>
              <a:t>완성된 코드에서 인자만 변경</a:t>
            </a:r>
          </a:p>
          <a:p>
            <a:pPr/>
            <a:r>
              <a:t>엔진 위임 — 무거운 계산은 DTUMOS에 HTTP 호출</a:t>
            </a:r>
          </a:p>
          <a:p>
            <a:pPr lvl="1"/>
            <a:r>
              <a:t>엔진 내부는 Rust, 이 과목의 범위 밖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12주 흐름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12주 흐름 — 1~4주차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2.2  </a:t>
            </a:r>
            <a:r>
              <a:t>12주 흐름 — 5~8주차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2.3  </a:t>
            </a:r>
            <a:r>
              <a:t>12주 흐름 — 9~12주차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2.4  </a:t>
            </a:r>
            <a:r>
              <a:t>수업 방식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12주 흐름 — 1~4주차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12주 흐름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표 1. 1~4주차 — 도로망 데이터에서 시간대별 속도까지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5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64019"/>
                <a:gridCol w="2164019"/>
                <a:gridCol w="2164019"/>
                <a:gridCol w="2164019"/>
                <a:gridCol w="2164019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주차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날짜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교재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주제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만드는 것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1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09-01·02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0·1장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환경 준비와 시뮬레이션 개요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첫 시뮬레이션 실행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2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09-08·09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도로망 데이터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OSM → 인접 리스트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3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09-15·16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밑바닥부터 최단경로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다익스트라·A* 직접 구현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4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09-22·23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4·5장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시간대별 속도 · GTFS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혼잡 반영 경로, GTFS 필터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2.2 12주 흐름 — 5~8주차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12주 흐름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표 2. 5~8주차 — 대중교통 경로 탐색에서 통행 수요까지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5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64019"/>
                <a:gridCol w="2164019"/>
                <a:gridCol w="2164019"/>
                <a:gridCol w="2164019"/>
                <a:gridCol w="2164019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주차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날짜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교재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주제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만드는 것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5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09-29·30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밑바닥부터 RAPTOR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RAPTOR 직접 구현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6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10-06·07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7장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환승·요금과 대중교통 지표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통합환승요금, 엔진 대조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7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10-13·14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8·12장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통행 수요와 결과 읽기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수요 생성, 지표·시각화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8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10-20·21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휴강 (강릉세계총회)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HW3 — 무당이 GTFS·조사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2.3 12주 흐름 — 9~12주차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12주 흐름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표 3. 9~12주차 — 중간시험에서 기말 발표까지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5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64019"/>
                <a:gridCol w="2164019"/>
                <a:gridCol w="2164019"/>
                <a:gridCol w="2164019"/>
                <a:gridCol w="2164019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주차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날짜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교재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주제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만드는 것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9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10-27·28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중간시험과 해설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프로젝트 중간 점검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10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11-03·04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9·10장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통행시간 예측과 배차 최적화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ETA 모델, 할당 문제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11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11-10·11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11장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이산시간 시뮬레이션 루프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루프 직접 구현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12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11-17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기말 프로젝트 발표 · 종강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팀 제출·발표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2.4 수업 방식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12주 흐름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화요일 개념·코드, 수요일 직접 작성과 실행 — 노트북 매 시간 지참</a:t>
            </a:r>
          </a:p>
          <a:p>
            <a:pPr/>
            <a:r>
              <a:t>수업 중 LLM 사용 — ChatGPT·Claude·Gemini 구독 권장</a:t>
            </a:r>
          </a:p>
          <a:p>
            <a:pPr lvl="1"/>
            <a:r>
              <a:t>조건: 나온 코드를 이해하고 막힌 곳을 고칠 수 있을 것 (코딩테스트에서도 사용 가능)</a:t>
            </a:r>
          </a:p>
          <a:p>
            <a:pPr/>
            <a:r>
              <a:t>"돌아간다"와 "맞다"의 구분 — 직접 짠 코드는 항상 기준과 대조</a:t>
            </a:r>
          </a:p>
          <a:p>
            <a:pPr lvl="1"/>
            <a:r>
              <a:t>이 습관이 이 과목에서 가장 오래 남는 것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평가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평가 비중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중간시험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3.3  </a:t>
            </a:r>
            <a:r>
              <a:t>기말 팀 프로젝트 — 무당이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3.4  </a:t>
            </a:r>
            <a:r>
              <a:t>프로젝트 일정과 배점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3.5  </a:t>
            </a:r>
            <a:r>
              <a:t>과제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평가 비중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평가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표 4. 평가 항목과 비중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5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606698"/>
                <a:gridCol w="3606698"/>
                <a:gridCol w="3606699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항목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비중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비고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중간시험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30%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10-27(화) · 교재 0~8장, 12장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기말 팀 프로젝트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40%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무당이 시뮬레이션과 개선 분석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과제 및 참여도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20%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HW1~HW3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출결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결석 1점(1회 유예) · 지각 0.5점(2회 유예)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중간시험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평가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일시 10-27(화) · 범위 교재 0~8장과 12장</a:t>
            </a:r>
          </a:p>
          <a:p>
            <a:pPr/>
            <a:r>
              <a:t>구성: 단답형 closed-book 40% + 코딩테스트 open-book 60%</a:t>
            </a:r>
          </a:p>
          <a:p>
            <a:pPr lvl="1"/>
            <a:r>
              <a:t>코딩테스트는 사이버캠퍼스 출제, ipynb와 데이터 제공, LLM 사용 가능</a:t>
            </a:r>
          </a:p>
          <a:p>
            <a:pPr/>
            <a:r>
              <a:t>출제 방향: 암기가 아니라 주어진 데이터에서 답을 뽑아내는 과정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3.3 기말 팀 프로젝트 — 무당이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평가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대상: 가천대 교내셔틀 무당이 — 개선 시나리오 효과를 수치로 제시</a:t>
            </a:r>
          </a:p>
          <a:p>
            <a:pPr lvl="1"/>
            <a:r>
              <a:t>4~5명 팀, 최대 6팀 · 6주차 시작, 12주차 발표</a:t>
            </a:r>
          </a:p>
          <a:p>
            <a:pPr/>
            <a:r>
              <a:t>출발 조건: GTFS 없음, 승하차 기록 없음 → 둘 다 직접 작성·조사</a:t>
            </a:r>
          </a:p>
          <a:p>
            <a:pPr/>
            <a:r>
              <a:t>분담: 팀은 현황 재현, 팀원 각자 개선 시나리오 1개</a:t>
            </a:r>
          </a:p>
          <a:p>
            <a:pPr lvl="1"/>
            <a:r>
              <a:t>배차간격 · 노선 변경 · 차량 대수 · DRT 대체 · 시간대별 운행 중 택 1 (팀 내 중복 불가)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3.4 프로젝트 일정과 배점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평가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표 5. 기말 프로젝트 산출물 일정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5" cy="358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606698"/>
                <a:gridCol w="3606698"/>
                <a:gridCol w="3606699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시점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산출물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단위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6주차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팀 구성 · 시나리오 배정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8주차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무당이 GTFS · 승하차 조사 (HW3)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9주차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수요 프로파일 · 현황 재현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11주차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O-D 100건 실제 엔진과 대조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12주차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시나리오 before-after · 발표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개인+팀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3.5 과제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평가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HW1 (4주차) — 교재 2장 도로망 통계와 3장 다익스트라 구현</a:t>
            </a:r>
          </a:p>
          <a:p>
            <a:pPr/>
            <a:r>
              <a:t>HW2 (6주차) — 직접 짠 RAPTOR를 참조 결과와 대조하고 차이 설명</a:t>
            </a:r>
          </a:p>
          <a:p>
            <a:pPr/>
            <a:r>
              <a:t>HW3 (9주차) — 무당이 GTFS 작성·검증과 승하차 조사표 · 팀 제출, 8주차 휴강 대체</a:t>
            </a:r>
          </a:p>
          <a:p>
            <a:pPr/>
            <a:r>
              <a:t>세 과제 공통 산출물: 돌아가는 코드가 아니라 기준과 대조한 결과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실습 환경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환경 설치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엔진과 코랩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4.3  </a:t>
            </a:r>
            <a:r>
              <a:t>교재와 참고 자료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환경 설치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실습 환경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Python 3.11</a:t>
            </a:r>
          </a:p>
          <a:p>
            <a:pPr/>
            <a:r>
              <a:t>저장소 복제 후 의존성 설치</a:t>
            </a:r>
          </a:p>
          <a:p>
            <a:pPr lvl="1"/>
            <a:r>
              <a:t>requirements.txt가 버전 고정 → 교재와 같은 그림</a:t>
            </a:r>
          </a:p>
          <a:p>
            <a:pPr/>
            <a:r>
              <a:t>확인: import 한 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git clone \</a:t>
            </a:r>
          </a:p>
          <a:p>
            <a:r>
              <a:t>  https://github.com/jihoyeo/mobility-simulation-book.git</a:t>
            </a:r>
          </a:p>
          <a:p>
            <a:r>
              <a:t>cd mobility-simulation-book</a:t>
            </a:r>
          </a:p>
          <a:p>
            <a:r>
              <a:t>pip install -r requirements.txt</a:t>
            </a:r>
          </a:p>
          <a:p/>
          <a:p>
            <a:r>
              <a:t>python -c "</a:t>
            </a:r>
            <a:r>
              <a:rPr b="1"/>
              <a:t>from</a:t>
            </a:r>
            <a:r>
              <a:t> smartmob </a:t>
            </a:r>
            <a:r>
              <a:rPr b="1"/>
              <a:t>import</a:t>
            </a:r>
            <a:r>
              <a:t> Dtumos"</a:t>
            </a:r>
          </a:p>
          <a:p>
            <a:r>
              <a:rPr>
                <a:solidFill>
                  <a:srgbClr val="5E5E5E"/>
                </a:solidFill>
              </a:rPr>
              <a:t># (결과) 아무 출력 없이 끝나면 설치 성공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엔진과 코랩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실습 환경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기본: 강의용 공용 서버</a:t>
            </a:r>
          </a:p>
          <a:p>
            <a:pPr lvl="1"/>
            <a:r>
              <a:t>서버 없이도 교재의 녹화 결과로 모든 코드 실행 — 복습에 추가 설치 없음</a:t>
            </a:r>
          </a:p>
          <a:p>
            <a:pPr/>
            <a:r>
              <a:t>엔진 내부 확인 실습: 각자 노트북에서 Docker · 사전 빌드 이미지 배포</a:t>
            </a:r>
          </a:p>
          <a:p>
            <a:pPr/>
            <a:r>
              <a:t>구글 코랩: 각 장의 Colab 배지 → 첫 셀에서 smartmob.colab.bootstrap()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4.3 교재와 참고 자료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실습 환경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주교재 — *Urban Mobility Simulation* · jihoyeo.github.io/mobility-simulation-book</a:t>
            </a:r>
          </a:p>
          <a:p>
            <a:pPr lvl="1"/>
            <a:r>
              <a:t>학기 중 계속 고쳐지므로 웹으로 읽는 것이 항상 최신본, 코드는 같은 이름의 GitHub 저장소</a:t>
            </a:r>
          </a:p>
          <a:p>
            <a:pPr/>
            <a:r>
              <a:t>부교재 — 『핸즈온 머신러닝 3판』(10주차 ETA 배경), Google OR-Tools 문서(10주차 배차·물류)</a:t>
            </a:r>
          </a:p>
          <a:p>
            <a:pPr/>
            <a:r>
              <a:t>참고 논문 — OSMnx, RAPTOR, 헝가리안 방법, 라이드셰어링, SUMO · 해당 주차에 재안내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운영과 오늘 할 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운영 정보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5.2  </a:t>
            </a:r>
            <a:r>
              <a:t>종강 이후 — P-실무프로젝트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5.3  </a:t>
            </a:r>
            <a:r>
              <a:t>오늘 할 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운영 정보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운영과 오늘 할 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표 6. 수업 운영 정보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5" cy="358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5410047"/>
                <a:gridCol w="5410048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항목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내용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강의 시간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화 13:00–14:50 · 수 15:00–16:50 (AI공학관 210호)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오피스 아워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수 17:00–20:00 · gachon.webex.com/meet/jihoyeo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담당 교수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여지호 · jihoyeo@gachon.ac.kr (조교는 개강 후 공지)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소통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카카오톡 단톡방 · 이메일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학생 상담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학기 중 1인 1회 · 화·수 수업 직후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5.2 종강 이후 — P-실무프로젝트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운영과 오늘 할 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일정: 11-24(화)~12-10(목) 평일 10:00–12:00, 210호 · 최종발표 12-11(금)</a:t>
            </a:r>
          </a:p>
          <a:p>
            <a:pPr/>
            <a:r>
              <a:t>주제: 자유 — 실제 지자체·광역교통의 버스 노선 개선안 평가</a:t>
            </a:r>
          </a:p>
          <a:p>
            <a:pPr/>
            <a:r>
              <a:t>방법: 수업에서 만든 파이프라인(GTFS 필터링 → RAPTOR → 지표)을 새 지역에 적용</a:t>
            </a:r>
          </a:p>
          <a:p>
            <a:pPr lvl="1"/>
            <a:r>
              <a:t>전국 GTFS와 수도권 생활이동 O-D 사용 · 주제 확정은 첫날 11-24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5.3 오늘 할 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운영과 오늘 할 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카카오톡 단톡방 참여</a:t>
            </a:r>
          </a:p>
          <a:p>
            <a:pPr/>
            <a:r>
              <a:t>상담일정 시트에 상담 불가능한 날짜·시간 기입</a:t>
            </a:r>
          </a:p>
          <a:p>
            <a:pPr/>
            <a:r>
              <a:t>수요일 수업 전까지 Python 3.11과 교재 저장소 설치</a:t>
            </a:r>
          </a:p>
          <a:p>
            <a:pPr lvl="1"/>
            <a:r>
              <a:t>확인: from smartmob import Dtumos 가 오류 없이 통과</a:t>
            </a:r>
          </a:p>
          <a:p>
            <a:pPr/>
            <a:r>
              <a:t>다음 시간 수 15:00 210호 — 하남시 도로망 읽기와 첫 시뮬레이션 · 노트북 지참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수요일 15:00, 첫 시뮬레이션을 돌립니다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