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6"/>
    <p:sldId id="265" r:id="rId5"/>
    <p:sldId id="266" r:id="rId4"/>
    <p:sldId id="267" r:id="rId3"/>
    <p:sldId id="268" r:id="rId2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목차는 표입니다. 섹션 수가 바뀌면 행을 삽입/삭제하세요.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0장에서 하남시청에서 미사역까지 몇 분 걸리는지 시뮬레이터가 알아서 계산했다. 그때 무슨 자료를 썼는지 오늘 확인한다. 3장에서 이 표를 최단경로용 자료구조로 바꾼다.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교재 2장 학습 목표와 같다. 화요일이 앞의 세 개, 수요일이 마지막 하나와 실습이다.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슬라이드는 개요만 다룬다. 세부 내용과 코드는 교재 원고와 실습 노트북에서 확인한다. 교재 저장소는 비공개이므로 초대받은 계정으로 로그인한 상태여야 주소가 열린다.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교차로와 교차로 사이를 엣지 하나로 표현했기 때문에 노드 수가 적어 보인다. 속도는 막히지 않았을 때의 값이고, 4장에서 시간대별 실측 속도로 바꾼다.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여기서 학생들이 처음 막힌다. 컬럼 목록을 먼저 출력해서 없다는 것을 확인시킨 뒤에 edge_id를 보여준다.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규칙을 짐작했으면 그 자리에서 검증하는 것이 나중에 원인을 찾는 것보다 비용이 훨씬 적다. 이 습관이 이 과목에서 가장 오래 남는다.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direction과 oneway의 분포를 교재에서 함께 출력해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highway 최다 항목은 보도(footway)다. 보행·자전거 전용이 전체 엣지의 절반을 넘는다. 거르지 않고 자동차 최단경로를 구하면 계단으로 내려가고 산책로를 가로지르는 경로가 나온다. 거리는 짧지만 차는 못 간다. 그림에서 주택가 안쪽의 촘촘한 선이 사라진다는 점을 설명하고, highway 종류별 개수는 교재에서 함께 계산한다.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DRIVE 집합의 원소를 교재에서 하나씩 읽어 준다. 왜 service와 road가 들어가는지 물어보면 좋다.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만든 결과는 load_road_graph("hanam", modes=("drive",))와 노드·엣지 수를 대조한다. modes가 방금 만든 DRIVE 필터에 해당하고, 3장부터는 이걸 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노드 좌표가 고정이라는 점을 이용한다. RoadGraph.nearest_node가 이 방식이다. KD-트리는 위경도 차이로 거리를 재므로 왜곡이 있고, 정확한 거리가 필요하면 하버사인으로 다시 계산한다.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내는 것으로 끝내지 않는다. 평균 차수 2가 무엇을 뜻하는지 학생이 먼저 말하게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HW1 명세는 assignments/hw1.md에 있고 오늘 배포한다. 다음 주 3장에서 이 인접 리스트 위에 다익스트라를 약 90줄로 짠다. 시간이 남으면 연습 2.3(WKB 형상)을 시연하고, 직선 엣지와 실제 형상의 차이가 3장 거리 오차로 이어진다는 점을 예고한다.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지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400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과목 코드 · 과목명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9659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N주차</a:t>
            </a:r>
            <a:endParaRPr lang="en-US" sz="18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8580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강의 제목</a:t>
            </a:r>
            <a:endParaRPr lang="en-US" sz="5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5778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이름 · 소속</a:t>
            </a:r>
            <a:endParaRPr lang="en-US" sz="14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685800" y="58978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날짜</a:t>
            </a: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섹션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Autofit/>
          </a:bodyPr>
          <a:lstStyle>
            <a:lvl1pPr algn="l" indent="0" marL="0">
              <a:buNone/>
              <a:def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35204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섹션 이름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949440" y="361188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1.1 하위 섹션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2장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2장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4937760" y="1417320"/>
            <a:ext cx="6565392" cy="4160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937760" y="571500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2장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685800" y="1417320"/>
            <a:ext cx="10820095" cy="4297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85216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2장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tbl" hasCustomPrompt="1"/>
          </p:nvPr>
        </p:nvSpPr>
        <p:spPr>
          <a:xfrm>
            <a:off x="685800" y="1828800"/>
            <a:ext cx="10820095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2장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tbl" hasCustomPrompt="1"/>
          </p:nvPr>
        </p:nvSpPr>
        <p:spPr>
          <a:xfrm>
            <a:off x="4937760" y="1828800"/>
            <a:ext cx="6565392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2장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코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4663440"/>
          </a:xfrm>
          <a:prstGeom prst="roundRect">
            <a:avLst>
              <a:gd name="adj" fmla="val 3268"/>
            </a:avLst>
          </a:prstGeom>
          <a:solidFill>
            <a:srgbClr val="EFEFEF"/>
          </a:solidFill>
          <a:ln/>
        </p:spPr>
        <p:txBody>
          <a:bodyPr wrap="square" lIns="228600" tIns="384048" rIns="228600" bIns="137160" rtlCol="0" anchor="t">
            <a:noAutofit/>
          </a:bodyPr>
          <a:lstStyle>
            <a:lvl1pPr algn="l" marL="0" indent="0">
              <a:lnSpc>
                <a:spcPct val="100000"/>
              </a:lnSpc>
              <a:spcAft>
                <a:spcPts val="0"/>
              </a:spcAft>
              <a:buNone/>
              <a:defRPr sz="1100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코드</a:t>
            </a:r>
            <a:endParaRPr lang="en-US" sz="1100" dirty="0"/>
          </a:p>
        </p:txBody>
      </p:sp>
      <p:sp>
        <p:nvSpPr>
          <p:cNvPr id="6" name="Text 0"/>
          <p:cNvSpPr/>
          <p:nvPr/>
        </p:nvSpPr>
        <p:spPr>
          <a:xfrm>
            <a:off x="5166360" y="1527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FAF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[ ]</a:t>
            </a:r>
            <a:endParaRPr lang="en-US" sz="900" dirty="0"/>
          </a:p>
        </p:txBody>
      </p:sp>
      <p:sp>
        <p:nvSpPr>
          <p:cNvPr id="7" name="Text 1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2장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마무리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21945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감사합니다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2461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5577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연락처</a:t>
            </a: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스마트 교통물류 · 2026-2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2주차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도로망 데이터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교재 2장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여지호 · 가천대학교 스마트시티학과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2026년 9월 8일 (화) · 9월 9일 (수)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강의 목차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교재 2장</a:t>
            </a:r>
          </a:p>
        </p:txBody>
      </p:sp>
      <p:graphicFrame>
        <p:nvGraphicFramePr>
          <p:cNvPr id="5" name="Table Placeholder 4"/>
          <p:cNvGraphicFramePr>
            <a:graphicFrameLocks noGrp="1"/>
          </p:cNvGraphicFramePr>
          <p:nvPr>
            <p:ph type="tbl" idx="103"/>
          </p:nvPr>
        </p:nvGraphicFramePr>
        <p:xfrm>
          <a:off x="685800" y="1828800"/>
          <a:ext cx="10820093" cy="44196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914631"/>
                <a:gridCol w="2560969"/>
                <a:gridCol w="7344493"/>
              </a:tblGrid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01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도입과 학습 목표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1.1 소요시간 계산의 입력 자료  ·  1.2 학습 목표  ·  1.3 교재와 실습을 여는 곳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02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2.1 도로망은 표 두 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2.1 노드 표와 엣지 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03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2.2 양 끝 노드 찾기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3.1 edge_id 안에 있는 양 끝 노드  ·  3.2 짐작한 규칙은 그 자리에서 검증  ·  3.3 방향 f와 r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04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2.3 통행수단 필터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4.1 엣지 절반은 자동차 통행 불가  ·  4.2 필터 적용 전후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05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2.4–2.5 인접 리스트와 스냅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5.1 비용은 거리가 아니라 소요시간  ·  5.2 좌표의 최근접 노드 탐색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06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2.6 실습과 정리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6.1 도로망 한 장 요약  ·  6.2 정리와 과제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1.1  </a:t>
            </a:r>
            <a:r>
              <a:t>소요시간 계산의 입력 자료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1.2  </a:t>
            </a:r>
            <a:r>
              <a:t>학습 목표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1.3  </a:t>
            </a:r>
            <a:r>
              <a:t>교재와 실습을 여는 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1.1 소요시간 계산의 입력 자료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0장의 소요시간 계산에 쓰인 자료 = 도로망</a:t>
            </a:r>
          </a:p>
          <a:p>
            <a:pPr/>
            <a:r>
              <a:t>도로망의 내용: 출발·도착 지점, 거리, 속도</a:t>
            </a:r>
          </a:p>
          <a:p>
            <a:pPr/>
            <a:r>
              <a:t>이 장의 범위: 표를 직접 열고 함정 확인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그림 1. 하남시 자동차 도로망 — 노드 12,566개, 엣지 28,589개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  <p:pic>
        <p:nvPicPr>
          <p:cNvPr id="26" name="Picture 25" descr="ch02_network_dr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17320"/>
            <a:ext cx="624078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1.2 학습 목표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노드 표와 엣지 표의 컬럼 설명</a:t>
            </a:r>
          </a:p>
          <a:p>
            <a:pPr/>
            <a:r>
              <a:t>엣지 id 파싱 → 인접 리스트 구성</a:t>
            </a:r>
          </a:p>
          <a:p>
            <a:pPr/>
            <a:r>
              <a:t>통행수단별 엣지 필터와 미적용 시의 결과</a:t>
            </a:r>
          </a:p>
          <a:p>
            <a:pPr/>
            <a:r>
              <a:t>KD-트리를 쓴 좌표 스냅 구현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1.3 교재와 실습을 여는 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저장소: github.com/jihoyeo/mobility-simulation-book — blob/main 아래 경로</a:t>
            </a:r>
          </a:p>
          <a:p>
            <a:pPr/>
            <a:r>
              <a:t>노트북 실행: jupyter lab labs/ch02_road_network.ipynb</a:t>
            </a:r>
          </a:p>
          <a:p>
            <a:pPr/>
            <a:r>
              <a:t>진행 순서: 슬라이드 개요 → 교재 본문 → 실습 노트북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1. 오늘 여는 파일과 경로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167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3282696"/>
                <a:gridCol w="3282696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자료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경로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교재 원고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ko/ch02_road_network.md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실습 노트북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labs/ch02_road_network.ipynb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2.1 도로망은 표 두 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2.1  </a:t>
            </a:r>
            <a:r>
              <a:t>노드 표와 엣지 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2.1 노드 표와 엣지 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교재 2.1 도로망은 표 두 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하남시: 노드 12,566 · 엣지 28,589</a:t>
            </a:r>
          </a:p>
          <a:p>
            <a:pPr/>
            <a:r>
              <a:t>node_type 거의 전부 교차로</a:t>
            </a:r>
          </a:p>
          <a:p>
            <a:pPr lvl="1"/>
            <a:r>
              <a:t>boundary는 시 경계 절단점</a:t>
            </a:r>
          </a:p>
          <a:p>
            <a:pPr/>
            <a:r>
              <a:t>꺾이기만 하는 중간점은 노드 아님</a:t>
            </a:r>
          </a:p>
          <a:p>
            <a:pPr/>
            <a:r>
              <a:t>length ÷ speed = 구간 소요시간 (3장의 비용)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2. 도로망을 이루는 두 파일과 주요 컬럼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167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2188464"/>
                <a:gridCol w="2188464"/>
                <a:gridCol w="2188464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표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한 행의 뜻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주요 컬럼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노드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지점 하나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node_id, lat, lon, node_type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엣지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두 지점 사이 구간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edge_id, highway, length, free_flow_speed_kmh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2.2 양 끝 노드 찾기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3.1  </a:t>
            </a:r>
            <a:r>
              <a:t>edge_id 안에 있는 양 끝 노드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3.2  </a:t>
            </a:r>
            <a:r>
              <a:t>짐작한 규칙은 그 자리에서 검증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3.3  </a:t>
            </a:r>
            <a:r>
              <a:t>방향 f와 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3.1 edge_id 안에 있는 양 끝 노드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교재 2.2 양 끝 노드 찾기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엣지 표에 source·target 컬럼 없음</a:t>
            </a:r>
          </a:p>
          <a:p>
            <a:pPr/>
            <a:r>
              <a:t>node_id = OSM 번호 앞에 n</a:t>
            </a:r>
          </a:p>
          <a:p>
            <a:pPr/>
            <a:r>
              <a:t>rsplit("_", 2)로 뒤 두 부분 분리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3. e37375263_f_445273230_436257996을 나눈 네 부분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94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3282696"/>
                <a:gridCol w="3282696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부분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뜻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e37375263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소속 OSM 도로(way) 번호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f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방향 — f 정방향, r 역방향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445273230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출발 노드 OSM 번호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436257996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도착 노드 OSM 번호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3.2 짐작한 규칙은 그 자리에서 검증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교재 2.2 양 끝 노드 찾기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검증 대상: 파싱 결과가 실제 양 끝인지</a:t>
            </a:r>
          </a:p>
          <a:p>
            <a:pPr lvl="1"/>
            <a:r>
              <a:t>대조 자료: osm_node_seq_json의 첫 원소와 마지막 원소</a:t>
            </a:r>
          </a:p>
          <a:p>
            <a:pPr lvl="1"/>
            <a:r>
              <a:t>결과: 2,000건 중 불일치 0건</a:t>
            </a:r>
          </a:p>
          <a:p>
            <a:pPr/>
            <a:r>
              <a:t>검증 생략 시 — 몇 주 뒤 원인 불명의 경로</a:t>
            </a:r>
          </a:p>
          <a:p>
            <a:pPr/>
            <a:r>
              <a:t>이 과목의 데이터 태도: 짐작 직후 검증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3.3 방향 f와 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교재 2.2 양 끝 노드 찾기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양방향 도로 = f 행 + r 행 두 줄</a:t>
            </a:r>
          </a:p>
          <a:p>
            <a:pPr/>
            <a:r>
              <a:t>일방통행 2,413개, 나머지는 양방향</a:t>
            </a:r>
          </a:p>
          <a:p>
            <a:pPr/>
            <a:r>
              <a:t>처리 방법: 각 행을 단방향 엣지로 취급</a:t>
            </a:r>
          </a:p>
          <a:p>
            <a:pPr/>
            <a:r>
              <a:t>별도 역방향 생성 불필요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2.3 통행수단 필터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4.1  </a:t>
            </a:r>
            <a:r>
              <a:t>엣지 절반은 자동차 통행 불가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4.2  </a:t>
            </a:r>
            <a:r>
              <a:t>필터 적용 전후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4.1 엣지 절반은 자동차 통행 불가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교재 2.3 통행수단 필터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그림 2. 전체 엣지(왼쪽)와 자동차 통행 엣지(오른쪽)의 비교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  <p:pic>
        <p:nvPicPr>
          <p:cNvPr id="26" name="Picture 25" descr="ch02_network_befo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4.2 필터 적용 전후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교재 2.3 통행수단 필터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DRIVE 집합: 고속도로~이면도로 15종</a:t>
            </a:r>
          </a:p>
          <a:p>
            <a:pPr/>
            <a:r>
              <a:t>종류별 중앙 속도 — 고속도로 100, 간선 60, 주택가 30 km/h</a:t>
            </a:r>
          </a:p>
          <a:p>
            <a:pPr/>
            <a:r>
              <a:t>속도 출처: OSM maxspeed 태그, 없으면 종류별 기본값</a:t>
            </a:r>
          </a:p>
          <a:p>
            <a:pPr/>
            <a:r>
              <a:t>실제 주행 속도 아님 — 4장에서 실측으로 교체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4. DRIVE 필터 적용에 따른 도로망 규모 변화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167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2188464"/>
                <a:gridCol w="2188464"/>
                <a:gridCol w="2188464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항목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필터 전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필터 후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총 연장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3,994 km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2,082 km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제외된 연장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—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1,912 km (보행로)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2.4–2.5 인접 리스트와 스냅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5.1  </a:t>
            </a:r>
            <a:r>
              <a:t>비용은 거리가 아니라 소요시간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5.2  </a:t>
            </a:r>
            <a:r>
              <a:t>좌표의 최근접 노드 탐색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5.1 비용은 거리가 아니라 소요시간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교재 2.4–2.5 인접 리스트와 스냅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인접 리스트: 노드별 나가는 엣지 목록</a:t>
            </a:r>
          </a:p>
          <a:p>
            <a:pPr/>
            <a:r>
              <a:t>목적: 매번 표를 훑지 않고 이웃 조회</a:t>
            </a:r>
          </a:p>
          <a:p>
            <a:pPr/>
            <a:r>
              <a:t>경계에서 잘린 엣지는 제외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5. 같은 200 m 구간의 도로 종류별 소요시간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167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1641348"/>
                <a:gridCol w="1641348"/>
                <a:gridCol w="1641348"/>
                <a:gridCol w="1641348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구간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길이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속도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소요시간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주택가 도로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200 m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30 km/h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24초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간선도로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200 m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60 km/h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12초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5.2 좌표의 최근접 노드 탐색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교재 2.4–2.5 인접 리스트와 스냅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호출 좌표는 노드 위치와 불일치 → 스냅 필요</a:t>
            </a:r>
          </a:p>
          <a:p>
            <a:pPr/>
            <a:r>
              <a:t>전수 탐색: 1건에 수십 ms</a:t>
            </a:r>
          </a:p>
          <a:p>
            <a:pPr/>
            <a:r>
              <a:t>승객 1,000명이면 수십 초</a:t>
            </a:r>
          </a:p>
          <a:p>
            <a:pPr/>
            <a:r>
              <a:t>KD-트리: 1회 구축 후 1,000건이 수 ms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그림 3. 하남시청 주변 노드와 스냅 결과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  <p:pic>
        <p:nvPicPr>
          <p:cNvPr id="26" name="Picture 25" descr="ch02_sn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17320"/>
            <a:ext cx="624078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2.6 실습과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6.1  </a:t>
            </a:r>
            <a:r>
              <a:t>도로망 한 장 요약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6.2  </a:t>
            </a:r>
            <a:r>
              <a:t>정리와 과제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6.1 도로망 한 장 요약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교재 2.6 실습과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산출 순서: 필터 → 인접 리스트 → 대조 → 요약</a:t>
            </a:r>
          </a:p>
          <a:p>
            <a:pPr/>
            <a:r>
              <a:t>총 연장 불일치 시 DRIVE 집합 재점검</a:t>
            </a:r>
          </a:p>
          <a:p>
            <a:pPr/>
            <a:r>
              <a:t>숫자마다 해석 한 문장 첨부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6. 하남시 자동차 도로망 요약 지표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311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2188464"/>
                <a:gridCol w="2188464"/>
                <a:gridCol w="2188464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지표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값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읽는 법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평균 차수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약 2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격자 아님 — 분기 적은 선형 구조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가장 긴 엣지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8.5 km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교차로 없는 구간 — 고속도로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총 연장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2,082 km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화요일 필터 결과와 일치 확인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6.2 정리와 과제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교재 2.6 실습과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엣지의 양 끝은 컬럼이 아니라 edge_id 안</a:t>
            </a:r>
          </a:p>
          <a:p>
            <a:pPr/>
            <a:r>
              <a:t>엣지 절반 이상이 보행로 — 필터 필수</a:t>
            </a:r>
          </a:p>
          <a:p>
            <a:pPr/>
            <a:r>
              <a:t>인접 리스트의 비용은 소요시간 (length / speed)</a:t>
            </a:r>
          </a:p>
          <a:p>
            <a:pPr/>
            <a:r>
              <a:t>HW1 (4주차 09-22 마감) — 오늘 내용과 다음 주 다익스트라</a:t>
            </a:r>
          </a:p>
          <a:p>
            <a:pPr lvl="1"/>
            <a:r>
              <a:t>A부는 오늘 만든 인접 리스트를 load_road_graph와 대조</a:t>
            </a:r>
          </a:p>
          <a:p>
            <a:pPr lvl="1"/>
            <a:r>
              <a:t>채점 대상은 코드가 아니라 대조 결과와 해석 문장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다음 주에 봅니다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교재 3장 — 최단경로 직접 구현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jihoyeo@gachon.ac.kr · AI공학관 210호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2026-08-31T14:39:01Z</dcterms:created>
  <dcterms:modified xsi:type="dcterms:W3CDTF">2026-08-31T14:39:01Z</dcterms:modified>
</cp:coreProperties>
</file>