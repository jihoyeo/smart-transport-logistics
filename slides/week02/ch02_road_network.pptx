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6"/>
    <p:sldId id="265" r:id="rId5"/>
    <p:sldId id="266" r:id="rId4"/>
    <p:sldId id="267" r:id="rId3"/>
    <p:sldId id="268" r:id="rId2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3.xml"/><Relationship Id="rId3" Type="http://schemas.openxmlformats.org/officeDocument/2006/relationships/slide" Target="slides/slide12.xml"/><Relationship Id="rId4" Type="http://schemas.openxmlformats.org/officeDocument/2006/relationships/slide" Target="slides/slide11.xml"/><Relationship Id="rId5" Type="http://schemas.openxmlformats.org/officeDocument/2006/relationships/slide" Target="slides/slide10.xml"/><Relationship Id="rId6" Type="http://schemas.openxmlformats.org/officeDocument/2006/relationships/slide" Target="slides/slide9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목차는 표입니다. 섹션 수가 바뀌면 행을 삽입/삭제하세요.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0장에서는 하남시청에서 미사역까지의 소요시간을 시뮬레이터가 계산했습니다. 이번 장에서는 그 계산에 사용한 도로망 데이터를 직접 확인합니다. 이후 3장에서 이 표를 최단경로 계산에 사용할 자료구조로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교재 2장의 학습 목표와 같습니다. 화요일에는 앞의 세 항목을 다루고, 수요일에는 좌표 스냅과 실습을 진행합니다.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슬라이드는 개요만 다룬다. 세부 내용과 코드는 교재 원고와 실습 노트북에서 확인한다. 교재 저장소는 비공개이므로 초대받은 계정으로 로그인한 상태여야 주소가 열린다.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교차로와 교차로 사이의 구간을 엣지 하나로 표현하기 때문에 노드 수가 적어 보입니다. free_flow_speed_kmh는 혼잡이 없을 때의 속도이며, 4장에서 시간대별 실측 속도로 교체합니다.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먼저 엣지 표의 컬럼 목록을 출력해 source와 target이 없다는 사실을 확인합니다. 그다음 edge_id의 구조를 살펴보고 출발 노드와 도착 노드를 찾습니다.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데이터의 규칙을 추정했다면 바로 기준 자료와 대조해야 합니다. 여기서는 osm_node_seq_json의 첫 원소와 마지막 원소를 기준으로 2,000건을 확인합니다. 이 검증을 미루면 이후 잘못된 경로가 나왔을 때 원인을 찾기 어렵습니다.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교재에서 direction과 oneway의 분포를 직접 출력합니다. 양방향 도로는 두 행, 일방통행은 한 행으로 저장된다는 점을 결과에서 확인합니다.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highway에서 가장 많은 항목은 보도인 footway입니다. 보행·자전거 전용 엣지가 전체의 절반을 넘습니다. 이를 걸러내지 않고 자동차 최단경로를 계산하면 계단이나 산책로를 통과하는 경로가 나올 수 있습니다. 그림에서 필터 적용 후 주택가 안쪽의 촘촘한 선이 사라지는 부분을 확인하고, highway 종류별 개수는 교재에서 직접 계산합니다.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교재의 DRIVE 집합을 함께 확인합니다. service와 road가 자동차용 집합에 포함된 이유를 학생들에게 질문하고, 각각 주차장 진입로·이면도로와 분류가 불명확한 도로에 해당한다는 점을 설명합니다.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직접 만든 인접 리스트의 노드·엣지 수를 load_road_graph("hanam", modes=("drive",))의 결과와 대조합니다. modes=("drive",)가 앞에서 만든 DRIVE 필터에 해당하며, 3장부터는 load_road_graph가 반환한 도로망을 사용합니다.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노드 좌표가 변하지 않는다는 점을 이용해 KD-트리를 한 번 구축합니다. RoadGraph.nearest_node도 같은 방식을 사용합니다. KD-트리는 위경도 좌표의 차이로 거리를 계산하므로 왜곡이 있습니다. 정확한 거리가 필요하면 선택된 노드까지의 거리를 하버사인 공식으로 다시 계산합니다.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계산 결과만 제시하지 않고 각 숫자가 도로망의 어떤 특성을 뜻하는지 해석합니다. 평균 차수 약 2가 의미하는 구조를 학생들이 먼저 설명하도록 요청합니다.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HW1 명세는 assignments/hw1.md에서 확인하며 이번 주에 배포합니다. 다음 주에는 이 인접 리스트를 이용해 약 90줄의 다익스트라 알고리즘을 직접 구현합니다. 시간이 남으면 연습 2.3의 WKB 형상을 시연하고, 엣지를 직선으로 표현할 때 생기는 거리 오차를 설명합니다.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표지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6400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과목 코드 · 과목명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19659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8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N주차</a:t>
            </a:r>
            <a:endParaRPr lang="en-US" sz="18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685800" y="23774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52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defRPr>
            </a:lvl1pPr>
          </a:lstStyle>
          <a:p>
            <a:pPr indent="0" marL="0">
              <a:buNone/>
            </a:pPr>
            <a:r>
              <a:rPr lang="en-US" sz="52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강의 제목</a:t>
            </a:r>
            <a:endParaRPr lang="en-US" sz="5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34747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2200" dirty="0">
                <a:solidFill>
                  <a:srgbClr val="000000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defRPr>
            </a:lvl1pPr>
          </a:lstStyle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rPr>
              <a:t>부제</a:t>
            </a:r>
            <a:endParaRPr lang="en-US" sz="22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685800" y="55778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4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이름 · 소속</a:t>
            </a:r>
            <a:endParaRPr lang="en-US" sz="1400" dirty="0"/>
          </a:p>
        </p:txBody>
      </p:sp>
      <p:sp>
        <p:nvSpPr>
          <p:cNvPr id="7" name="Text 0"/>
          <p:cNvSpPr/>
          <p:nvPr>
            <p:ph idx="105" type="body" hasCustomPrompt="1"/>
          </p:nvPr>
        </p:nvSpPr>
        <p:spPr>
          <a:xfrm>
            <a:off x="685800" y="58978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4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날짜</a:t>
            </a: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섹션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85800" y="1371600"/>
            <a:ext cx="4572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Autofit/>
          </a:bodyPr>
          <a:lstStyle>
            <a:lvl1pPr algn="l" indent="0" marL="0">
              <a:buNone/>
              <a:defRPr lang="en-US" sz="12000" dirty="0">
                <a:solidFill>
                  <a:srgbClr val="AFAFAF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defRPr>
            </a:lvl1pPr>
          </a:lstStyle>
          <a:p>
            <a:pPr indent="0" marL="0">
              <a:buNone/>
            </a:pPr>
            <a:r>
              <a:rPr lang="en-US" sz="12000" dirty="0">
                <a:solidFill>
                  <a:srgbClr val="AFAFAF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rPr>
              <a:t>01</a:t>
            </a:r>
            <a:endParaRPr lang="en-US" sz="12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85800" y="35204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44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defRPr>
            </a:lvl1pPr>
          </a:lstStyle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섹션 이름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949440" y="361188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1.1 하위 섹션</a:t>
            </a: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스마트 교통물류 · 2026-2 · 교재 2장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본문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417320"/>
            <a:ext cx="1082009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marL="228600" indent="-228600">
              <a:lnSpc>
                <a:spcPct val="115000"/>
              </a:lnSpc>
              <a:spcAft>
                <a:spcPts val="1000"/>
              </a:spcAft>
              <a:buClr>
                <a:srgbClr val="000000"/>
              </a:buClr>
              <a:buFont typeface="Arial"/>
              <a:buChar char="•"/>
              <a:defRPr sz="16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defRPr>
            </a:lvl1pPr>
            <a:lvl2pPr marL="4064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2pPr>
            <a:lvl3pPr marL="6096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3pPr>
          </a:lstStyle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본문 (Tab: 2단계 불릿)</a:t>
            </a: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스마트 교통물류 · 2026-2 · 교재 2장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본문+그림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417320"/>
            <a:ext cx="3931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marL="228600" indent="-228600">
              <a:lnSpc>
                <a:spcPct val="115000"/>
              </a:lnSpc>
              <a:spcAft>
                <a:spcPts val="1000"/>
              </a:spcAft>
              <a:buClr>
                <a:srgbClr val="000000"/>
              </a:buClr>
              <a:buFont typeface="Arial"/>
              <a:buChar char="•"/>
              <a:defRPr sz="16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defRPr>
            </a:lvl1pPr>
            <a:lvl2pPr marL="4064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2pPr>
            <a:lvl3pPr marL="6096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3pPr>
          </a:lstStyle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본문 (Tab: 2단계 불릿)</a:t>
            </a:r>
            <a:endParaRPr lang="en-US" sz="1600" dirty="0"/>
          </a:p>
        </p:txBody>
      </p:sp>
      <p:sp>
        <p:nvSpPr>
          <p:cNvPr id="5" name="Text 0"/>
          <p:cNvSpPr/>
          <p:nvPr>
            <p:ph idx="103" type="pic" hasCustomPrompt="1"/>
          </p:nvPr>
        </p:nvSpPr>
        <p:spPr>
          <a:xfrm>
            <a:off x="4937760" y="1417320"/>
            <a:ext cx="6565392" cy="4160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그림</a:t>
            </a:r>
            <a:endParaRPr lang="en-US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4937760" y="5715000"/>
            <a:ext cx="6565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그림 1. 캡션</a:t>
            </a:r>
            <a:endParaRPr lang="en-US" sz="1200" dirty="0"/>
          </a:p>
        </p:txBody>
      </p:sp>
      <p:sp>
        <p:nvSpPr>
          <p:cNvPr id="7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스마트 교통물류 · 2026-2 · 교재 2장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pic" hasCustomPrompt="1"/>
          </p:nvPr>
        </p:nvSpPr>
        <p:spPr>
          <a:xfrm>
            <a:off x="685800" y="1417320"/>
            <a:ext cx="10820095" cy="4297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그림</a:t>
            </a:r>
            <a:endParaRPr lang="en-US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85800" y="585216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그림 1. 캡션</a:t>
            </a:r>
            <a:endParaRPr lang="en-US" sz="1200" dirty="0"/>
          </a:p>
        </p:txBody>
      </p:sp>
      <p:sp>
        <p:nvSpPr>
          <p:cNvPr id="6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스마트 교통물류 · 2026-2 · 교재 2장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표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417320"/>
            <a:ext cx="10820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표 1. 캡션</a:t>
            </a:r>
            <a:endParaRPr lang="en-US" sz="1200" dirty="0"/>
          </a:p>
        </p:txBody>
      </p:sp>
      <p:sp>
        <p:nvSpPr>
          <p:cNvPr id="5" name="Text 0"/>
          <p:cNvSpPr/>
          <p:nvPr>
            <p:ph idx="103" type="tbl" hasCustomPrompt="1"/>
          </p:nvPr>
        </p:nvSpPr>
        <p:spPr>
          <a:xfrm>
            <a:off x="685800" y="1828800"/>
            <a:ext cx="10820095" cy="4251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표</a:t>
            </a:r>
            <a:endParaRPr lang="en-US" dirty="0"/>
          </a:p>
        </p:txBody>
      </p:sp>
      <p:sp>
        <p:nvSpPr>
          <p:cNvPr id="6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스마트 교통물류 · 2026-2 · 교재 2장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본문+표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417320"/>
            <a:ext cx="3931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marL="228600" indent="-228600">
              <a:lnSpc>
                <a:spcPct val="115000"/>
              </a:lnSpc>
              <a:spcAft>
                <a:spcPts val="1000"/>
              </a:spcAft>
              <a:buClr>
                <a:srgbClr val="000000"/>
              </a:buClr>
              <a:buFont typeface="Arial"/>
              <a:buChar char="•"/>
              <a:defRPr sz="16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defRPr>
            </a:lvl1pPr>
            <a:lvl2pPr marL="4064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2pPr>
            <a:lvl3pPr marL="6096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3pPr>
          </a:lstStyle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본문 (Tab: 2단계 불릿)</a:t>
            </a:r>
            <a:endParaRPr lang="en-US" sz="16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937760" y="1417320"/>
            <a:ext cx="6565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5E5E5E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표 1. 캡션</a:t>
            </a:r>
            <a:endParaRPr lang="en-US" sz="1200" dirty="0"/>
          </a:p>
        </p:txBody>
      </p:sp>
      <p:sp>
        <p:nvSpPr>
          <p:cNvPr id="6" name="Text 0"/>
          <p:cNvSpPr/>
          <p:nvPr>
            <p:ph idx="104" type="tbl" hasCustomPrompt="1"/>
          </p:nvPr>
        </p:nvSpPr>
        <p:spPr>
          <a:xfrm>
            <a:off x="4937760" y="1828800"/>
            <a:ext cx="6565392" cy="4251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표</a:t>
            </a:r>
            <a:endParaRPr lang="en-US" dirty="0"/>
          </a:p>
        </p:txBody>
      </p:sp>
      <p:sp>
        <p:nvSpPr>
          <p:cNvPr id="7" name="Text 0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스마트 교통물류 · 2026-2 · 교재 2장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본문+코드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5029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1.1 슬라이드 제목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9677095" y="667512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/>
        </p:spPr>
        <p:txBody>
          <a:bodyPr wrap="square" lIns="0" tIns="0" rIns="0" bIns="0" rtlCol="0" anchor="ctr">
            <a:noAutofit/>
          </a:bodyPr>
          <a:lstStyle>
            <a:lvl1pPr algn="ctr" indent="0" marL="0">
              <a:buNone/>
              <a:def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1. 섹션</a:t>
            </a:r>
            <a:endParaRPr lang="en-US" sz="11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1417320"/>
            <a:ext cx="393192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marL="228600" indent="-228600">
              <a:lnSpc>
                <a:spcPct val="115000"/>
              </a:lnSpc>
              <a:spcAft>
                <a:spcPts val="1000"/>
              </a:spcAft>
              <a:buClr>
                <a:srgbClr val="000000"/>
              </a:buClr>
              <a:buFont typeface="Arial"/>
              <a:buChar char="•"/>
              <a:defRPr sz="16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defRPr>
            </a:lvl1pPr>
            <a:lvl2pPr marL="4064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2pPr>
            <a:lvl3pPr marL="609600" indent="-203200">
              <a:lnSpc>
                <a:spcPct val="115000"/>
              </a:lnSpc>
              <a:spcAft>
                <a:spcPts val="600"/>
              </a:spcAft>
              <a:buClr>
                <a:srgbClr val="5E5E5E"/>
              </a:buClr>
              <a:buFont typeface="Arial"/>
              <a:buChar char="–"/>
              <a:defRPr sz="1400">
                <a:solidFill>
                  <a:srgbClr val="5E5E5E"/>
                </a:solidFill>
                <a:latin typeface="Pretendard Medium"/>
                <a:ea typeface="Pretendard Medium"/>
                <a:cs typeface="Pretendard Medium"/>
              </a:defRPr>
            </a:lvl3pPr>
          </a:lstStyle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본문 (Tab: 2단계 불릿)</a:t>
            </a:r>
            <a:endParaRPr lang="en-US" sz="16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937760" y="1417320"/>
            <a:ext cx="6565392" cy="4663440"/>
          </a:xfrm>
          <a:prstGeom prst="roundRect">
            <a:avLst>
              <a:gd name="adj" fmla="val 3268"/>
            </a:avLst>
          </a:prstGeom>
          <a:solidFill>
            <a:srgbClr val="EFEFEF"/>
          </a:solidFill>
          <a:ln/>
        </p:spPr>
        <p:txBody>
          <a:bodyPr wrap="square" lIns="228600" tIns="384048" rIns="228600" bIns="137160" rtlCol="0" anchor="t">
            <a:noAutofit/>
          </a:bodyPr>
          <a:lstStyle>
            <a:lvl1pPr algn="l" marL="0" indent="0">
              <a:lnSpc>
                <a:spcPct val="100000"/>
              </a:lnSpc>
              <a:spcAft>
                <a:spcPts val="0"/>
              </a:spcAft>
              <a:buNone/>
              <a:defRPr sz="110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코드</a:t>
            </a:r>
            <a:endParaRPr lang="en-US" sz="1100" dirty="0"/>
          </a:p>
        </p:txBody>
      </p:sp>
      <p:sp>
        <p:nvSpPr>
          <p:cNvPr id="6" name="Text 0"/>
          <p:cNvSpPr/>
          <p:nvPr/>
        </p:nvSpPr>
        <p:spPr>
          <a:xfrm>
            <a:off x="5166360" y="1527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AF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[ ]</a:t>
            </a:r>
            <a:endParaRPr lang="en-US" sz="900" dirty="0"/>
          </a:p>
        </p:txBody>
      </p:sp>
      <p:sp>
        <p:nvSpPr>
          <p:cNvPr id="7" name="Text 1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스마트 교통물류 · 2026-2 · 교재 2장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마무리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85800" y="21945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>
            <a:lvl1pPr algn="l" indent="0" marL="0">
              <a:buNone/>
              <a:defRPr lang="en-US" sz="52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defRPr>
            </a:lvl1pPr>
          </a:lstStyle>
          <a:p>
            <a:pPr indent="0" marL="0">
              <a:buNone/>
            </a:pPr>
            <a:r>
              <a:rPr lang="en-US" sz="5200" dirty="0">
                <a:solidFill>
                  <a:srgbClr val="000000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감사합니다</a:t>
            </a:r>
            <a:endParaRPr lang="en-US" sz="5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85800" y="32461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2200" dirty="0">
                <a:solidFill>
                  <a:srgbClr val="000000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defRPr>
            </a:lvl1pPr>
          </a:lstStyle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Pretendard ExtraLight" pitchFamily="34" charset="0"/>
                <a:ea typeface="Pretendard ExtraLight" pitchFamily="34" charset="-122"/>
                <a:cs typeface="Pretendard ExtraLight" pitchFamily="34" charset="-120"/>
              </a:rPr>
              <a:t>부제</a:t>
            </a:r>
            <a:endParaRPr lang="en-US" sz="2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85800" y="5577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algn="l" indent="0" marL="0">
              <a:buNone/>
              <a:defRPr lang="en-US" sz="14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defRPr>
            </a:lvl1pPr>
          </a:lstStyle>
          <a:p>
            <a:pPr indent="0" marL="0">
              <a:buNone/>
            </a:pPr>
            <a:r>
              <a:rPr lang="en-US" sz="1400" dirty="0">
                <a:solidFill>
                  <a:srgbClr val="AFAFA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연락처</a:t>
            </a:r>
            <a:endParaRPr lang="en-US" sz="14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스마트 교통물류 · 2026-2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2주차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102"/>
          </p:nvPr>
        </p:nvSpPr>
        <p:spPr/>
        <p:txBody>
          <a:bodyPr/>
          <a:lstStyle/>
          <a:p>
            <a:r>
              <a:t>도로망 데이터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r>
              <a:t>교재 2장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여지호 · 가천대학교 스마트시티학과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t>2026년 9월 8일 (화) · 9월 9일 (수)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강의 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교재 2장</a:t>
            </a:r>
          </a:p>
        </p:txBody>
      </p:sp>
      <p:graphicFrame>
        <p:nvGraphicFramePr>
          <p:cNvPr id="5" name="Table Placeholder 4"/>
          <p:cNvGraphicFramePr>
            <a:graphicFrameLocks noGrp="1"/>
          </p:cNvGraphicFramePr>
          <p:nvPr>
            <p:ph type="tbl" idx="103"/>
          </p:nvPr>
        </p:nvGraphicFramePr>
        <p:xfrm>
          <a:off x="685800" y="1828800"/>
          <a:ext cx="10820093" cy="4419600"/>
        </p:xfrm>
        <a:graphic>
          <a:graphicData uri="http://schemas.openxmlformats.org/drawingml/2006/table">
            <a:tbl>
              <a:tblPr firstRow="0" bandRow="0" firstCol="0" lastRow="0" lastCol="0" bandCol="0"/>
              <a:tblGrid>
                <a:gridCol w="914631"/>
                <a:gridCol w="2560969"/>
                <a:gridCol w="7344493"/>
              </a:tblGrid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01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도로망 데이터 소개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1.1 소요시간 계산의 입력 자료  ·  1.2 학습 목표  ·  1.3 교재와 실습을 여는 곳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02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교재 2.1 도로망의 기본 구조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2.1 노드 표와 엣지 표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03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교재 2.2 양 끝 노드 찾기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3.1 edge_id의 출발·도착 노드  ·  3.2 edge_id 파싱 결과 검증  ·  3.3 양방향 도로의 저장 방식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04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교재 2.3 통행수단 필터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4.1 자동차 통행 가능 엣지 선별  ·  4.2 필터 적용 전후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05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교재 2.4–2.5 인접 리스트와 스냅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5.1 인접 리스트의 비용: 소요시간  ·  5.2 좌표를 도로망 노드에 연결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736600">
                <a:tc>
                  <a:txBody>
                    <a:bodyPr/>
                    <a:lstStyle/>
                    <a:p>
                      <a:r>
                        <a:rPr sz="2600" b="0">
                          <a:solidFill>
                            <a:srgbClr val="000000"/>
                          </a:solidFill>
                          <a:latin typeface="Pretendard ExtraBold"/>
                        </a:rPr>
                        <a:t>06</a:t>
                      </a:r>
                    </a:p>
                  </a:txBody>
                  <a:tcPr marL="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000000"/>
                          </a:solidFill>
                          <a:latin typeface="Pretendard"/>
                        </a:rPr>
                        <a:t>교재 2.6 실습과 정리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6.1 하남시 도로망 요약  ·  6.2 정리와 과제</a:t>
                      </a:r>
                    </a:p>
                  </a:txBody>
                  <a:tcPr marL="101600" marR="101600" marT="127000" marB="1270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도로망 데이터 소개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1.1  </a:t>
            </a:r>
            <a:r>
              <a:t>소요시간 계산의 입력 자료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1.2  </a:t>
            </a:r>
            <a:r>
              <a:t>학습 목표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1.3  </a:t>
            </a:r>
            <a:r>
              <a:t>교재와 실습을 여는 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1.1 소요시간 계산의 입력 자료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1. 도로망 데이터 소개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0장의 소요시간 계산에 사용한 자료: 도로망</a:t>
            </a:r>
          </a:p>
          <a:p>
            <a:pPr/>
            <a:r>
              <a:t>도로망의 정보: 출발·도착 지점, 거리, 속도</a:t>
            </a:r>
          </a:p>
          <a:p>
            <a:pPr/>
            <a:r>
              <a:t>이번 장의 범위: 데이터 표의 구조와 처리 시 주의점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그림 1. 하남시 자동차 도로망 — 노드 12,566개, 엣지 28,589개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  <p:pic>
        <p:nvPicPr>
          <p:cNvPr id="26" name="Picture 25" descr="ch02_network_dr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417320"/>
            <a:ext cx="624078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1.2 학습 목표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1. 도로망 데이터 소개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노드 표와 엣지 표의 컬럼 설명</a:t>
            </a:r>
          </a:p>
          <a:p>
            <a:pPr/>
            <a:r>
              <a:t>엣지 id 파싱 → 인접 리스트 구성</a:t>
            </a:r>
          </a:p>
          <a:p>
            <a:pPr/>
            <a:r>
              <a:t>통행수단별 엣지 필터와 필터를 적용하지 않았을 때의 문제</a:t>
            </a:r>
          </a:p>
          <a:p>
            <a:pPr/>
            <a:r>
              <a:t>KD-트리를 이용한 좌표 스냅 구현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1.3 교재와 실습을 여는 곳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1. 도로망 데이터 소개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저장소: github.com/jihoyeo/mobility-simulation-book — blob/main 아래 경로</a:t>
            </a:r>
          </a:p>
          <a:p>
            <a:pPr/>
            <a:r>
              <a:t>노트북 실행: jupyter lab labs/ch02_road_network.ipynb</a:t>
            </a:r>
          </a:p>
          <a:p>
            <a:pPr/>
            <a:r>
              <a:t>진행 순서: 슬라이드 개요 → 교재 본문 → 실습 노트북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r>
              <a:t>표 1. 오늘 여는 파일과 경로</a:t>
            </a:r>
          </a:p>
        </p:txBody>
      </p:sp>
      <p:graphicFrame>
        <p:nvGraphicFramePr>
          <p:cNvPr id="6" name="Table Placeholder 5"/>
          <p:cNvGraphicFramePr>
            <a:graphicFrameLocks noGrp="1"/>
          </p:cNvGraphicFramePr>
          <p:nvPr>
            <p:ph type="tbl" idx="104"/>
          </p:nvPr>
        </p:nvGraphicFramePr>
        <p:xfrm>
          <a:off x="4937760" y="1828800"/>
          <a:ext cx="6565392" cy="1676400"/>
        </p:xfrm>
        <a:graphic>
          <a:graphicData uri="http://schemas.openxmlformats.org/drawingml/2006/table">
            <a:tbl>
              <a:tblPr firstRow="0" bandRow="0" firstCol="0" lastRow="0" lastCol="0" bandCol="0"/>
              <a:tblGrid>
                <a:gridCol w="3282696"/>
                <a:gridCol w="3282696"/>
              </a:tblGrid>
              <a:tr h="4064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자료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경로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교재 원고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ko/ch02_road_network.md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실습 노트북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labs/ch02_road_network.ipynb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교재 2.1 도로망의 기본 구조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2.1  </a:t>
            </a:r>
            <a:r>
              <a:t>노드 표와 엣지 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2.1 노드 표와 엣지 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2. 교재 2.1 도로망의 기본 구조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하남시: 노드 12,566 · 엣지 28,589</a:t>
            </a:r>
          </a:p>
          <a:p>
            <a:pPr/>
            <a:r>
              <a:t>node_type: 대부분 교차로</a:t>
            </a:r>
          </a:p>
          <a:p>
            <a:pPr lvl="1"/>
            <a:r>
              <a:t>boundary는 시 경계에서 잘린 지점</a:t>
            </a:r>
          </a:p>
          <a:p>
            <a:pPr/>
            <a:r>
              <a:t>도로가 휘어지는 중간 지점은 노드에서 제외</a:t>
            </a:r>
          </a:p>
          <a:p>
            <a:pPr/>
            <a:r>
              <a:t>length ÷ speed = 구간 소요시간</a:t>
            </a:r>
          </a:p>
          <a:p>
            <a:pPr lvl="1"/>
            <a:r>
              <a:t>3장에서 최단경로의 비용으로 사용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r>
              <a:t>표 2. 도로망을 이루는 두 파일과 주요 컬럼</a:t>
            </a:r>
          </a:p>
        </p:txBody>
      </p:sp>
      <p:graphicFrame>
        <p:nvGraphicFramePr>
          <p:cNvPr id="6" name="Table Placeholder 5"/>
          <p:cNvGraphicFramePr>
            <a:graphicFrameLocks noGrp="1"/>
          </p:cNvGraphicFramePr>
          <p:nvPr>
            <p:ph type="tbl" idx="104"/>
          </p:nvPr>
        </p:nvGraphicFramePr>
        <p:xfrm>
          <a:off x="4937760" y="1828800"/>
          <a:ext cx="6565392" cy="1676400"/>
        </p:xfrm>
        <a:graphic>
          <a:graphicData uri="http://schemas.openxmlformats.org/drawingml/2006/table">
            <a:tbl>
              <a:tblPr firstRow="0" bandRow="0" firstCol="0" lastRow="0" lastCol="0" bandCol="0"/>
              <a:tblGrid>
                <a:gridCol w="2188464"/>
                <a:gridCol w="2188464"/>
                <a:gridCol w="2188464"/>
              </a:tblGrid>
              <a:tr h="4064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표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한 행의 뜻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주요 컬럼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노드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지점 하나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node_id, lat, lon, node_type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엣지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두 지점 사이 구간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edge_id, highway, length, free_flow_speed_kmh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교재 2.2 양 끝 노드 찾기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3.1  </a:t>
            </a:r>
            <a:r>
              <a:t>edge_id의 출발·도착 노드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3.2  </a:t>
            </a:r>
            <a:r>
              <a:t>edge_id 파싱 결과 검증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3.3  </a:t>
            </a:r>
            <a:r>
              <a:t>양방향 도로의 저장 방식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3.1 edge_id의 출발·도착 노드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3. 교재 2.2 양 끝 노드 찾기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출발·도착 노드: source와 target 대신 edge_id에 포함</a:t>
            </a:r>
          </a:p>
          <a:p>
            <a:pPr/>
            <a:r>
              <a:t>node_id 규칙: OSM 번호 앞에 n 추가</a:t>
            </a:r>
          </a:p>
          <a:p>
            <a:pPr/>
            <a:r>
              <a:t>파싱 방법: rsplit("_", 2)로 뒤의 두 부분 분리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r>
              <a:t>표 3. e37375263_f_445273230_436257996을 나눈 네 부분</a:t>
            </a:r>
          </a:p>
        </p:txBody>
      </p:sp>
      <p:graphicFrame>
        <p:nvGraphicFramePr>
          <p:cNvPr id="6" name="Table Placeholder 5"/>
          <p:cNvGraphicFramePr>
            <a:graphicFrameLocks noGrp="1"/>
          </p:cNvGraphicFramePr>
          <p:nvPr>
            <p:ph type="tbl" idx="104"/>
          </p:nvPr>
        </p:nvGraphicFramePr>
        <p:xfrm>
          <a:off x="4937760" y="1828800"/>
          <a:ext cx="6565392" cy="2946400"/>
        </p:xfrm>
        <a:graphic>
          <a:graphicData uri="http://schemas.openxmlformats.org/drawingml/2006/table">
            <a:tbl>
              <a:tblPr firstRow="0" bandRow="0" firstCol="0" lastRow="0" lastCol="0" bandCol="0"/>
              <a:tblGrid>
                <a:gridCol w="3282696"/>
                <a:gridCol w="3282696"/>
              </a:tblGrid>
              <a:tr h="4064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부분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뜻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e37375263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소속 OSM 도로(way) 번호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f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방향 — f 정방향, r 역방향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445273230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출발 노드 OSM 번호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436257996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도착 노드 OSM 번호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3.2 edge_id 파싱 결과 검증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3. 교재 2.2 양 끝 노드 찾기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검증 대상: 파싱 결과가 실제 양 끝인지</a:t>
            </a:r>
          </a:p>
          <a:p>
            <a:pPr lvl="1"/>
            <a:r>
              <a:t>대조 자료: osm_node_seq_json의 첫 원소와 마지막 원소</a:t>
            </a:r>
          </a:p>
          <a:p>
            <a:pPr lvl="1"/>
            <a:r>
              <a:t>결과: 2,000건 중 불일치 0건</a:t>
            </a:r>
          </a:p>
          <a:p>
            <a:pPr/>
            <a:r>
              <a:t>검증을 생략하면 잘못된 경로의 원인 추적이 어려움</a:t>
            </a:r>
          </a:p>
          <a:p>
            <a:pPr/>
            <a:r>
              <a:t>데이터 처리 원칙: 규칙을 추정한 직후 기준 자료와 대조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3.3 양방향 도로의 저장 방식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3. 교재 2.2 양 끝 노드 찾기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양방향 도로 = f 행 + r 행 두 줄</a:t>
            </a:r>
          </a:p>
          <a:p>
            <a:pPr/>
            <a:r>
              <a:t>일방통행 2,413개, 나머지는 양방향</a:t>
            </a:r>
          </a:p>
          <a:p>
            <a:pPr/>
            <a:r>
              <a:t>처리 방법: 각 행을 단방향 엣지로 취급</a:t>
            </a:r>
          </a:p>
          <a:p>
            <a:pPr/>
            <a:r>
              <a:t>별도 역방향 생성 불필요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04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교재 2.3 통행수단 필터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4.1  </a:t>
            </a:r>
            <a:r>
              <a:t>자동차 통행 가능 엣지 선별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4.2  </a:t>
            </a:r>
            <a:r>
              <a:t>필터 적용 전후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4.1 자동차 통행 가능 엣지 선별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4. 교재 2.3 통행수단 필터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r>
              <a:t>그림 2. 전체 엣지(왼쪽)와 자동차 통행 엣지(오른쪽)의 비교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  <p:pic>
        <p:nvPicPr>
          <p:cNvPr id="26" name="Picture 25" descr="ch02_network_before_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17320"/>
            <a:ext cx="1078992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4.2 필터 적용 전후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4. 교재 2.3 통행수단 필터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DRIVE 집합: 고속도로~이면도로 15종</a:t>
            </a:r>
          </a:p>
          <a:p>
            <a:pPr/>
            <a:r>
              <a:t>도로 종류별 중앙 속도: 고속도로 100 · 간선도로 60 · 주택가 30 km/h</a:t>
            </a:r>
          </a:p>
          <a:p>
            <a:pPr/>
            <a:r>
              <a:t>속도 출처: OSM maxspeed 태그 · 누락 시 도로 종류별 기본값</a:t>
            </a:r>
          </a:p>
          <a:p>
            <a:pPr/>
            <a:r>
              <a:t>free_flow_speed_kmh: 실제 주행 속도가 아닌 비혼잡 속도</a:t>
            </a:r>
          </a:p>
          <a:p>
            <a:pPr lvl="1"/>
            <a:r>
              <a:t>4장에서 시간대별 실측 속도로 교체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r>
              <a:t>표 4. DRIVE 필터 적용에 따른 도로망 규모 변화</a:t>
            </a:r>
          </a:p>
        </p:txBody>
      </p:sp>
      <p:graphicFrame>
        <p:nvGraphicFramePr>
          <p:cNvPr id="6" name="Table Placeholder 5"/>
          <p:cNvGraphicFramePr>
            <a:graphicFrameLocks noGrp="1"/>
          </p:cNvGraphicFramePr>
          <p:nvPr>
            <p:ph type="tbl" idx="104"/>
          </p:nvPr>
        </p:nvGraphicFramePr>
        <p:xfrm>
          <a:off x="4937760" y="1828800"/>
          <a:ext cx="6565392" cy="1676400"/>
        </p:xfrm>
        <a:graphic>
          <a:graphicData uri="http://schemas.openxmlformats.org/drawingml/2006/table">
            <a:tbl>
              <a:tblPr firstRow="0" bandRow="0" firstCol="0" lastRow="0" lastCol="0" bandCol="0"/>
              <a:tblGrid>
                <a:gridCol w="2188464"/>
                <a:gridCol w="2188464"/>
                <a:gridCol w="2188464"/>
              </a:tblGrid>
              <a:tr h="4064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항목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필터 전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필터 후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총 연장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3,994 km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2,082 km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제외된 연장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—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1,912 km (보행로)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교재 2.4–2.5 인접 리스트와 스냅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5.1  </a:t>
            </a:r>
            <a:r>
              <a:t>인접 리스트의 비용: 소요시간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5.2  </a:t>
            </a:r>
            <a:r>
              <a:t>좌표를 도로망 노드에 연결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5.1 인접 리스트의 비용: 소요시간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5. 교재 2.4–2.5 인접 리스트와 스냅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인접 리스트: 노드별 나가는 엣지 목록</a:t>
            </a:r>
          </a:p>
          <a:p>
            <a:pPr/>
            <a:r>
              <a:t>목적: 매번 표를 훑지 않고 이웃 조회</a:t>
            </a:r>
          </a:p>
          <a:p>
            <a:pPr/>
            <a:r>
              <a:t>경계에서 잘린 엣지는 제외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r>
              <a:t>표 5. 같은 200 m 구간의 도로 종류별 소요시간</a:t>
            </a:r>
          </a:p>
        </p:txBody>
      </p:sp>
      <p:graphicFrame>
        <p:nvGraphicFramePr>
          <p:cNvPr id="6" name="Table Placeholder 5"/>
          <p:cNvGraphicFramePr>
            <a:graphicFrameLocks noGrp="1"/>
          </p:cNvGraphicFramePr>
          <p:nvPr>
            <p:ph type="tbl" idx="104"/>
          </p:nvPr>
        </p:nvGraphicFramePr>
        <p:xfrm>
          <a:off x="4937760" y="1828800"/>
          <a:ext cx="6565392" cy="1676400"/>
        </p:xfrm>
        <a:graphic>
          <a:graphicData uri="http://schemas.openxmlformats.org/drawingml/2006/table">
            <a:tbl>
              <a:tblPr firstRow="0" bandRow="0" firstCol="0" lastRow="0" lastCol="0" bandCol="0"/>
              <a:tblGrid>
                <a:gridCol w="1641348"/>
                <a:gridCol w="1641348"/>
                <a:gridCol w="1641348"/>
                <a:gridCol w="1641348"/>
              </a:tblGrid>
              <a:tr h="4064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구간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길이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속도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소요시간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주택가 도로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200 m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30 km/h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24초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간선도로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200 m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60 km/h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12초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5.2 좌표를 도로망 노드에 연결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5. 교재 2.4–2.5 인접 리스트와 스냅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호출 좌표와 노드 좌표의 불일치 → 최근접 노드로 스냅</a:t>
            </a:r>
          </a:p>
          <a:p>
            <a:pPr/>
            <a:r>
              <a:t>전수 탐색: 1건 수십 ms → 1,000건 수십 초</a:t>
            </a:r>
          </a:p>
          <a:p>
            <a:pPr/>
            <a:r>
              <a:t>KD-트리: 한 번 구축한 뒤 1,000건을 수 ms에 탐색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그림 3. 하남시청 주변 노드와 스냅 결과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  <p:pic>
        <p:nvPicPr>
          <p:cNvPr id="26" name="Picture 25" descr="ch02_sn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417320"/>
            <a:ext cx="624078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t>06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교재 2.6 실습과 정리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6.1  </a:t>
            </a:r>
            <a:r>
              <a:t>하남시 도로망 요약</a:t>
            </a:r>
          </a:p>
          <a:p>
            <a:pPr>
              <a:spcAft>
                <a:spcPts val="1000"/>
              </a:spcAft>
            </a:pPr>
            <a:r>
              <a:rPr>
                <a:solidFill>
                  <a:srgbClr val="AFAFAF"/>
                </a:solidFill>
              </a:rPr>
              <a:t>6.2  </a:t>
            </a:r>
            <a:r>
              <a:t>정리와 과제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6.1 하남시 도로망 요약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6. 교재 2.6 실습과 정리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산출 순서: 필터 → 인접 리스트 → 대조 → 요약</a:t>
            </a:r>
          </a:p>
          <a:p>
            <a:pPr/>
            <a:r>
              <a:t>총 연장 불일치 시 DRIVE 집합 재점검</a:t>
            </a:r>
          </a:p>
          <a:p>
            <a:pPr/>
            <a:r>
              <a:t>결과 작성 기준: 숫자마다 해석 한 문장 첨부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r>
              <a:t>표 6. 하남시 자동차 도로망 요약 지표</a:t>
            </a:r>
          </a:p>
        </p:txBody>
      </p:sp>
      <p:graphicFrame>
        <p:nvGraphicFramePr>
          <p:cNvPr id="6" name="Table Placeholder 5"/>
          <p:cNvGraphicFramePr>
            <a:graphicFrameLocks noGrp="1"/>
          </p:cNvGraphicFramePr>
          <p:nvPr>
            <p:ph type="tbl" idx="104"/>
          </p:nvPr>
        </p:nvGraphicFramePr>
        <p:xfrm>
          <a:off x="4937760" y="1828800"/>
          <a:ext cx="6565392" cy="2311400"/>
        </p:xfrm>
        <a:graphic>
          <a:graphicData uri="http://schemas.openxmlformats.org/drawingml/2006/table">
            <a:tbl>
              <a:tblPr firstRow="0" bandRow="0" firstCol="0" lastRow="0" lastCol="0" bandCol="0"/>
              <a:tblGrid>
                <a:gridCol w="2188464"/>
                <a:gridCol w="2188464"/>
                <a:gridCol w="2188464"/>
              </a:tblGrid>
              <a:tr h="4064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지표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값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FFFFFF"/>
                          </a:solidFill>
                          <a:latin typeface="Pretendard Medium"/>
                        </a:rPr>
                        <a:t>읽는 법</a:t>
                      </a:r>
                    </a:p>
                  </a:txBody>
                  <a:tcPr marL="101600" marR="101600" marT="76200" marB="76200" anchor="ctr">
                    <a:solidFill>
                      <a:srgbClr val="00000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평균 차수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약 2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분기가 적은 선형 구조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가장 긴 엣지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8.5 km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교차로 없는 구간 — 고속도로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Pretendard"/>
                        </a:rPr>
                        <a:t>총 연장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2,082 km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E5E5E"/>
                          </a:solidFill>
                          <a:latin typeface="Pretendard Medium"/>
                        </a:rPr>
                        <a:t>화요일 필터 결과와 일치 확인</a:t>
                      </a:r>
                    </a:p>
                  </a:txBody>
                  <a:tcPr marL="101600" marR="101600" marT="101600" marB="101600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E2E2E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6.2 정리와 과제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6. 교재 2.6 실습과 정리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pPr/>
            <a:r>
              <a:t>엣지의 양 끝 노드: 별도 컬럼이 아니라 edge_id에 포함</a:t>
            </a:r>
          </a:p>
          <a:p>
            <a:pPr/>
            <a:r>
              <a:t>자동차 경로 계산 전 통행수단 필터 적용</a:t>
            </a:r>
          </a:p>
          <a:p>
            <a:pPr/>
            <a:r>
              <a:t>인접 리스트의 비용은 소요시간 (length / speed)</a:t>
            </a:r>
          </a:p>
          <a:p>
            <a:pPr/>
            <a:r>
              <a:t>HW1 (4주차 09-22 마감) — 2장 도로망과 3장 다익스트라</a:t>
            </a:r>
          </a:p>
          <a:p>
            <a:pPr lvl="1"/>
            <a:r>
              <a:t>A부는 이번 장에서 만든 인접 리스트를 load_road_graph와 대조</a:t>
            </a:r>
          </a:p>
          <a:p>
            <a:pPr lvl="1"/>
            <a:r>
              <a:t>채점 대상은 코드가 아니라 대조 결과와 해석 문장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9149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FAFAF"/>
                </a:solidFill>
                <a:latin typeface="Pretendard Medium"/>
                <a:ea typeface="Pretendard Medium"/>
                <a:cs typeface="Pretendard Medium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다음 주에 봅니다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r>
              <a:t>교재 3장 — 최단경로 직접 구현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t>jihoyeo@gachon.ac.kr · AI공학관 210호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2026-08-31T14:39:01Z</dcterms:created>
  <dcterms:modified xsi:type="dcterms:W3CDTF">2026-08-31T14:39:01Z</dcterms:modified>
</cp:coreProperties>
</file>