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6"/>
    <p:sldId id="265" r:id="rId5"/>
    <p:sldId id="266" r:id="rId4"/>
    <p:sldId id="267" r:id="rId3"/>
    <p:sldId id="268" r:id="rId2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목차는 표입니다. 섹션 수가 바뀌면 행을 삽입/삭제하세요.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1장 도입부. 20대를 실제로 굴리기 전에 운영안을 어떻게 비교할 수 있는지 묻고 시작한다. 답은 같은 시간대의 운영 조건만 바꿔 다시 계산하는 것이다.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1장 학습 목표와 같다. 네 가지에 각각 답이 나왔는지 마지막 정리 슬라이드에서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슬라이드는 개요만 다룬다. 세부 내용과 코드는 교재 원고와 실습 노트북에서 확인한다. 교재 저장소는 비공개이므로 초대받은 계정으로 로그인한 상태여야 주소가 열린다.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12장에서 승객·운영자·도시 세 관점의 지표를 계산한다. 이 과목이 만드는 것은 결국 이 표의 오른쪽 열에 들어갈 숫자다.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차량 위치와 승객 상태를 1분 간격으로 기록한다. 차량 수만 20대에서 10대로 바꿔 다시 실행하면 같은 수요와 같은 도로망에서 두 운영안의 대기시간을 비교할 수 있다. 비교 결과는 모형에 넣은 수요와 통행시간을 전제로 한다. 호출 시각이나 통행시간이 실제와 다르면 대기시간도 달라진다. 8장에서 수요를 만들고 9장에서 통행시간 모형을 점검한다.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VISSIM 화면은 교재 그림으로 함께 본다. 화면 전체가 교차로 하나이고 차량마다 차로 위 위치를 계산한다. 세밀하게 계산할수록 입력 자료와 계산량이 함께 늘어난다. SUMO는 이 책의 질문에도 쓸 수 있지만 기본 모형은 여전히 차로 위에서 움직이는 차량이다.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직접 만든다고 해서 전부 새로 만드는 것은 아니다. 이 슬라이드가 학기 전체의 분담표에 해당한다.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1.3에서 sim.passengers의 대기시간 분위수를 직접 뽑는다. 평균과 분포를 함께 보는 습관이 이 과목 전체에 걸쳐 반복된다.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질문에 답하려면 같은 저녁을 40대로 다시 실행해야 한다. 실제 운영에서는 불가능하고 시뮬레이터에서는 인자 하나만 변경하면 된다. 다만 교재 녹화본에는 80대 결과만 있어서 40대로 실행하려면 DTUMOS 서버가 필요하다(부록 B). 11장에서 직접 짠 루프로 답한다.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배차 알고리즘은 각 차량이 승객에게 도착하는 데 몇 분이 걸리는지 알아야 한다. 이 값을 예상 도착시간(ETA, estimated time of arrival)이라고 한다. 직선거리만 쓰면 강 건너에 있는 차량을 가장 가깝다고 잘못 고를 수 있다. 3장에서 도로망 최단경로로, 9장에서 통행 기록으로 학습한 모형으로 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매주 어느 부분을 만들고 있는지 이 표로 확인시킨다. 차량 재배치 알고리즘은 이 책에서 다루지 않는다. 빈 차를 수요가 많은 곳으로 미리 옮기는 문제인데 배차와 수요 예측을 둘 다 알아야 손댈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목표 네 가지에 각각 답이 나왔는지 확인한다. 마지막 항목이 다음 시간으로 이어진다.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더 읽을거리는 교재 1장 끝에 있다. Lopez et al.(2018)은 TraCI 부분만, Horni et al.(2016)은 MATSim의 다른 접근을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400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과목 코드 · 과목명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N주차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강의 제목</a:t>
            </a:r>
            <a:endParaRPr lang="en-US" sz="5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577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이름 · 소속</a:t>
            </a:r>
            <a:endParaRPr lang="en-US" sz="14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85800" y="5897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날짜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섹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>
            <a:lvl1pPr algn="l" indent="0" marL="0">
              <a:buNone/>
              <a:def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섹션 이름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949440" y="3611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1.1 하위 섹션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1장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1장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pic" hasCustomPrompt="1"/>
          </p:nvPr>
        </p:nvSpPr>
        <p:spPr>
          <a:xfrm>
            <a:off x="4937760" y="1417320"/>
            <a:ext cx="6565392" cy="4160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937760" y="571500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1장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pic" hasCustomPrompt="1"/>
          </p:nvPr>
        </p:nvSpPr>
        <p:spPr>
          <a:xfrm>
            <a:off x="685800" y="1417320"/>
            <a:ext cx="10820095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85216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1장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5" name="Text 0"/>
          <p:cNvSpPr/>
          <p:nvPr>
            <p:ph idx="103" type="tbl" hasCustomPrompt="1"/>
          </p:nvPr>
        </p:nvSpPr>
        <p:spPr>
          <a:xfrm>
            <a:off x="685800" y="1828800"/>
            <a:ext cx="10820095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1장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6" name="Text 0"/>
          <p:cNvSpPr/>
          <p:nvPr>
            <p:ph idx="104" type="tbl" hasCustomPrompt="1"/>
          </p:nvPr>
        </p:nvSpPr>
        <p:spPr>
          <a:xfrm>
            <a:off x="4937760" y="1828800"/>
            <a:ext cx="6565392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1장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코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4663440"/>
          </a:xfrm>
          <a:prstGeom prst="roundRect">
            <a:avLst>
              <a:gd name="adj" fmla="val 3268"/>
            </a:avLst>
          </a:prstGeom>
          <a:solidFill>
            <a:srgbClr val="EFEFEF"/>
          </a:solidFill>
          <a:ln/>
        </p:spPr>
        <p:txBody>
          <a:bodyPr wrap="square" lIns="228600" tIns="384048" rIns="228600" bIns="137160" rtlCol="0" anchor="t">
            <a:noAutofit/>
          </a:bodyPr>
          <a:lstStyle>
            <a:lvl1pPr algn="l"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코드</a:t>
            </a:r>
            <a:endParaRPr lang="en-US" sz="1100" dirty="0"/>
          </a:p>
        </p:txBody>
      </p:sp>
      <p:sp>
        <p:nvSpPr>
          <p:cNvPr id="6" name="Text 0"/>
          <p:cNvSpPr/>
          <p:nvPr/>
        </p:nvSpPr>
        <p:spPr>
          <a:xfrm>
            <a:off x="516636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 ]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1장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마무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5577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연락처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스마트 교통물류 · 2026-2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1주차 화요일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왜 시뮬레이션인가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교재 1장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여지호 · 가천대학교 스마트시티학과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2026년 9월 1일 (화)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강의 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교재 1장</a:t>
            </a:r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103"/>
          </p:nvPr>
        </p:nvGraphicFramePr>
        <p:xfrm>
          <a:off x="685800" y="1828800"/>
          <a:ext cx="10820093" cy="44196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914631"/>
                <a:gridCol w="2560969"/>
                <a:gridCol w="7344493"/>
              </a:tblGrid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01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도입과 학습 목표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1.1 하남시 심야 버스 20대  ·  1.2 학습 목표  ·  1.3 교재와 실습을 여는 곳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02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1.1 좋은 모빌리티 시스템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2.1 관점에 따라 갈리는 좋음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03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1.2 시뮬레이션이 필요한 이유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3.1 한 달 운영으로 얻는 것  ·  3.2 도구별 기본 단위와 적용 범위  ·  3.3 이 책 모형의 범위와 재료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04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1.3 답 다음에 오는 질문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4.1 평균 4.1분 뒤의 분포  ·  4.2 차량 80대 중 태운 차 10대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05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1.4 시뮬레이터의 구조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5.1 시뮬레이터의 네 단계  ·  5.2 구성요소와 대응하는 장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06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정리와 연습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6.1 오늘의 정리  ·  6.2 연습과 다음 장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1.1  </a:t>
            </a:r>
            <a:r>
              <a:t>하남시 심야 버스 20대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1.2  </a:t>
            </a:r>
            <a:r>
              <a:t>학습 목표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1.3  </a:t>
            </a:r>
            <a:r>
              <a:t>교재와 실습을 여는 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1.1 하남시 심야 버스 20대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수요응답형 버스 20대 운행 시 결정 사항</a:t>
            </a:r>
          </a:p>
          <a:p>
            <a:pPr lvl="1"/>
            <a:r>
              <a:t>차고지별 배치 대수</a:t>
            </a:r>
          </a:p>
          <a:p>
            <a:pPr lvl="1"/>
            <a:r>
              <a:t>호출 중복 시 배차 순서</a:t>
            </a:r>
          </a:p>
          <a:p>
            <a:pPr/>
            <a:r>
              <a:t>배치와 배차 규칙에 따른 승객 대기시간 변화</a:t>
            </a:r>
          </a:p>
          <a:p>
            <a:pPr/>
            <a:r>
              <a:t>이 장의 범위: 운행 전에 운영안을 비교하는 방법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1.2 학습 목표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시뮬레이션과 실제 운영의 차이 — 한 문장으로 설명</a:t>
            </a:r>
          </a:p>
          <a:p>
            <a:pPr/>
            <a:r>
              <a:t>VISSIM·SUMO와 이 책 시뮬레이터의 차이</a:t>
            </a:r>
          </a:p>
          <a:p>
            <a:pPr/>
            <a:r>
              <a:t>0장 결과에서 차량 감축 가능성 질문 도출</a:t>
            </a:r>
          </a:p>
          <a:p>
            <a:pPr/>
            <a:r>
              <a:t>시뮬레이터의 네 단계와 각 장의 관계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1.3 교재와 실습을 여는 곳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저장소: github.com/jihoyeo/mobility-simulation-book — blob/main 아래 경로</a:t>
            </a:r>
          </a:p>
          <a:p>
            <a:pPr/>
            <a:r>
              <a:t>노트북 실행: jupyter lab labs/ch01_why.ipynb</a:t>
            </a:r>
          </a:p>
          <a:p>
            <a:pPr/>
            <a:r>
              <a:t>진행 순서: 슬라이드 개요 → 교재 본문 → 실습 노트북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1. 오늘 여는 파일과 경로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1676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3282696"/>
                <a:gridCol w="3282696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자료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경로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교재 원고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ko/ch01_why.md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실습 노트북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labs/ch01_why.ipynb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1.1 좋은 모빌리티 시스템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2.1  </a:t>
            </a:r>
            <a:r>
              <a:t>관점에 따라 갈리는 좋음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2.1 관점에 따라 갈리는 좋음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교재 1.1 좋은 모빌리티 시스템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대상: 사람과 물건의 이동에 쓰는 수단과 운영 체계</a:t>
            </a:r>
          </a:p>
          <a:p>
            <a:pPr lvl="1"/>
            <a:r>
              <a:t>지하철·버스·택시·자전거·도보</a:t>
            </a:r>
          </a:p>
          <a:p>
            <a:pPr/>
            <a:r>
              <a:t>충돌: 증차 → 대기 감소, 빈 차 증가</a:t>
            </a:r>
          </a:p>
          <a:p>
            <a:pPr/>
            <a:r>
              <a:t>비교 방법: 증차 10대 시 대기시간과 빈 차량 수를 함께 계산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2. 세 관점이 바라는 것과 그것을 측정하는 지표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311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2188464"/>
                <a:gridCol w="2188464"/>
                <a:gridCol w="2188464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관점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바라는 것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지표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승객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짧은 대기·통행시간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대기시간, 통행시간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운영자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차량 가동 극대화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차량당 승객 수, 가동률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도시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혼잡·배기가스 감소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총 주행거리, 공차 거리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1.2 시뮬레이션이 필요한 이유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3.1  </a:t>
            </a:r>
            <a:r>
              <a:t>한 달 운영으로 얻는 것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3.2  </a:t>
            </a:r>
            <a:r>
              <a:t>도구별 기본 단위와 적용 범위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3.3  </a:t>
            </a:r>
            <a:r>
              <a:t>이 책 모형의 범위와 재료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3.1 한 달 운영으로 얻는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교재 1.2 시뮬레이션이 필요한 이유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실제 20대 한 달 운영 → 20대와 선택한 배차 규칙의 기록 하나</a:t>
            </a:r>
          </a:p>
          <a:p>
            <a:pPr/>
            <a:r>
              <a:t>그 기록으로 답하기 어려운 질문</a:t>
            </a:r>
          </a:p>
          <a:p>
            <a:pPr lvl="1"/>
            <a:r>
              <a:t>10대였을 때의 대기시간</a:t>
            </a:r>
          </a:p>
          <a:p>
            <a:pPr lvl="1"/>
            <a:r>
              <a:t>차고지 2곳 분산 배치</a:t>
            </a:r>
          </a:p>
          <a:p>
            <a:pPr/>
            <a:r>
              <a:t>대안 비교 조건: 같은 기간을 조건만 바꿔 재관찰 — 실제 도시에서 불가</a:t>
            </a:r>
          </a:p>
          <a:p>
            <a:pPr/>
            <a:r>
              <a:t>시뮬레이션: 반복 관찰을 계산으로 대체 — 1분 간격 진행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3.2 도구별 기본 단위와 적용 범위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교재 1.2 시뮬레이션이 필요한 이유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도구 선택 기준: 분석할 질문과 필요한 해상도</a:t>
            </a:r>
          </a:p>
          <a:p>
            <a:pPr/>
            <a:r>
              <a:t>미시 교통류 시뮬레이터: 차간거리·차로 변경을 시간 단위로 계산</a:t>
            </a:r>
          </a:p>
          <a:p>
            <a:pPr/>
            <a:r>
              <a:t>상용 도구 → 배차 과정을 코드로 구현하는 실습에는 부적합</a:t>
            </a:r>
          </a:p>
          <a:p>
            <a:pPr/>
            <a:r>
              <a:t>SUMO: TraCI로 실행 중 차량 제어, 수요응답 모의도 가능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3. 세 도구의 기본 단위와 분석에 적합한 질문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311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1641348"/>
                <a:gridCol w="1641348"/>
                <a:gridCol w="1641348"/>
                <a:gridCol w="1641348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도구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기본 단위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공간 범위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적합한 질문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VISSIM·AIMSUN (상용)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차로 위 차량, 초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교차로~구역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신호 5초 증가 시 대기행렬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SUMO (오픈소스)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차로 위 차량, 초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구역~도시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위와 동일 + 파이썬 제어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이 책 (직접 작성)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노드 위 차량, 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도시 전체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차량 40대 감축 시 대기시간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3.3 이 책 모형의 범위와 재료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교재 1.2 시뮬레이션이 필요한 이유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생략하는 것: 차로 안에서의 차량 움직임</a:t>
            </a:r>
          </a:p>
          <a:p>
            <a:pPr/>
            <a:r>
              <a:t>기록하는 것: 차량이 몇 시 몇 분에 어느 노드에 있는지</a:t>
            </a:r>
          </a:p>
          <a:p>
            <a:pPr lvl="1"/>
            <a:r>
              <a:t>수강생이 배차 규칙을 코드로 바꿔 다시 실행</a:t>
            </a:r>
          </a:p>
          <a:p>
            <a:pPr/>
            <a:r>
              <a:t>재료는 이미 공개</a:t>
            </a:r>
          </a:p>
          <a:p>
            <a:pPr lvl="1"/>
            <a:r>
              <a:t>도로망 OpenStreetMap (2장) · 최단경로 직접 구현 (3장) · 시간표 GTFS (5장)</a:t>
            </a:r>
          </a:p>
          <a:p>
            <a:pPr/>
            <a:r>
              <a:t>새로 작성: 호출 발생, 배차, 차량 이동을 처리하는 코드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1.3 답 다음에 오는 질문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4.1  </a:t>
            </a:r>
            <a:r>
              <a:t>평균 4.1분 뒤의 분포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4.2  </a:t>
            </a:r>
            <a:r>
              <a:t>차량 80대 중 태운 차 10대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4.1 평균 4.1분 뒤의 분포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교재 1.3 답 다음에 오는 질문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호출 990건 전부 배차 (서비스율 1.0)</a:t>
            </a:r>
          </a:p>
          <a:p>
            <a:pPr/>
            <a:r>
              <a:t>평균 4.1분 — 오래 기다리지 않은 것으로 보이는 값</a:t>
            </a:r>
          </a:p>
          <a:p>
            <a:pPr/>
            <a:r>
              <a:t>평균 하나로는 41분 기다린 승객이 보이지 않음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4. 하남시 18:00–24:00, 택시 80대 시뮬레이션의 대기시간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946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3282696"/>
                <a:gridCol w="3282696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지표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값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평균 대기시간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4.1분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50% 분위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3분 이내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95% 분위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11분 초과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최댓값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41분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4.2 차량 80대 중 태운 차 10대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교재 1.3 답 다음에 오는 질문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시간대별 차량 상태 평균</a:t>
            </a:r>
          </a:p>
          <a:p>
            <a:pPr lvl="1"/>
            <a:r>
              <a:t>승객 태운 차 10대 · 빈 차 31대</a:t>
            </a:r>
          </a:p>
          <a:p>
            <a:pPr/>
            <a:r>
              <a:t>다음 질문: 차량 절반 감축 시 평균 대기시간과 장시간 대기 승객 수</a:t>
            </a:r>
          </a:p>
          <a:p>
            <a:pPr/>
            <a:r>
              <a:t>함께 볼 것: 990건 중 배차되지 못한 호출의 발생 여부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1.4 시뮬레이터의 구조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5.1  </a:t>
            </a:r>
            <a:r>
              <a:t>시뮬레이터의 네 단계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5.2  </a:t>
            </a:r>
            <a:r>
              <a:t>구성요소와 대응하는 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5.1 시뮬레이터의 네 단계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교재 1.4 시뮬레이터의 구조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흐름: 데이터 준비 → 모형 보정 → 서비스 운영 → 결과 분석</a:t>
            </a:r>
          </a:p>
          <a:p>
            <a:pPr/>
            <a:r>
              <a:t>서비스 운영 단계의 구성: 수요·차량 생성, 재배치, 배차, 차량 이동</a:t>
            </a:r>
          </a:p>
          <a:p>
            <a:pPr/>
            <a:r>
              <a:t>각 구성요소가 이 책의 장에 대응 — 주차별 진도의 기준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그림 1. 데이터 준비부터 결과 분석까지 시뮬레이터의 네 단계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  <p:pic>
        <p:nvPicPr>
          <p:cNvPr id="26" name="Picture 25" descr="ch01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5047724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5.2 구성요소와 대응하는 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교재 1.4 시뮬레이터의 구조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표 5. 시뮬레이터의 각 구성요소와 그것을 다루는 장</a:t>
            </a:r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103"/>
          </p:nvPr>
        </p:nvGraphicFramePr>
        <p:xfrm>
          <a:off x="685800" y="1828800"/>
          <a:ext cx="10820095" cy="3581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3606698"/>
                <a:gridCol w="3606698"/>
                <a:gridCol w="3606699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구성요소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하는 일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장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Data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도로망·시간표·통행 기록 준비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2·5·8장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Calibration · Vehicle Router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통행시간 계산과 차량 위치 갱신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3~4·9장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Demand &amp; Supply Generator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호출 시각·위치와 차량 수·초기 위치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8장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Dispatch Algorithm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호출 중복 시 차량 선택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10~11장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Outputs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대기시간·차량 상태 계산과 시각화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12장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정리와 연습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6.1  </a:t>
            </a:r>
            <a:r>
              <a:t>오늘의 정리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6.2  </a:t>
            </a:r>
            <a:r>
              <a:t>연습과 다음 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6.1 오늘의 정리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정리와 연습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시뮬레이터: 같은 하루를 조건만 바꿔 반복 실행하는 장치</a:t>
            </a:r>
          </a:p>
          <a:p>
            <a:pPr lvl="1"/>
            <a:r>
              <a:t>이 책은 차로 변경을 생략하고 호출 발생·배차·차량 이동을 직접 구현</a:t>
            </a:r>
          </a:p>
          <a:p>
            <a:pPr/>
            <a:r>
              <a:t>평균 뒤의 분포 확인 — 평균 4.1분, 최댓값 41분</a:t>
            </a:r>
          </a:p>
          <a:p>
            <a:pPr lvl="1"/>
            <a:r>
              <a:t>80대 중 태운 차 평균 10대, 빈 차 31대</a:t>
            </a:r>
          </a:p>
          <a:p>
            <a:pPr/>
            <a:r>
              <a:t>네 단계와 구성요소를 2장부터 12장까지 나누어 진행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6.2 연습과 다음 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정리와 연습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연습 1.1 ★ — 10분 초과 대기 승객의 호출 시각 분포</a:t>
            </a:r>
          </a:p>
          <a:p>
            <a:pPr lvl="1"/>
            <a:r>
              <a:t>산출물: 히스토그램 1장, 해석 2~3줄</a:t>
            </a:r>
          </a:p>
          <a:p>
            <a:pPr/>
            <a:r>
              <a:t>연습 1.2 ★★ — 승객·운영자·도시 관점별 지표 1개씩 정의</a:t>
            </a:r>
          </a:p>
          <a:p>
            <a:pPr lvl="1"/>
            <a:r>
              <a:t>산출물: 지표 3개, 각각 세 문장</a:t>
            </a:r>
          </a:p>
          <a:p>
            <a:pPr/>
            <a:r>
              <a:t>다음 장: 2장 도로망 데이터 — 데이터 준비 단계의 첫 자료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수요일에 봅니다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교재 0장 — 환경 준비와 첫 시뮬레이션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jihoyeo@gachon.ac.kr · AI공학관 210호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2026-08-31T14:39:01Z</dcterms:created>
  <dcterms:modified xsi:type="dcterms:W3CDTF">2026-08-31T14:39:01Z</dcterms:modified>
</cp:coreProperties>
</file>