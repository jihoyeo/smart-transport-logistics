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1장의 도입 사례입니다. 버스 20대를 실제로 운행하기 전에 여러 운영안을 어떻게 비교할 수 있는지 질문합니다. 같은 시간대의 수요를 두고 차량 배치와 배차 규칙만 바꿔 계산하는 것이 이 장에서 제시할 방법입니다.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1장의 학습 목표와 같습니다. 마지막 정리 슬라이드에서 네 항목에 각각 답할 수 있는지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12장에서는 승객·운영자·도시의 관점에서 지표를 계산합니다. 이번 학기에 만드는 시뮬레이터의 결과도 이 표의 오른쪽 열에 제시된 지표로 평가합니다.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차량 위치와 승객 상태를 1분 간격으로 기록합니다. 차량 수만 20대에서 10대로 바꿔 다시 계산하면 같은 수요와 도로망에서 두 운영안의 대기시간을 비교할 수 있습니다. 다만 비교 결과는 입력한 수요와 통행시간을 전제로 합니다. 호출 시각이나 통행시간이 실제와 다르면 대기시간도 달라집니다. 8장에서 수요를 만들고 9장에서 통행시간 모형을 점검합니다.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교재의 VISSIM 화면을 함께 봅니다. 화면 전체가 교차로 하나이며 차량마다 차로 위의 위치를 계산합니다. 차량 움직임을 세밀하게 표현할수록 필요한 입력 자료와 계산량도 늘어납니다. SUMO도 이 수업의 분석에 사용할 수 있지만, 기본적으로 차로 위의 개별 차량 움직임을 계산하는 도구입니다.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구성요소를 새로 작성하는 것은 아닙니다. 공개 데이터와 표준을 활용하되, 호출 발생부터 배차와 차량 이동까지의 연결 과정은 직접 구현합니다. 이 구분은 한 학기 동안의 구현 범위를 보여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1.3에서 sim.passengers의 대기시간 분위수를 직접 계산합니다. 평균만 보면 대부분의 승객이 비슷하게 기다린 것처럼 보이지만, 분포를 확인하면 장시간 대기 사례가 드러납니다. 이후 결과 분석에서도 평균과 분포를 함께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저녁의 수요를 차량 40대로 다시 계산해야 두 운영안을 비교할 수 있습니다. 시뮬레이션에서는 차량 수를 나타내는 인자만 바꾸면 됩니다. 다만 교재 녹화본에는 80대 결과만 있으므로 40대로 실행하려면 DTUMOS 서버가 필요합니다. 11장에서는 직접 구현한 시뮬레이션 루프로 같은 질문을 분석합니다.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배차 알고리즘에는 각 차량이 승객에게 도착하는 데 걸리는 시간이 필요합니다. 이 값을 예상 도착시간, 즉 ETA라고 합니다. 직선거리만 사용하면 강 건너 차량을 가장 가까운 차량으로 잘못 판단할 수 있습니다. 3장에서는 도로망 최단경로로 ETA를 계산하고, 9장에서는 통행 기록으로 학습한 모형을 사용합니다.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매주 수업을 시작할 때 이 표에서 해당 구성요소를 확인합니다. 차량 재배치 알고리즘은 이번 학기 범위에 포함하지 않습니다. 빈 차량을 수요가 많은 지역으로 미리 이동시키는 문제로, 배차와 수요 예측을 함께 다뤄야 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목표 네 가지에 답할 수 있는지 확인합니다. 시뮬레이터의 구성요소와 교재의 장을 연결한 뒤 다음 수업의 도로망 데이터로 이어갑니다.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추가 문헌은 교재 1장 끝에 정리되어 있습니다. Lopez et al.(2018)에서는 TraCI 부분을 확인하고, Horni et al.(2016)에서는 MATSim의 접근을 비교합니다.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1주차 화요일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시뮬레이션의 필요성과 구조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1장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1일 (화)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1장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운행계획 비교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하남시 심야버스 운영안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1.1 모빌리티 평가 관점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관점별 평가 기준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1.2 시뮬레이션이 필요한 이유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실제 운영 자료의 한계  ·  3.2 도구별 기본 단위와 적용 범위  ·  3.3 수업에서 구현할 모형의 범위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1.3 시뮬레이션 결과 해석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평균이 가리는 대기시간 분포  ·  4.2 차량 80대의 평균 운행 상태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1.4 시뮬레이터의 구조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시뮬레이터의 네 단계  ·  5.2 구성요소와 대응하는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정리와 연습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1장 정리  ·  6.2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운행계획 비교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하남시 심야버스 운영안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하남시 심야버스 운영안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운행계획 비교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수요응답형 버스 20대 운행 시 결정 사항</a:t>
            </a:r>
          </a:p>
          <a:p>
            <a:pPr lvl="1"/>
            <a:r>
              <a:t>차고지별 배치 대수</a:t>
            </a:r>
          </a:p>
          <a:p>
            <a:pPr lvl="1"/>
            <a:r>
              <a:t>호출 중복 시 배차 순서</a:t>
            </a:r>
          </a:p>
          <a:p>
            <a:pPr/>
            <a:r>
              <a:t>배치와 배차 규칙에 따른 승객 대기시간 변화</a:t>
            </a:r>
          </a:p>
          <a:p>
            <a:pPr/>
            <a:r>
              <a:t>이 장의 범위: 운행 전에 운영안을 비교하는 방법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운행계획 비교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시뮬레이션과 실제 운영의 차이 — 한 문장으로 설명</a:t>
            </a:r>
          </a:p>
          <a:p>
            <a:pPr/>
            <a:r>
              <a:t>VISSIM·SUMO와 이 책 시뮬레이터의 차이</a:t>
            </a:r>
          </a:p>
          <a:p>
            <a:pPr/>
            <a:r>
              <a:t>0장 결과에서 차량 감축 가능성 질문 도출</a:t>
            </a:r>
          </a:p>
          <a:p>
            <a:pPr/>
            <a:r>
              <a:t>시뮬레이터의 네 단계와 각 장의 관계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운행계획 비교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labs/ch01_why.ipynb</a:t>
            </a:r>
          </a:p>
          <a:p>
            <a:pPr/>
            <a:r>
              <a:t>진행 순서: 슬라이드 개요 → 교재 본문 → 실습 노트북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ko/ch01_why.md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labs/ch01_why.ipynb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1.1 모빌리티 평가 관점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관점별 평가 기준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관점별 평가 기준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1.1 모빌리티 평가 관점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모빌리티 시스템: 사람과 물건의 이동 수단과 운영 체계</a:t>
            </a:r>
          </a:p>
          <a:p>
            <a:pPr lvl="1"/>
            <a:r>
              <a:t>지하철·버스·택시·자전거·도보</a:t>
            </a:r>
          </a:p>
          <a:p>
            <a:pPr/>
            <a:r>
              <a:t>관점 간 충돌: 증차 → 대기시간 감소, 빈 차량 증가</a:t>
            </a:r>
          </a:p>
          <a:p>
            <a:pPr/>
            <a:r>
              <a:t>비교 예시: 차량 10대 증차 전후의 대기시간과 빈 차량 수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세 관점이 바라는 것과 그것을 측정하는 지표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관점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바라는 것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지표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승객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짧은 대기·통행시간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대기시간, 통행시간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운영자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운행 효율 향상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차량당 승객 수, 가동률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도시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혼잡·배기가스 감소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총 주행거리, 공차 거리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1.2 시뮬레이션이 필요한 이유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실제 운영 자료의 한계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도구별 기본 단위와 적용 범위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수업에서 구현할 모형의 범위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실제 운영 자료의 한계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1.2 시뮬레이션이 필요한 이유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버스 20대의 한 달 운행 기록 → 선택한 배치와 배차 규칙의 결과 한 가지</a:t>
            </a:r>
          </a:p>
          <a:p>
            <a:pPr/>
            <a:r>
              <a:t>그 기록으로 답하기 어려운 질문</a:t>
            </a:r>
          </a:p>
          <a:p>
            <a:pPr lvl="1"/>
            <a:r>
              <a:t>10대였을 때의 대기시간</a:t>
            </a:r>
          </a:p>
          <a:p>
            <a:pPr lvl="1"/>
            <a:r>
              <a:t>차고지 2곳 분산 배치</a:t>
            </a:r>
          </a:p>
          <a:p>
            <a:pPr/>
            <a:r>
              <a:t>대안 비교에 필요한 조건: 같은 기간을 운영 조건만 바꿔 반복 관찰</a:t>
            </a:r>
          </a:p>
          <a:p>
            <a:pPr/>
            <a:r>
              <a:t>시뮬레이션: 실제 반복 관찰을 1분 간격의 계산으로 대체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도구별 기본 단위와 적용 범위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1.2 시뮬레이션이 필요한 이유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도구 선택 기준: 분석할 질문과 필요한 해상도</a:t>
            </a:r>
          </a:p>
          <a:p>
            <a:pPr/>
            <a:r>
              <a:t>미시 교통류 시뮬레이터: 차간거리·차로 변경을 시간 단위로 계산</a:t>
            </a:r>
          </a:p>
          <a:p>
            <a:pPr/>
            <a:r>
              <a:t>상용 도구: 배차 과정을 직접 구현하는 실습에는 제약</a:t>
            </a:r>
          </a:p>
          <a:p>
            <a:pPr/>
            <a:r>
              <a:t>SUMO: TraCI로 실행 중 차량 제어, 수요응답 모의도 가능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세 도구의 기본 단위와 분석에 적합한 질문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도구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기본 단위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공간 범위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적합한 질문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VISSIM·AIMSUN (상용)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차로 위 차량, 초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교차로~구역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신호 5초 증가 시 대기행렬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SUMO (오픈소스)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차로 위 차량, 초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구역~도시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위와 동일 + 파이썬 제어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이 책 (직접 작성)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노드 위 차량, 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도시 전체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차량 40대 감축 시 대기시간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수업에서 구현할 모형의 범위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1.2 시뮬레이션이 필요한 이유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계산에서 제외: 차로 안의 세부 차량 움직임</a:t>
            </a:r>
          </a:p>
          <a:p>
            <a:pPr/>
            <a:r>
              <a:t>직접 기록: 분 단위 차량 위치</a:t>
            </a:r>
          </a:p>
          <a:p>
            <a:pPr lvl="1"/>
            <a:r>
              <a:t>수강생이 배차 규칙을 코드로 바꿔 다시 실행</a:t>
            </a:r>
          </a:p>
          <a:p>
            <a:pPr/>
            <a:r>
              <a:t>활용 자료와 알고리즘</a:t>
            </a:r>
          </a:p>
          <a:p>
            <a:pPr lvl="1"/>
            <a:r>
              <a:t>도로망 OpenStreetMap (2장) · 최단경로 직접 구현 (3장) · 시간표 GTFS (5장)</a:t>
            </a:r>
          </a:p>
          <a:p>
            <a:pPr/>
            <a:r>
              <a:t>직접 구현: 호출 발생, 배차, 차량 이동 처리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1.3 시뮬레이션 결과 해석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평균이 가리는 대기시간 분포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차량 80대의 평균 운행 상태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평균이 가리는 대기시간 분포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1.3 시뮬레이션 결과 해석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호출 990건 전부 배차 (서비스율 1.0)</a:t>
            </a:r>
          </a:p>
          <a:p>
            <a:pPr/>
            <a:r>
              <a:t>평균 대기시간 4.1분</a:t>
            </a:r>
          </a:p>
          <a:p>
            <a:pPr/>
            <a:r>
              <a:t>평균만으로는 확인하기 어려운 41분 대기 사례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4. 하남시 18:00–24:00, 택시 80대 시뮬레이션의 대기시간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지표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평균 대기시간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50% 분위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3분 이내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상위 5%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11분 초과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최대 대기시간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41분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차량 80대의 평균 운행 상태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1.3 시뮬레이션 결과 해석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승객 탑승 차량: 평균 10대</a:t>
            </a:r>
          </a:p>
          <a:p>
            <a:pPr/>
            <a:r>
              <a:t>빈 차량: 평균 31대</a:t>
            </a:r>
          </a:p>
          <a:p>
            <a:pPr/>
            <a:r>
              <a:t>비교 질문: 차량 40대일 때 평균 대기시간과 장시간 대기 승객 수</a:t>
            </a:r>
          </a:p>
          <a:p>
            <a:pPr/>
            <a:r>
              <a:t>추가 확인: 990건 중 미배차 호출의 발생 여부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1.4 시뮬레이터의 구조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시뮬레이터의 네 단계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구성요소와 대응하는 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시뮬레이터의 네 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1.4 시뮬레이터의 구조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흐름: 데이터 준비 → 모형 보정 → 서비스 운영 → 결과 분석</a:t>
            </a:r>
          </a:p>
          <a:p>
            <a:pPr/>
            <a:r>
              <a:t>서비스 운영 단계의 구성: 수요·차량 생성, 재배치, 배차, 차량 이동</a:t>
            </a:r>
          </a:p>
          <a:p>
            <a:pPr/>
            <a:r>
              <a:t>각 구성요소와 교재의 장을 연결해 학기 진도 구성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데이터 준비부터 결과 분석까지 시뮬레이터의 네 단계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1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5047724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구성요소와 대응하는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1.4 시뮬레이터의 구조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5. 시뮬레이터의 각 구성요소와 그것을 다루는 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358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606698"/>
                <a:gridCol w="3606698"/>
                <a:gridCol w="360669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구성요소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하는 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장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Data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도로망·시간표·통행 기록 준비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2·5·8장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Calibration · Vehicle Router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통행시간 계산과 차량 위치 갱신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3~4·9장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Demand &amp; Supply Generator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호출 시각·위치와 차량 수·초기 위치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Dispatch Algorithm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호출 중복 시 차량 선택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10~11장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Outputs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대기시간·차량 상태 계산과 시각화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12장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1장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1장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시뮬레이터: 같은 하루를 조건만 바꿔 반복 실행하는 장치</a:t>
            </a:r>
          </a:p>
          <a:p>
            <a:pPr lvl="1"/>
            <a:r>
              <a:t>이 책은 차로 변경을 생략하고 호출 발생·배차·차량 이동을 직접 구현</a:t>
            </a:r>
          </a:p>
          <a:p>
            <a:pPr/>
            <a:r>
              <a:t>평균과 분포를 함께 확인 — 평균 4.1분, 최댓값 41분</a:t>
            </a:r>
          </a:p>
          <a:p>
            <a:pPr lvl="1"/>
            <a:r>
              <a:t>80대 중 태운 차 평균 10대, 빈 차 31대</a:t>
            </a:r>
          </a:p>
          <a:p>
            <a:pPr/>
            <a:r>
              <a:t>네 단계와 구성요소를 2장부터 12장까지 나누어 진행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1.1 ★ — 10분 초과 대기 승객의 호출 시각 분포</a:t>
            </a:r>
          </a:p>
          <a:p>
            <a:pPr lvl="1"/>
            <a:r>
              <a:t>산출물: 히스토그램 1장, 해석 2~3줄</a:t>
            </a:r>
          </a:p>
          <a:p>
            <a:pPr/>
            <a:r>
              <a:t>연습 1.2 ★★ — 승객·운영자·도시 관점별 지표 1개씩 정의</a:t>
            </a:r>
          </a:p>
          <a:p>
            <a:pPr lvl="1"/>
            <a:r>
              <a:t>산출물: 지표 3개, 각각 세 문장</a:t>
            </a:r>
          </a:p>
          <a:p>
            <a:pPr/>
            <a:r>
              <a:t>다음 장: 2장 도로망 데이터 — 데이터 준비 단계의 첫 자료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수요일에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0장 — 환경 준비와 첫 시뮬레이션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