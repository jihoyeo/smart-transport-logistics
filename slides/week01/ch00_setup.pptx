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6"/>
    <p:sldId id="265" r:id="rId5"/>
    <p:sldId id="266" r:id="rId4"/>
    <p:sldId id="267" r:id="rId3"/>
    <p:sldId id="268" r:id="rId2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3.xml"/><Relationship Id="rId3" Type="http://schemas.openxmlformats.org/officeDocument/2006/relationships/slide" Target="slides/slide12.xml"/><Relationship Id="rId4" Type="http://schemas.openxmlformats.org/officeDocument/2006/relationships/slide" Target="slides/slide11.xml"/><Relationship Id="rId5" Type="http://schemas.openxmlformats.org/officeDocument/2006/relationships/slide" Target="slides/slide10.xml"/><Relationship Id="rId6" Type="http://schemas.openxmlformats.org/officeDocument/2006/relationships/slide" Target="slides/slide9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목차는 표입니다. 섹션 수가 바뀌면 행을 삽입/삭제하세요.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슬라이드는 실습 단계가 바뀔 때 사용합니다. 설치를 시작한 뒤에는 교재 0장을 화면에 표시하고 학생들이 각자 명령을 실행하도록 안내합니다.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교재 0장의 학습 목표와 같습니다. 수업을 마칠 때 네 항목을 각자 노트북에서 확인합니다. 완료하지 못한 학생은 다음 주 수업 전까지 설치를 마쳐야 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슬라이드는 개요만 다룬다. 세부 내용과 코드는 교재 원고와 실습 노트북에서 확인한다. 교재 저장소는 비공개이므로 초대받은 계정으로 로그인한 상태여야 주소가 열린다.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설치 명령은 교재 0.1을 화면에 표시하고 한 줄씩 함께 실행합니다. 오류가 발생하면 명령과 오류 메시지를 확인하고, 먼저 설치를 마친 학생은 주변 학생의 진행을 도와주도록 안내합니다.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하남시 전체 도로망인데도 노드 수가 적어 보이는 이유를 설명합니다. 도로가 꺾이는 지점까지 모두 노드로 두지 않고, 교차로와 막다른 길만 노드로 사용하기 때문입니다. modes 인자는 2장에서 자세히 다룹니다.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공용 서버 주소와 팀별 포트는 단톡방으로 안내합니다. 서버에 연결할 수 없으면 저장소의 data/fixtures/에 보관된 실제 실행 결과를 대신 반환합니다.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학생들이 FixtureMissing을 코드 오류로 오해하지 않도록 녹화본의 범위를 설명합니다. 교재에 없는 조건으로 실행하려면 실제 서버에 연결해야 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각 인자와 값을 교재의 실행 코드에서 확인합니다. 시간을 자정부터 지난 분을 나타내는 정수로 표현하는 규칙은 11장의 시뮬레이션 루프에서도 그대로 사용합니다.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평균 대기시간은 짧지만 차량 가동률은 27%입니다. 같은 수요와 도로망에서 차량을 40대로 줄였을 때 대기시간과 서비스율이 어떻게 달라지는지 비교할 필요가 있습니다. 이 비교에 필요한 시뮬레이터를 이후 장에서 단계별로 구현합니다.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plot_record(sim.record)로 만든 그림입니다. 설명하기 전에 학생들에게 마지막 30분의 변화를 먼저 찾아보도록 요청합니다.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fleet_size가 80이어도 모든 차량이 전 시간대에 근무하는 것은 아닙니다. 결과를 해석할 때는 전체 차량 수와 해당 시각의 근무 차량 수를 구분해야 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학습 목표 네 가지를 각자 노트북에서 확인했는지 점검합니다. 설치가 끝나지 않은 학생의 오류 유형과 후속 지원 방법도 확인합니다.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서비스율이 1.0인데도 차량 감축을 검토하는 이유를 질문합니다. 평균 대기시간뿐 아니라 가동률 0.27도 함께 해석하도록 유도합니다.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표지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4008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과목 코드 · 과목명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85800" y="196596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8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8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N주차</a:t>
            </a:r>
            <a:endParaRPr lang="en-US" sz="18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685800" y="237744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5200" dirty="0">
                <a:solidFill>
                  <a:srgbClr val="000000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defRPr>
            </a:lvl1pPr>
          </a:lstStyle>
          <a:p>
            <a:pPr indent="0" marL="0">
              <a:buNone/>
            </a:pPr>
            <a:r>
              <a:rPr lang="en-US" sz="5200" dirty="0">
                <a:solidFill>
                  <a:srgbClr val="000000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강의 제목</a:t>
            </a:r>
            <a:endParaRPr lang="en-US" sz="52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34747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2200" dirty="0">
                <a:solidFill>
                  <a:srgbClr val="000000"/>
                </a:solidFill>
                <a:latin typeface="Pretendard ExtraLight" pitchFamily="34" charset="0"/>
                <a:ea typeface="Pretendard ExtraLight" pitchFamily="34" charset="-122"/>
                <a:cs typeface="Pretendard ExtraLight" pitchFamily="34" charset="-120"/>
              </a:defRPr>
            </a:lvl1pPr>
          </a:lstStyle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Pretendard ExtraLight" pitchFamily="34" charset="0"/>
                <a:ea typeface="Pretendard ExtraLight" pitchFamily="34" charset="-122"/>
                <a:cs typeface="Pretendard ExtraLight" pitchFamily="34" charset="-120"/>
              </a:rPr>
              <a:t>부제</a:t>
            </a:r>
            <a:endParaRPr lang="en-US" sz="22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85800" y="557784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4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이름 · 소속</a:t>
            </a:r>
            <a:endParaRPr lang="en-US" sz="14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685800" y="589788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4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4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날짜</a:t>
            </a:r>
            <a:endParaRPr lang="en-US" sz="1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섹션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Autofit/>
          </a:bodyPr>
          <a:lstStyle>
            <a:lvl1pPr algn="l" indent="0" marL="0">
              <a:buNone/>
              <a:defRPr lang="en-US" sz="12000" dirty="0">
                <a:solidFill>
                  <a:srgbClr val="AFAFAF"/>
                </a:solidFill>
                <a:latin typeface="Pretendard ExtraLight" pitchFamily="34" charset="0"/>
                <a:ea typeface="Pretendard ExtraLight" pitchFamily="34" charset="-122"/>
                <a:cs typeface="Pretendard ExtraLight" pitchFamily="34" charset="-120"/>
              </a:defRPr>
            </a:lvl1pPr>
          </a:lstStyle>
          <a:p>
            <a:pPr indent="0" marL="0">
              <a:buNone/>
            </a:pPr>
            <a:r>
              <a:rPr lang="en-US" sz="12000" dirty="0">
                <a:solidFill>
                  <a:srgbClr val="AFAFAF"/>
                </a:solidFill>
                <a:latin typeface="Pretendard ExtraLight" pitchFamily="34" charset="0"/>
                <a:ea typeface="Pretendard ExtraLight" pitchFamily="34" charset="-122"/>
                <a:cs typeface="Pretendard ExtraLight" pitchFamily="34" charset="-120"/>
              </a:rPr>
              <a:t>01</a:t>
            </a:r>
            <a:endParaRPr lang="en-US" sz="12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352044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4400" dirty="0">
                <a:solidFill>
                  <a:srgbClr val="000000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defRPr>
            </a:lvl1pPr>
          </a:lstStyle>
          <a:p>
            <a:pPr indent="0" marL="0">
              <a:buNone/>
            </a:pPr>
            <a:r>
              <a:rPr lang="en-US" sz="4400" dirty="0">
                <a:solidFill>
                  <a:srgbClr val="000000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섹션 이름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949440" y="3611880"/>
            <a:ext cx="45720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6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1.1 하위 섹션</a:t>
            </a:r>
            <a:endParaRPr lang="en-US" sz="1600" dirty="0"/>
          </a:p>
        </p:txBody>
      </p:sp>
      <p:sp>
        <p:nvSpPr>
          <p:cNvPr id="5" name="Text 0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스마트 교통물류 · 2026-2 · 교재 0장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본문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 슬라이드 제목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677095" y="667512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 섹션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1417320"/>
            <a:ext cx="10820095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marL="228600" indent="-228600">
              <a:lnSpc>
                <a:spcPct val="115000"/>
              </a:lnSpc>
              <a:spcAft>
                <a:spcPts val="1000"/>
              </a:spcAft>
              <a:buClr>
                <a:srgbClr val="000000"/>
              </a:buClr>
              <a:buFont typeface="Arial"/>
              <a:buChar char="•"/>
              <a:defRPr sz="160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defRPr>
            </a:lvl1pPr>
            <a:lvl2pPr marL="4064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2pPr>
            <a:lvl3pPr marL="6096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3pPr>
          </a:lstStyle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본문 (Tab: 2단계 불릿)</a:t>
            </a:r>
            <a:endParaRPr lang="en-US" sz="1600" dirty="0"/>
          </a:p>
        </p:txBody>
      </p:sp>
      <p:sp>
        <p:nvSpPr>
          <p:cNvPr id="5" name="Text 0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스마트 교통물류 · 2026-2 · 교재 0장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본문+그림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 슬라이드 제목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677095" y="667512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 섹션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1417320"/>
            <a:ext cx="3931920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marL="228600" indent="-228600">
              <a:lnSpc>
                <a:spcPct val="115000"/>
              </a:lnSpc>
              <a:spcAft>
                <a:spcPts val="1000"/>
              </a:spcAft>
              <a:buClr>
                <a:srgbClr val="000000"/>
              </a:buClr>
              <a:buFont typeface="Arial"/>
              <a:buChar char="•"/>
              <a:defRPr sz="160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defRPr>
            </a:lvl1pPr>
            <a:lvl2pPr marL="4064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2pPr>
            <a:lvl3pPr marL="6096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3pPr>
          </a:lstStyle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본문 (Tab: 2단계 불릿)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pic" hasCustomPrompt="1"/>
          </p:nvPr>
        </p:nvSpPr>
        <p:spPr>
          <a:xfrm>
            <a:off x="4937760" y="1417320"/>
            <a:ext cx="6565392" cy="4160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그림</a:t>
            </a:r>
            <a:endParaRPr lang="en-US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4937760" y="5715000"/>
            <a:ext cx="65653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그림 1. 캡션</a:t>
            </a:r>
            <a:endParaRPr lang="en-US" sz="1200" dirty="0"/>
          </a:p>
        </p:txBody>
      </p:sp>
      <p:sp>
        <p:nvSpPr>
          <p:cNvPr id="7" name="Text 0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스마트 교통물류 · 2026-2 · 교재 0장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그림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 슬라이드 제목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677095" y="667512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 섹션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pic" hasCustomPrompt="1"/>
          </p:nvPr>
        </p:nvSpPr>
        <p:spPr>
          <a:xfrm>
            <a:off x="685800" y="1417320"/>
            <a:ext cx="10820095" cy="42976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그림</a:t>
            </a:r>
            <a:endParaRPr lang="en-US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5852160"/>
            <a:ext cx="108200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그림 1. 캡션</a:t>
            </a:r>
            <a:endParaRPr lang="en-US" sz="1200" dirty="0"/>
          </a:p>
        </p:txBody>
      </p:sp>
      <p:sp>
        <p:nvSpPr>
          <p:cNvPr id="6" name="Text 0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스마트 교통물류 · 2026-2 · 교재 0장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표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 슬라이드 제목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677095" y="667512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 섹션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1417320"/>
            <a:ext cx="108200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표 1. 캡션</a:t>
            </a:r>
            <a:endParaRPr lang="en-US" sz="1200" dirty="0"/>
          </a:p>
        </p:txBody>
      </p:sp>
      <p:sp>
        <p:nvSpPr>
          <p:cNvPr id="5" name="Text 0"/>
          <p:cNvSpPr/>
          <p:nvPr>
            <p:ph idx="103" type="tbl" hasCustomPrompt="1"/>
          </p:nvPr>
        </p:nvSpPr>
        <p:spPr>
          <a:xfrm>
            <a:off x="685800" y="1828800"/>
            <a:ext cx="10820095" cy="4251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표</a:t>
            </a:r>
            <a:endParaRPr lang="en-US" dirty="0"/>
          </a:p>
        </p:txBody>
      </p:sp>
      <p:sp>
        <p:nvSpPr>
          <p:cNvPr id="6" name="Text 0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스마트 교통물류 · 2026-2 · 교재 0장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본문+표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 슬라이드 제목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677095" y="667512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 섹션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1417320"/>
            <a:ext cx="3931920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marL="228600" indent="-228600">
              <a:lnSpc>
                <a:spcPct val="115000"/>
              </a:lnSpc>
              <a:spcAft>
                <a:spcPts val="1000"/>
              </a:spcAft>
              <a:buClr>
                <a:srgbClr val="000000"/>
              </a:buClr>
              <a:buFont typeface="Arial"/>
              <a:buChar char="•"/>
              <a:defRPr sz="160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defRPr>
            </a:lvl1pPr>
            <a:lvl2pPr marL="4064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2pPr>
            <a:lvl3pPr marL="6096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3pPr>
          </a:lstStyle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본문 (Tab: 2단계 불릿)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937760" y="1417320"/>
            <a:ext cx="65653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200" dirty="0">
                <a:solidFill>
                  <a:srgbClr val="5E5E5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표 1. 캡션</a:t>
            </a:r>
            <a:endParaRPr lang="en-US" sz="1200" dirty="0"/>
          </a:p>
        </p:txBody>
      </p:sp>
      <p:sp>
        <p:nvSpPr>
          <p:cNvPr id="6" name="Text 0"/>
          <p:cNvSpPr/>
          <p:nvPr>
            <p:ph idx="104" type="tbl" hasCustomPrompt="1"/>
          </p:nvPr>
        </p:nvSpPr>
        <p:spPr>
          <a:xfrm>
            <a:off x="4937760" y="1828800"/>
            <a:ext cx="6565392" cy="4251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표</a:t>
            </a:r>
            <a:endParaRPr lang="en-US" dirty="0"/>
          </a:p>
        </p:txBody>
      </p:sp>
      <p:sp>
        <p:nvSpPr>
          <p:cNvPr id="7" name="Text 0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스마트 교통물류 · 2026-2 · 교재 0장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본문+코드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5029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indent="0" marL="0">
              <a:buNone/>
            </a:pPr>
            <a:r>
              <a:rPr lang="en-US" sz="28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 슬라이드 제목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677095" y="667512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EFEFEF"/>
          </a:solidFill>
          <a:ln/>
        </p:spPr>
        <p:txBody>
          <a:bodyPr wrap="square" lIns="0" tIns="0" rIns="0" bIns="0" rtlCol="0" anchor="ctr">
            <a:noAutofit/>
          </a:bodyPr>
          <a:lstStyle>
            <a:lvl1pPr algn="ctr" indent="0" marL="0">
              <a:buNone/>
              <a:def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1. 섹션</a:t>
            </a:r>
            <a:endParaRPr lang="en-US" sz="11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1417320"/>
            <a:ext cx="3931920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marL="228600" indent="-228600">
              <a:lnSpc>
                <a:spcPct val="115000"/>
              </a:lnSpc>
              <a:spcAft>
                <a:spcPts val="1000"/>
              </a:spcAft>
              <a:buClr>
                <a:srgbClr val="000000"/>
              </a:buClr>
              <a:buFont typeface="Arial"/>
              <a:buChar char="•"/>
              <a:defRPr sz="1600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defRPr>
            </a:lvl1pPr>
            <a:lvl2pPr marL="4064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2pPr>
            <a:lvl3pPr marL="609600" indent="-203200">
              <a:lnSpc>
                <a:spcPct val="115000"/>
              </a:lnSpc>
              <a:spcAft>
                <a:spcPts val="600"/>
              </a:spcAft>
              <a:buClr>
                <a:srgbClr val="5E5E5E"/>
              </a:buClr>
              <a:buFont typeface="Arial"/>
              <a:buChar char="–"/>
              <a:defRPr sz="1400">
                <a:solidFill>
                  <a:srgbClr val="5E5E5E"/>
                </a:solidFill>
                <a:latin typeface="Pretendard Medium"/>
                <a:ea typeface="Pretendard Medium"/>
                <a:cs typeface="Pretendard Medium"/>
              </a:defRPr>
            </a:lvl3pPr>
          </a:lstStyle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본문 (Tab: 2단계 불릿)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937760" y="1417320"/>
            <a:ext cx="6565392" cy="4663440"/>
          </a:xfrm>
          <a:prstGeom prst="roundRect">
            <a:avLst>
              <a:gd name="adj" fmla="val 3268"/>
            </a:avLst>
          </a:prstGeom>
          <a:solidFill>
            <a:srgbClr val="EFEFEF"/>
          </a:solidFill>
          <a:ln/>
        </p:spPr>
        <p:txBody>
          <a:bodyPr wrap="square" lIns="228600" tIns="384048" rIns="228600" bIns="137160" rtlCol="0" anchor="t">
            <a:noAutofit/>
          </a:bodyPr>
          <a:lstStyle>
            <a:lvl1pPr algn="l" marL="0" indent="0">
              <a:lnSpc>
                <a:spcPct val="100000"/>
              </a:lnSpc>
              <a:spcAft>
                <a:spcPts val="0"/>
              </a:spcAft>
              <a:buNone/>
              <a:defRPr sz="1100">
                <a:solidFill>
                  <a:srgbClr val="000000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코드</a:t>
            </a:r>
            <a:endParaRPr lang="en-US" sz="1100" dirty="0"/>
          </a:p>
        </p:txBody>
      </p:sp>
      <p:sp>
        <p:nvSpPr>
          <p:cNvPr id="6" name="Text 0"/>
          <p:cNvSpPr/>
          <p:nvPr/>
        </p:nvSpPr>
        <p:spPr>
          <a:xfrm>
            <a:off x="5166360" y="152704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FAF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 [ ]</a:t>
            </a:r>
            <a:endParaRPr lang="en-US" sz="900" dirty="0"/>
          </a:p>
        </p:txBody>
      </p:sp>
      <p:sp>
        <p:nvSpPr>
          <p:cNvPr id="7" name="Text 1"/>
          <p:cNvSpPr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스마트 교통물류 · 2026-2 · 교재 0장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1009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마무리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219456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>
            <a:lvl1pPr algn="l" indent="0" marL="0">
              <a:buNone/>
              <a:defRPr lang="en-US" sz="5200" dirty="0">
                <a:solidFill>
                  <a:srgbClr val="000000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defRPr>
            </a:lvl1pPr>
          </a:lstStyle>
          <a:p>
            <a:pPr indent="0" marL="0">
              <a:buNone/>
            </a:pPr>
            <a:r>
              <a:rPr lang="en-US" sz="5200" dirty="0">
                <a:solidFill>
                  <a:srgbClr val="000000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감사합니다</a:t>
            </a:r>
            <a:endParaRPr lang="en-US" sz="5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85800" y="32461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2200" dirty="0">
                <a:solidFill>
                  <a:srgbClr val="000000"/>
                </a:solidFill>
                <a:latin typeface="Pretendard ExtraLight" pitchFamily="34" charset="0"/>
                <a:ea typeface="Pretendard ExtraLight" pitchFamily="34" charset="-122"/>
                <a:cs typeface="Pretendard ExtraLight" pitchFamily="34" charset="-120"/>
              </a:defRPr>
            </a:lvl1pPr>
          </a:lstStyle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Pretendard ExtraLight" pitchFamily="34" charset="0"/>
                <a:ea typeface="Pretendard ExtraLight" pitchFamily="34" charset="-122"/>
                <a:cs typeface="Pretendard ExtraLight" pitchFamily="34" charset="-120"/>
              </a:rPr>
              <a:t>부제</a:t>
            </a:r>
            <a:endParaRPr lang="en-US" sz="2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5577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>
            <a:lvl1pPr algn="l" indent="0" marL="0">
              <a:buNone/>
              <a:defRPr lang="en-US" sz="14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defRPr>
            </a:lvl1pPr>
          </a:lstStyle>
          <a:p>
            <a:pPr indent="0" marL="0">
              <a:buNone/>
            </a:pPr>
            <a:r>
              <a:rPr lang="en-US" sz="1400" dirty="0">
                <a:solidFill>
                  <a:srgbClr val="AFAFAF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연락처</a:t>
            </a:r>
            <a:endParaRPr lang="en-US" sz="1400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스마트 교통물류 · 2026-2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1주차 수요일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102"/>
          </p:nvPr>
        </p:nvSpPr>
        <p:spPr/>
        <p:txBody>
          <a:bodyPr/>
          <a:lstStyle/>
          <a:p>
            <a:r>
              <a:t>환경 준비와 첫 시뮬레이션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3"/>
          </p:nvPr>
        </p:nvSpPr>
        <p:spPr/>
        <p:txBody>
          <a:bodyPr/>
          <a:lstStyle/>
          <a:p>
            <a:r>
              <a:t>교재 0장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04"/>
          </p:nvPr>
        </p:nvSpPr>
        <p:spPr/>
        <p:txBody>
          <a:bodyPr/>
          <a:lstStyle/>
          <a:p>
            <a:r>
              <a:t>여지호 · 가천대학교 스마트시티학과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05"/>
          </p:nvPr>
        </p:nvSpPr>
        <p:spPr/>
        <p:txBody>
          <a:bodyPr/>
          <a:lstStyle/>
          <a:p>
            <a:r>
              <a:t>2026년 9월 2일 (수)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강의 목차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교재 0장</a:t>
            </a:r>
          </a:p>
        </p:txBody>
      </p:sp>
      <p:graphicFrame>
        <p:nvGraphicFramePr>
          <p:cNvPr id="5" name="Table Placeholder 4"/>
          <p:cNvGraphicFramePr>
            <a:graphicFrameLocks noGrp="1"/>
          </p:cNvGraphicFramePr>
          <p:nvPr>
            <p:ph type="tbl" idx="103"/>
          </p:nvPr>
        </p:nvGraphicFramePr>
        <p:xfrm>
          <a:off x="685800" y="1828800"/>
          <a:ext cx="10820093" cy="4419600"/>
        </p:xfrm>
        <a:graphic>
          <a:graphicData uri="http://schemas.openxmlformats.org/drawingml/2006/table">
            <a:tbl>
              <a:tblPr firstRow="0" bandRow="0" firstCol="0" lastRow="0" lastCol="0" bandCol="0"/>
              <a:tblGrid>
                <a:gridCol w="914631"/>
                <a:gridCol w="2560969"/>
                <a:gridCol w="7344493"/>
              </a:tblGrid>
              <a:tr h="736600">
                <a:tc>
                  <a:txBody>
                    <a:bodyPr/>
                    <a:lstStyle/>
                    <a:p>
                      <a:r>
                        <a:rPr sz="2600" b="0">
                          <a:solidFill>
                            <a:srgbClr val="000000"/>
                          </a:solidFill>
                          <a:latin typeface="Pretendard ExtraBold"/>
                        </a:rPr>
                        <a:t>01</a:t>
                      </a:r>
                    </a:p>
                  </a:txBody>
                  <a:tcPr marL="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Pretendard"/>
                        </a:rPr>
                        <a:t>실습 준비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1.1 실습에 필요한 세 가지  ·  1.2 학습 목표  ·  1.3 교재와 실습을 여는 곳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736600">
                <a:tc>
                  <a:txBody>
                    <a:bodyPr/>
                    <a:lstStyle/>
                    <a:p>
                      <a:r>
                        <a:rPr sz="2600" b="0">
                          <a:solidFill>
                            <a:srgbClr val="000000"/>
                          </a:solidFill>
                          <a:latin typeface="Pretendard ExtraBold"/>
                        </a:rPr>
                        <a:t>02</a:t>
                      </a:r>
                    </a:p>
                  </a:txBody>
                  <a:tcPr marL="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Pretendard"/>
                        </a:rPr>
                        <a:t>교재 0.1–0.2 설치와 데이터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2.1 파이썬 환경과 의존성  ·  2.2 실습 대상: 하남시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736600">
                <a:tc>
                  <a:txBody>
                    <a:bodyPr/>
                    <a:lstStyle/>
                    <a:p>
                      <a:r>
                        <a:rPr sz="2600" b="0">
                          <a:solidFill>
                            <a:srgbClr val="000000"/>
                          </a:solidFill>
                          <a:latin typeface="Pretendard ExtraBold"/>
                        </a:rPr>
                        <a:t>03</a:t>
                      </a:r>
                    </a:p>
                  </a:txBody>
                  <a:tcPr marL="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Pretendard"/>
                        </a:rPr>
                        <a:t>교재 0.3 엔진 연결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3.1 DTUMOS 연결 방법  ·  3.2 녹화본의 범위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736600">
                <a:tc>
                  <a:txBody>
                    <a:bodyPr/>
                    <a:lstStyle/>
                    <a:p>
                      <a:r>
                        <a:rPr sz="2600" b="0">
                          <a:solidFill>
                            <a:srgbClr val="000000"/>
                          </a:solidFill>
                          <a:latin typeface="Pretendard ExtraBold"/>
                        </a:rPr>
                        <a:t>04</a:t>
                      </a:r>
                    </a:p>
                  </a:txBody>
                  <a:tcPr marL="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Pretendard"/>
                        </a:rPr>
                        <a:t>교재 0.4 첫 시뮬레이션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4.1 첫 시뮬레이션의 실행 조건  ·  4.2 첫 실행의 결과 지표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736600">
                <a:tc>
                  <a:txBody>
                    <a:bodyPr/>
                    <a:lstStyle/>
                    <a:p>
                      <a:r>
                        <a:rPr sz="2600" b="0">
                          <a:solidFill>
                            <a:srgbClr val="000000"/>
                          </a:solidFill>
                          <a:latin typeface="Pretendard ExtraBold"/>
                        </a:rPr>
                        <a:t>05</a:t>
                      </a:r>
                    </a:p>
                  </a:txBody>
                  <a:tcPr marL="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Pretendard"/>
                        </a:rPr>
                        <a:t>교재 0.5 시간에 따른 기록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5.1 분 단위 기록 읽기  ·  5.2 보유 차량과 근무 차량의 차이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736600">
                <a:tc>
                  <a:txBody>
                    <a:bodyPr/>
                    <a:lstStyle/>
                    <a:p>
                      <a:r>
                        <a:rPr sz="2600" b="0">
                          <a:solidFill>
                            <a:srgbClr val="000000"/>
                          </a:solidFill>
                          <a:latin typeface="Pretendard ExtraBold"/>
                        </a:rPr>
                        <a:t>06</a:t>
                      </a:r>
                    </a:p>
                  </a:txBody>
                  <a:tcPr marL="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Pretendard"/>
                        </a:rPr>
                        <a:t>정리와 연습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6.1 0장 정리  ·  6.2 연습과 다음 장</a:t>
                      </a:r>
                    </a:p>
                  </a:txBody>
                  <a:tcPr marL="101600" marR="101600" marT="127000" marB="1270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01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실습 준비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1.1  </a:t>
            </a:r>
            <a:r>
              <a:t>실습에 필요한 세 가지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1.2  </a:t>
            </a:r>
            <a:r>
              <a:t>학습 목표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1.3  </a:t>
            </a:r>
            <a:r>
              <a:t>교재와 실습을 여는 곳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1.1 실습에 필요한 세 가지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1. 실습 준비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실습 환경의 기준: 교재와 같은 숫자와 그림을 재현할 수 있는 상태</a:t>
            </a:r>
          </a:p>
          <a:p>
            <a:pPr/>
            <a:r>
              <a:t>준비 항목 3가지</a:t>
            </a:r>
          </a:p>
          <a:p>
            <a:pPr lvl="1"/>
            <a:r>
              <a:t>파이썬 환경</a:t>
            </a:r>
          </a:p>
          <a:p>
            <a:pPr lvl="1"/>
            <a:r>
              <a:t>실습 데이터</a:t>
            </a:r>
          </a:p>
          <a:p>
            <a:pPr lvl="1"/>
            <a:r>
              <a:t>시뮬레이션 엔진</a:t>
            </a:r>
          </a:p>
          <a:p>
            <a:pPr/>
            <a:r>
              <a:t>최종 확인: 하남시 택시 시뮬레이션 1회 실행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1.2 학습 목표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1. 실습 준비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실습 환경 설치와 smartmob 임포트 확인</a:t>
            </a:r>
          </a:p>
          <a:p>
            <a:pPr/>
            <a:r>
              <a:t>하남시 도로망의 노드·엣지 수 확인</a:t>
            </a:r>
          </a:p>
          <a:p>
            <a:pPr/>
            <a:r>
              <a:t>엔진 연결, 연결 실패 시의 동작 확인</a:t>
            </a:r>
          </a:p>
          <a:p>
            <a:pPr/>
            <a:r>
              <a:t>시뮬레이션 1회 실행 후 서비스율·평균 대기시간 읽기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1.3 교재와 실습을 여는 곳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1. 실습 준비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저장소: github.com/jihoyeo/mobility-simulation-book — blob/main 아래 경로</a:t>
            </a:r>
          </a:p>
          <a:p>
            <a:pPr/>
            <a:r>
              <a:t>노트북 실행: jupyter lab labs/ch00_setup.ipynb</a:t>
            </a:r>
          </a:p>
          <a:p>
            <a:pPr/>
            <a:r>
              <a:t>진행 순서: 슬라이드 개요 → 교재 본문 → 실습 노트북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3"/>
          </p:nvPr>
        </p:nvSpPr>
        <p:spPr/>
        <p:txBody>
          <a:bodyPr/>
          <a:lstStyle/>
          <a:p>
            <a:r>
              <a:t>표 1. 오늘 여는 파일과 경로</a:t>
            </a:r>
          </a:p>
        </p:txBody>
      </p:sp>
      <p:graphicFrame>
        <p:nvGraphicFramePr>
          <p:cNvPr id="6" name="Table Placeholder 5"/>
          <p:cNvGraphicFramePr>
            <a:graphicFrameLocks noGrp="1"/>
          </p:cNvGraphicFramePr>
          <p:nvPr>
            <p:ph type="tbl" idx="104"/>
          </p:nvPr>
        </p:nvGraphicFramePr>
        <p:xfrm>
          <a:off x="4937760" y="1828800"/>
          <a:ext cx="6565392" cy="1676400"/>
        </p:xfrm>
        <a:graphic>
          <a:graphicData uri="http://schemas.openxmlformats.org/drawingml/2006/table">
            <a:tbl>
              <a:tblPr firstRow="0" bandRow="0" firstCol="0" lastRow="0" lastCol="0" bandCol="0"/>
              <a:tblGrid>
                <a:gridCol w="3282696"/>
                <a:gridCol w="3282696"/>
              </a:tblGrid>
              <a:tr h="4064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자료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경로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교재 원고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ko/ch00_setup.md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실습 노트북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labs/ch00_setup.ipynb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교재 0.1–0.2 설치와 데이터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2.1  </a:t>
            </a:r>
            <a:r>
              <a:t>파이썬 환경과 의존성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2.2  </a:t>
            </a:r>
            <a:r>
              <a:t>실습 대상: 하남시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2.1 파이썬 환경과 의존성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2. 교재 0.1–0.2 설치와 데이터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파이썬 3.11 · 저장소 복제 후 의존성 설치</a:t>
            </a:r>
          </a:p>
          <a:p>
            <a:pPr lvl="1"/>
            <a:r>
              <a:t>pip install -r requirements.txt</a:t>
            </a:r>
          </a:p>
          <a:p>
            <a:pPr lvl="1"/>
            <a:r>
              <a:t>버전 고정 — 같은 버전이면 교재와 같은 그림</a:t>
            </a:r>
          </a:p>
          <a:p>
            <a:pPr/>
            <a:r>
              <a:t>9장 예측 모델: requirements-heavy.txt 추가 설치</a:t>
            </a:r>
          </a:p>
          <a:p>
            <a:pPr lvl="1"/>
            <a:r>
              <a:t>9주차에 설치 가능</a:t>
            </a:r>
          </a:p>
          <a:p>
            <a:pPr/>
            <a:r>
              <a:t>Google Colab: 각 장 상단의 Colab 배지 → 첫 셀에서 smartmob.colab.bootstrap()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2.2 실습 대상: 하남시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2. 교재 0.1–0.2 설치와 데이터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선정 이유: 서울과 인접하고 노트북에서 처리할 수 있는 규모</a:t>
            </a:r>
          </a:p>
          <a:p>
            <a:pPr/>
            <a:r>
              <a:t>저장소에 포함된 데이터</a:t>
            </a:r>
          </a:p>
          <a:p>
            <a:pPr lvl="1"/>
            <a:r>
              <a:t>도로망 노드·엣지 (parquet)</a:t>
            </a:r>
          </a:p>
          <a:p>
            <a:pPr lvl="1"/>
            <a:r>
              <a:t>통행 수요 (demand.csv)</a:t>
            </a:r>
          </a:p>
          <a:p>
            <a:pPr/>
            <a:r>
              <a:t>load_road_graph("hanam", modes=("drive",)) → 노드 12,566 · 엣지 28,589</a:t>
            </a:r>
          </a:p>
          <a:p>
            <a:pPr/>
            <a:r>
              <a:t>노드 기준: 교차로와 막다른 길</a:t>
            </a:r>
          </a:p>
          <a:p>
            <a:pPr lvl="1"/>
            <a:r>
              <a:t>두 노드 사이의 직선 구간은 엣지 하나로 표현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03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교재 0.3 엔진 연결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3.1  </a:t>
            </a:r>
            <a:r>
              <a:t>DTUMOS 연결 방법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3.2  </a:t>
            </a:r>
            <a:r>
              <a:t>녹화본의 범위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3.1 DTUMOS 연결 방법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3. 교재 0.3 엔진 연결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DTUMOS 엔진: Rust로 구현 · Docker로 실행 · HTTP로 요청</a:t>
            </a:r>
          </a:p>
          <a:p>
            <a:pPr/>
            <a:r>
              <a:t>학습 범위: 엔진 내부 구현이 아닌 호출과 결과 해석</a:t>
            </a:r>
          </a:p>
          <a:p>
            <a:pPr/>
            <a:r>
              <a:t>녹화본: 서버에 연결하지 못해도 실습 계속 진행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3"/>
          </p:nvPr>
        </p:nvSpPr>
        <p:spPr/>
        <p:txBody>
          <a:bodyPr/>
          <a:lstStyle/>
          <a:p>
            <a:r>
              <a:t>표 2. DTUMOS 엔진에 연결하는 세 가지 방법과 설정</a:t>
            </a:r>
          </a:p>
        </p:txBody>
      </p:sp>
      <p:graphicFrame>
        <p:nvGraphicFramePr>
          <p:cNvPr id="6" name="Table Placeholder 5"/>
          <p:cNvGraphicFramePr>
            <a:graphicFrameLocks noGrp="1"/>
          </p:cNvGraphicFramePr>
          <p:nvPr>
            <p:ph type="tbl" idx="104"/>
          </p:nvPr>
        </p:nvGraphicFramePr>
        <p:xfrm>
          <a:off x="4937760" y="1828800"/>
          <a:ext cx="6565392" cy="2311400"/>
        </p:xfrm>
        <a:graphic>
          <a:graphicData uri="http://schemas.openxmlformats.org/drawingml/2006/table">
            <a:tbl>
              <a:tblPr firstRow="0" bandRow="0" firstCol="0" lastRow="0" lastCol="0" bandCol="0"/>
              <a:tblGrid>
                <a:gridCol w="2188464"/>
                <a:gridCol w="2188464"/>
                <a:gridCol w="2188464"/>
              </a:tblGrid>
              <a:tr h="4064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방법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쓰는 상황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설정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공용 서버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수업 중 무거운 실행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SMARTMOB_DTUMOS_URL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로컬 Docker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엔진 코드를 직접 확인할 때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docker compose up -d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녹화본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서버 없이 복습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SMARTMOB_OFFLINE=1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3.2 녹화본의 범위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3. 교재 0.3 엔진 연결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dt.health()가 반환하는 status</a:t>
            </a:r>
          </a:p>
          <a:p>
            <a:pPr lvl="1"/>
            <a:r>
              <a:t>fixture — 녹화본 사용 중</a:t>
            </a:r>
          </a:p>
          <a:p>
            <a:pPr lvl="1"/>
            <a:r>
              <a:t>그 외 — 실서버 응답</a:t>
            </a:r>
          </a:p>
          <a:p>
            <a:pPr/>
            <a:r>
              <a:t>녹화 범위: 교재에 나오는 요청만</a:t>
            </a:r>
          </a:p>
          <a:p>
            <a:pPr/>
            <a:r>
              <a:t>차량 80대 → 81대로 변경 시 FixtureMissing</a:t>
            </a:r>
          </a:p>
          <a:p>
            <a:pPr/>
            <a:r>
              <a:t>FixtureMissing의 의미: 코드 오류가 아니라 실서버가 필요한 요청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04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교재 0.4 첫 시뮬레이션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4.1  </a:t>
            </a:r>
            <a:r>
              <a:t>첫 시뮬레이션의 실행 조건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4.2  </a:t>
            </a:r>
            <a:r>
              <a:t>첫 실행의 결과 지표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4.1 첫 시뮬레이션의 실행 조건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4. 교재 0.4 첫 시뮬레이션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시간 단위: 자정부터의 분 — 책 전체 공통</a:t>
            </a:r>
          </a:p>
          <a:p>
            <a:pPr/>
            <a:r>
              <a:t>random_seed=42 고정 → 같은 결과 재현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3"/>
          </p:nvPr>
        </p:nvSpPr>
        <p:spPr/>
        <p:txBody>
          <a:bodyPr/>
          <a:lstStyle/>
          <a:p>
            <a:r>
              <a:t>표 3. 첫 시뮬레이션의 실행 조건</a:t>
            </a:r>
          </a:p>
        </p:txBody>
      </p:sp>
      <p:graphicFrame>
        <p:nvGraphicFramePr>
          <p:cNvPr id="6" name="Table Placeholder 5"/>
          <p:cNvGraphicFramePr>
            <a:graphicFrameLocks noGrp="1"/>
          </p:cNvGraphicFramePr>
          <p:nvPr>
            <p:ph type="tbl" idx="104"/>
          </p:nvPr>
        </p:nvGraphicFramePr>
        <p:xfrm>
          <a:off x="4937760" y="1828800"/>
          <a:ext cx="6565392" cy="2946400"/>
        </p:xfrm>
        <a:graphic>
          <a:graphicData uri="http://schemas.openxmlformats.org/drawingml/2006/table">
            <a:tbl>
              <a:tblPr firstRow="0" bandRow="0" firstCol="0" lastRow="0" lastCol="0" bandCol="0"/>
              <a:tblGrid>
                <a:gridCol w="3282696"/>
                <a:gridCol w="3282696"/>
              </a:tblGrid>
              <a:tr h="4064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인자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값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도시 · 수단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하남 · 택시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차량 대수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80대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호출 건수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1,000건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시간 범위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1080 ~ 1440 (18:00~24:00)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4.2 첫 실행의 결과 지표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4. 교재 0.4 첫 시뮬레이션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승객 관점: 평균 대기시간 약 4.1분</a:t>
            </a:r>
          </a:p>
          <a:p>
            <a:pPr/>
            <a:r>
              <a:t>운영 관점: 차량 가동률 약 27%</a:t>
            </a:r>
          </a:p>
          <a:p>
            <a:pPr/>
            <a:r>
              <a:t>비교할 대안: 차량 40대일 때의 대기시간과 서비스율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3"/>
          </p:nvPr>
        </p:nvSpPr>
        <p:spPr/>
        <p:txBody>
          <a:bodyPr/>
          <a:lstStyle/>
          <a:p>
            <a:r>
              <a:t>표 4. sim.summary()가 반환하는 세 지표</a:t>
            </a:r>
          </a:p>
        </p:txBody>
      </p:sp>
      <p:graphicFrame>
        <p:nvGraphicFramePr>
          <p:cNvPr id="6" name="Table Placeholder 5"/>
          <p:cNvGraphicFramePr>
            <a:graphicFrameLocks noGrp="1"/>
          </p:cNvGraphicFramePr>
          <p:nvPr>
            <p:ph type="tbl" idx="104"/>
          </p:nvPr>
        </p:nvGraphicFramePr>
        <p:xfrm>
          <a:off x="4937760" y="1828800"/>
          <a:ext cx="6565392" cy="2311400"/>
        </p:xfrm>
        <a:graphic>
          <a:graphicData uri="http://schemas.openxmlformats.org/drawingml/2006/table">
            <a:tbl>
              <a:tblPr firstRow="0" bandRow="0" firstCol="0" lastRow="0" lastCol="0" bandCol="0"/>
              <a:tblGrid>
                <a:gridCol w="2188464"/>
                <a:gridCol w="2188464"/>
                <a:gridCol w="2188464"/>
              </a:tblGrid>
              <a:tr h="4064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지표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값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FFFFF"/>
                          </a:solidFill>
                          <a:latin typeface="Pretendard Medium"/>
                        </a:rPr>
                        <a:t>뜻</a:t>
                      </a:r>
                    </a:p>
                  </a:txBody>
                  <a:tcPr marL="101600" marR="101600" marT="76200" marB="76200" anchor="ctr">
                    <a:solidFill>
                      <a:srgbClr val="000000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service_rate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1.0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호출 990건 전부 배차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avg_waiting_time_min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약 4.1분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호출부터 승차까지 평균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  <a:tr h="635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Pretendard"/>
                        </a:rPr>
                        <a:t>utilization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약 0.27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E5E5E"/>
                          </a:solidFill>
                          <a:latin typeface="Pretendard Medium"/>
                        </a:rPr>
                        <a:t>승객 탑승 시간 비율</a:t>
                      </a:r>
                    </a:p>
                  </a:txBody>
                  <a:tcPr marL="101600" marR="101600" marT="101600" marB="101600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2E2E2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05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교재 0.5 시간에 따른 기록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5.1  </a:t>
            </a:r>
            <a:r>
              <a:t>분 단위 기록 읽기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5.2  </a:t>
            </a:r>
            <a:r>
              <a:t>보유 차량과 근무 차량의 차이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5.1 분 단위 기록 읽기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5. 교재 0.5 시간에 따른 기록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sim.record: 1분당 한 행</a:t>
            </a:r>
          </a:p>
          <a:p>
            <a:pPr/>
            <a:r>
              <a:t>운행 중 차량 증가 ↔ 대기 차량 감소</a:t>
            </a:r>
          </a:p>
          <a:p>
            <a:pPr/>
            <a:r>
              <a:t>운행 중 차량과 대기 차량의 합: 대부분 80대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04"/>
          </p:nvPr>
        </p:nvSpPr>
        <p:spPr/>
        <p:txBody>
          <a:bodyPr/>
          <a:lstStyle/>
          <a:p>
            <a:r>
              <a:t>그림 1. 하남시 18:00–24:00 시뮬레이션의 분 단위 차량·승객 기록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  <p:pic>
        <p:nvPicPr>
          <p:cNvPr id="26" name="Picture 25" descr="ch00_reco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417320"/>
            <a:ext cx="624078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5.2 보유 차량과 근무 차량의 차이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5. 교재 0.5 시간에 따른 기록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마지막 30분: 합계가 80 미만 · 대기 승객 증가</a:t>
            </a:r>
          </a:p>
          <a:p>
            <a:pPr/>
            <a:r>
              <a:t>원인: 차량별 work_start · work_end</a:t>
            </a:r>
          </a:p>
          <a:p>
            <a:pPr/>
            <a:r>
              <a:t>자정 근접 → 근무 중 차량 감소</a:t>
            </a:r>
          </a:p>
          <a:p>
            <a:pPr/>
            <a:r>
              <a:t>결과 해석 시 구분: 전체 차량과 현재 근무 중인 차량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06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정리와 연습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6.1  </a:t>
            </a:r>
            <a:r>
              <a:t>0장 정리</a:t>
            </a:r>
          </a:p>
          <a:p>
            <a:pPr>
              <a:spcAft>
                <a:spcPts val="1000"/>
              </a:spcAft>
            </a:pPr>
            <a:r>
              <a:rPr>
                <a:solidFill>
                  <a:srgbClr val="AFAFAF"/>
                </a:solidFill>
              </a:rPr>
              <a:t>6.2  </a:t>
            </a:r>
            <a:r>
              <a:t>연습과 다음 장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6.1 0장 정리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6. 정리와 연습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smartmob을 통해 데이터와 엔진에 접근</a:t>
            </a:r>
          </a:p>
          <a:p>
            <a:pPr lvl="1"/>
            <a:r>
              <a:t>load_road_graph 도로망 · Dtumos 엔진</a:t>
            </a:r>
          </a:p>
          <a:p>
            <a:pPr/>
            <a:r>
              <a:t>엔진 연결 실패 시 녹화본으로 자동 전환 — 복습에 설치 불필요</a:t>
            </a:r>
          </a:p>
          <a:p>
            <a:pPr/>
            <a:r>
              <a:t>sim.summary() 요약 지표 · sim.record 분 단위 시계열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6.2 연습과 다음 장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6. 정리와 연습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pPr/>
            <a:r>
              <a:t>연습 0.1 ★ — 대기 승객 최대 시각과 그때 인원</a:t>
            </a:r>
          </a:p>
          <a:p>
            <a:pPr lvl="1"/>
            <a:r>
              <a:t>smartmob.data.minutes_to_hhmm으로 분을 HH:MM으로 변환</a:t>
            </a:r>
          </a:p>
          <a:p>
            <a:pPr lvl="1"/>
            <a:r>
              <a:t>산출물: 시각 1개, 인원 1개</a:t>
            </a:r>
          </a:p>
          <a:p>
            <a:pPr/>
            <a:r>
              <a:t>다음 장: 2장 도로망 데이터 — 소요시간 계산의 입력 자료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91495" y="6355080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FAFAF"/>
                </a:solidFill>
                <a:latin typeface="Pretendard Medium"/>
                <a:ea typeface="Pretendard Medium"/>
                <a:cs typeface="Pretendard Medium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다음 주에 봅니다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/>
        <p:txBody>
          <a:bodyPr/>
          <a:lstStyle/>
          <a:p>
            <a:r>
              <a:t>교재 2장 — 도로망 데이터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jihoyeo@gachon.ac.kr · AI공학관 210호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2026-08-31T14:39:01Z</dcterms:created>
  <dcterms:modified xsi:type="dcterms:W3CDTF">2026-08-31T14:39:01Z</dcterms:modified>
</cp:coreProperties>
</file>