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슬라이드는 중간중간 몇 장만 사용하고, 설치부터는 각자 노트북에 교재 0장을 표시한 상태로 함께 진행한다.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0장 학습 목표와 같다. 오늘 끝에 네 가지가 각자 노트북에서 확인되어야 다음 주 진도가 나간다.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슬라이드는 개요만 다룬다. 세부 내용과 코드는 교재 원고와 실습 노트북에서 확인한다. 교재 저장소는 비공개이므로 초대받은 계정으로 로그인한 상태여야 주소가 열린다.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설치 명령은 교재 0.1에 그대로 있다. 화면에 표시한 상태로 한 줄씩 함께 입력한다. 막히는 사람은 손을 들게 하고, 끝난 사람이 옆자리를 돕게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하남시 전체치고 노드가 적어 보이는 이유를 여기서 한 번 설명한다. modes 인자가 왜 필요한지는 2장에서 다루므로 오늘은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공용 서버 주소와 팀별 포트는 단톡방에 올린다. 저장소의 data/fixtures/에 실제 실행 결과가 녹화되어 있고, 연결이 안 되면 그것을 대신 반환한다.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구분을 지금 분명히 해 둬야 나중에 학생들이 FixtureMissing을 코드 버그로 오해하지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인자 이름과 값을 한 번 읽고 넘어간다. 시간을 분 단위 정수로 다루는 규칙은 11장 시뮬레이션 루프까지 그대로 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숫자가 다음 질문을 만든다. 이 질문에 답하려면 같은 수요와 같은 도로망에서 차량 대수만 변경해 다시 실행해야 하고, 그 도구를 이 책에서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plot_record(sim.record)로 그린다. 그림을 먼저 보여주고 마지막 30분에서 무엇이 이상한지 학생이 먼저 찾게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시뮬레이션이 차량 80대를 항상 80대로 다루지 않는다는 뜻이다. 이런 것을 미리 알고 있어야 결과를 잘못 읽지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목표 네 가지가 각자 노트북에서 확인됐는지 손을 들게 해서 점검한다.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 질문: 서비스율 1.0인데 왜 차량을 줄이자는 이야기가 나오는가. 가동률 0.27과 연결해서 답하게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0장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0장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0장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0장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0장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0장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0장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스마트 교통물류 · 2026-2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1주차 수요일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환경 준비와 첫 시뮬레이션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교재 0장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· 가천대학교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9월 2일 (수)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0장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4419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도입과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오늘 준비하는 세 가지  ·  1.2 학습 목표  ·  1.3 교재와 실습을 여는 곳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0.1–0.2 설치와 데이터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파이썬 환경과 의존성  ·  2.2 실습 도시 하남시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0.3 엔진 연결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DTUMOS에 붙는 세 가지 방법  ·  3.2 녹화본의 범위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0.4 첫 시뮬레이션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하남시 저녁 6시부터 자정까지  ·  4.2 결과 세 숫자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0.5 시간에 따른 기록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분 단위 기록 읽기  ·  5.2 80대가 항상 80대는 아님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06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정리와 연습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6.1 오늘의 정리  ·  6.2 연습과 다음 장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오늘 준비하는 세 가지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학습 목표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1.3  </a:t>
            </a:r>
            <a:r>
              <a:t>교재와 실습을 여는 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오늘 준비하는 세 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교재의 모든 코드는 실행되는 상태 — 같은 숫자, 같은 그림</a:t>
            </a:r>
          </a:p>
          <a:p>
            <a:pPr/>
            <a:r>
              <a:t>필요한 것 3가지</a:t>
            </a:r>
          </a:p>
          <a:p>
            <a:pPr lvl="1"/>
            <a:r>
              <a:t>파이썬 환경</a:t>
            </a:r>
          </a:p>
          <a:p>
            <a:pPr lvl="1"/>
            <a:r>
              <a:t>실습 데이터</a:t>
            </a:r>
          </a:p>
          <a:p>
            <a:pPr lvl="1"/>
            <a:r>
              <a:t>시뮬레이션 엔진</a:t>
            </a:r>
          </a:p>
          <a:p>
            <a:pPr/>
            <a:r>
              <a:t>마지막 순서: 하남시 택시 시뮬레이션 1회 실행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실습 환경 설치와 smartmob 임포트 확인</a:t>
            </a:r>
          </a:p>
          <a:p>
            <a:pPr/>
            <a:r>
              <a:t>하남시 도로망의 노드·엣지 수 확인</a:t>
            </a:r>
          </a:p>
          <a:p>
            <a:pPr/>
            <a:r>
              <a:t>엔진 연결, 연결 실패 시의 동작 확인</a:t>
            </a:r>
          </a:p>
          <a:p>
            <a:pPr/>
            <a:r>
              <a:t>시뮬레이션 1회 실행 후 서비스율·평균 대기시간 읽기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1.3 교재와 실습을 여는 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저장소: github.com/jihoyeo/mobility-simulation-book — blob/main 아래 경로</a:t>
            </a:r>
          </a:p>
          <a:p>
            <a:pPr/>
            <a:r>
              <a:t>노트북 실행: jupyter lab labs/ch00_setup.ipynb</a:t>
            </a:r>
          </a:p>
          <a:p>
            <a:pPr/>
            <a:r>
              <a:t>진행 순서: 슬라이드 개요 → 교재 본문 → 실습 노트북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1. 오늘 여는 파일과 경로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167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자료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경로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교재 원고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ko/ch00_setup.md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실습 노트북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labs/ch00_setup.ipynb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0.1–0.2 설치와 데이터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파이썬 환경과 의존성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2.2  </a:t>
            </a:r>
            <a:r>
              <a:t>실습 도시 하남시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파이썬 환경과 의존성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0.1–0.2 설치와 데이터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파이썬 3.11 · 저장소 복제 후 pip install -r requirements.txt</a:t>
            </a:r>
          </a:p>
          <a:p>
            <a:pPr lvl="1"/>
            <a:r>
              <a:t>버전 고정 — 같은 버전이면 교재와 같은 그림</a:t>
            </a:r>
          </a:p>
          <a:p>
            <a:pPr/>
            <a:r>
              <a:t>9장 예측 모델은 requirements-heavy.txt 추가</a:t>
            </a:r>
          </a:p>
          <a:p>
            <a:pPr lvl="1"/>
            <a:r>
              <a:t>그 주에 설치해도 무방</a:t>
            </a:r>
          </a:p>
          <a:p>
            <a:pPr/>
            <a:r>
              <a:t>코랩: 각 장 상단 Colab 배지 → 첫 셀에서 smartmob.colab.bootstrap()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2.2 실습 도시 하남시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0.1–0.2 설치와 데이터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선정 이유: 서울 인접 + 노트북에서 다룰 만한 크기</a:t>
            </a:r>
          </a:p>
          <a:p>
            <a:pPr/>
            <a:r>
              <a:t>저장소에 포함된 데이터</a:t>
            </a:r>
          </a:p>
          <a:p>
            <a:pPr lvl="1"/>
            <a:r>
              <a:t>도로망 노드·엣지 (parquet)</a:t>
            </a:r>
          </a:p>
          <a:p>
            <a:pPr lvl="1"/>
            <a:r>
              <a:t>통행 수요 (demand.csv)</a:t>
            </a:r>
          </a:p>
          <a:p>
            <a:pPr/>
            <a:r>
              <a:t>load_road_graph("hanam", modes=("drive",)) → 노드 12,566 · 엣지 28,589</a:t>
            </a:r>
          </a:p>
          <a:p>
            <a:pPr/>
            <a:r>
              <a:t>노드 기준: 교차로와 막다른 길만 — 사이 직선 구간은 엣지 하나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0.3 엔진 연결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DTUMOS에 붙는 세 가지 방법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녹화본의 범위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DTUMOS에 붙는 세 가지 방법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0.3 엔진 연결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엔진 DTUMOS: Rust · Docker · HTTP 호출</a:t>
            </a:r>
          </a:p>
          <a:p>
            <a:pPr/>
            <a:r>
              <a:t>이 과목의 범위: 엔진 내부가 아니라 호출 방법</a:t>
            </a:r>
          </a:p>
          <a:p>
            <a:pPr/>
            <a:r>
              <a:t>세 번째가 중요 — 서버 없이도 교재가 멈추지 않음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2. DTUMOS 엔진에 연결하는 세 가지 방법과 설정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방법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쓰는 상황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설정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공용 서버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수업 중 무거운 실행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SMARTMOB_DTUMOS_URL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로컬 Docker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엔진 코드를 직접 확인할 때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docker compose up -d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녹화본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서버 없이 복습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SMARTMOB_OFFLINE=1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녹화본의 범위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0.3 엔진 연결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dt.health()의 status</a:t>
            </a:r>
          </a:p>
          <a:p>
            <a:pPr lvl="1"/>
            <a:r>
              <a:t>fixture — 녹화본 사용 중</a:t>
            </a:r>
          </a:p>
          <a:p>
            <a:pPr lvl="1"/>
            <a:r>
              <a:t>그 외 — 실서버 응답</a:t>
            </a:r>
          </a:p>
          <a:p>
            <a:pPr/>
            <a:r>
              <a:t>녹화 범위: 교재에 나오는 요청만</a:t>
            </a:r>
          </a:p>
          <a:p>
            <a:pPr/>
            <a:r>
              <a:t>차량 80대 → 81대로 변경 시 FixtureMissing</a:t>
            </a:r>
          </a:p>
          <a:p>
            <a:pPr/>
            <a:r>
              <a:t>오류의 뜻: 코드 오류가 아니라 실서버 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0.4 첫 시뮬레이션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하남시 저녁 6시부터 자정까지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4.2  </a:t>
            </a:r>
            <a:r>
              <a:t>결과 세 숫자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하남시 저녁 6시부터 자정까지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0.4 첫 시뮬레이션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시간 단위: 자정부터의 분 — 책 전체 공통</a:t>
            </a:r>
          </a:p>
          <a:p>
            <a:pPr/>
            <a:r>
              <a:t>random_seed=42 고정 → 같은 결과 재현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3. 첫 시뮬레이션의 실행 조건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인자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값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도시 · 수단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하남 · 택시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차량 대수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80대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호출 건수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1,000건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시간 범위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1080 ~ 1440 (18:00~24:00)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4.2 결과 세 숫자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0.4 첫 시뮬레이션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승객 관점: 대기 4분 — 양호</a:t>
            </a:r>
          </a:p>
          <a:p>
            <a:pPr/>
            <a:r>
              <a:t>차량 관점: 4분의 3이 유휴</a:t>
            </a:r>
          </a:p>
          <a:p>
            <a:pPr/>
            <a:r>
              <a:t>이어지는 질문: 40대로 감축 시 대기시간 변화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4. sim.summary()가 반환하는 세 지표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지표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값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뜻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service_rate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1.0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호출 990건 전부 배차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avg_waiting_time_min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약 4.1분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호출부터 승차까지 평균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utilization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약 0.27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승객 탑승 시간 비율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0.5 시간에 따른 기록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분 단위 기록 읽기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5.2  </a:t>
            </a:r>
            <a:r>
              <a:t>80대가 항상 80대는 아님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분 단위 기록 읽기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0.5 시간에 따른 기록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sim.record: 1분당 한 행</a:t>
            </a:r>
          </a:p>
          <a:p>
            <a:pPr/>
            <a:r>
              <a:t>운행 중 증가분 = 대기 중 감소분</a:t>
            </a:r>
          </a:p>
          <a:p>
            <a:pPr/>
            <a:r>
              <a:t>두 값의 합이 대부분 80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1. 하남시 18:00–24:00 시뮬레이션의 분 단위 차량·승객 기록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ch00_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2407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5.2 80대가 항상 80대는 아님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0.5 시간에 따른 기록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마지막 30분: 합계가 80 미만 · 대기 승객 증가</a:t>
            </a:r>
          </a:p>
          <a:p>
            <a:pPr/>
            <a:r>
              <a:t>원인: 차량별 work_start · work_end</a:t>
            </a:r>
          </a:p>
          <a:p>
            <a:pPr/>
            <a:r>
              <a:t>자정 근접 → 근무 중 차량 감소</a:t>
            </a:r>
          </a:p>
          <a:p>
            <a:pPr/>
            <a:r>
              <a:t>결과 해석의 전제: 정원과 근무 인원의 구분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6.1  </a:t>
            </a:r>
            <a:r>
              <a:t>오늘의 정리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6.2  </a:t>
            </a:r>
            <a:r>
              <a:t>연습과 다음 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6.1 오늘의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smartmob을 통해 데이터와 엔진에 접근</a:t>
            </a:r>
          </a:p>
          <a:p>
            <a:pPr lvl="1"/>
            <a:r>
              <a:t>load_road_graph 도로망 · Dtumos 엔진</a:t>
            </a:r>
          </a:p>
          <a:p>
            <a:pPr/>
            <a:r>
              <a:t>엔진 연결 실패 시 녹화본으로 자동 전환 — 복습에 설치 불필요</a:t>
            </a:r>
          </a:p>
          <a:p>
            <a:pPr/>
            <a:r>
              <a:t>sim.summary() 요약 지표 · sim.record 분 단위 시계열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6.2 연습과 다음 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연습 0.1 ★ — 대기 승객 최대 시각과 그때 인원</a:t>
            </a:r>
          </a:p>
          <a:p>
            <a:pPr lvl="1"/>
            <a:r>
              <a:t>smartmob.data.minutes_to_hhmm으로 분을 HH:MM으로 변환</a:t>
            </a:r>
          </a:p>
          <a:p>
            <a:pPr lvl="1"/>
            <a:r>
              <a:t>산출물: 시각 1개, 인원 1개</a:t>
            </a:r>
          </a:p>
          <a:p>
            <a:pPr/>
            <a:r>
              <a:t>다음 장: 2장 도로망 데이터 — 소요시간 계산의 입력 자료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다음 주에 봅니다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2장 — 도로망 데이터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AI공학관 210호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