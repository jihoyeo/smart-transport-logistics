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4" d="100"/>
          <a:sy n="114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DD1E2-6822-AA45-A5F3-C6F4F496D65D}" type="datetimeFigureOut">
              <a:rPr kumimoji="1" lang="ko-KR" altLang="en-US" smtClean="0"/>
              <a:t>2026. 9. 8.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2F25A-7135-AA4B-8AAC-07E04DC119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138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확인 질문: 서비스율 1.0인데 왜 차량을 줄이자는 이야기가 나오는가. 가동률 0.27과 연결해서 답하게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737360"/>
          </a:xfrm>
        </p:spPr>
        <p:txBody>
          <a:bodyPr wrap="square" lIns="91440" tIns="91440" rIns="91440" bIns="91440" anchor="b">
            <a:norm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None/>
              <a:defRPr sz="3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886200"/>
            <a:ext cx="10515600" cy="1737360"/>
          </a:xfrm>
        </p:spPr>
        <p:txBody>
          <a:bodyPr wrap="square" lIns="91440" tIns="91440" rIns="91440" bIns="91440" anchor="t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7" name="Title Accent"/>
          <p:cNvCxnSpPr/>
          <p:nvPr/>
        </p:nvCxnSpPr>
        <p:spPr>
          <a:xfrm>
            <a:off x="822960" y="3703320"/>
            <a:ext cx="2194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94415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03120"/>
            <a:ext cx="10515600" cy="1371600"/>
          </a:xfrm>
        </p:spPr>
        <p:txBody>
          <a:bodyPr wrap="square" lIns="91440" tIns="91440" rIns="91440" bIns="91440" anchor="b">
            <a:norm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794760"/>
            <a:ext cx="10515600" cy="2194560"/>
          </a:xfrm>
        </p:spPr>
        <p:txBody>
          <a:bodyPr wrap="square" lIns="91440" tIns="91440" rIns="91440" bIns="91440" anchor="t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ection Accent"/>
          <p:cNvCxnSpPr/>
          <p:nvPr/>
        </p:nvCxnSpPr>
        <p:spPr>
          <a:xfrm>
            <a:off x="822960" y="3611880"/>
            <a:ext cx="2194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600200"/>
            <a:ext cx="5394960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095" y="1600200"/>
            <a:ext cx="5394960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  <a:prstGeom prst="rect">
            <a:avLst/>
          </a:prstGeom>
        </p:spPr>
        <p:txBody>
          <a:bodyPr vert="horz" wrap="square" lIns="91440" tIns="91440" rIns="91440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415" cy="4526280"/>
          </a:xfrm>
          <a:prstGeom prst="rect">
            <a:avLst/>
          </a:prstGeom>
        </p:spPr>
        <p:txBody>
          <a:bodyPr vert="horz" wrap="square" lIns="91440" tIns="91440" rIns="91440" bIns="9144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" y="6355080"/>
            <a:ext cx="8229600" cy="320040"/>
          </a:xfrm>
          <a:prstGeom prst="rect">
            <a:avLst/>
          </a:prstGeom>
        </p:spPr>
        <p:txBody>
          <a:bodyPr vert="horz" wrap="square" lIns="91440" tIns="91440" rIns="91440" bIns="91440" rtlCol="0" anchor="ctr"/>
          <a:lstStyle>
            <a:lvl1pPr marL="0" indent="0" algn="l" defTabSz="457200" rtl="0" eaLnBrk="1" latinLnBrk="0" hangingPunct="1">
              <a:spcBef>
                <a:spcPts val="0"/>
              </a:spcBef>
              <a:buNone/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5775" y="6355080"/>
            <a:ext cx="1097280" cy="320040"/>
          </a:xfrm>
          <a:prstGeom prst="rect">
            <a:avLst/>
          </a:prstGeom>
        </p:spPr>
        <p:txBody>
          <a:bodyPr vert="horz" wrap="square" lIns="91440" tIns="91440" rIns="91440" bIns="91440" rtlCol="0" anchor="ctr"/>
          <a:lstStyle>
            <a:lvl1pPr marL="0" indent="0" algn="r" defTabSz="457200" rtl="0" eaLnBrk="1" latinLnBrk="0" hangingPunct="1">
              <a:spcBef>
                <a:spcPts val="0"/>
              </a:spcBef>
              <a:buNone/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Title Rule"/>
          <p:cNvCxnSpPr/>
          <p:nvPr/>
        </p:nvCxnSpPr>
        <p:spPr>
          <a:xfrm>
            <a:off x="548640" y="1444752"/>
            <a:ext cx="11094415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p:txStyles>
    <p:titleStyle>
      <a:lvl1pPr marL="0" indent="0" algn="l" defTabSz="457200" rtl="0" eaLnBrk="1" latinLnBrk="0" hangingPunct="1">
        <a:spcBef>
          <a:spcPts val="0"/>
        </a:spcBef>
        <a:buNone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cover|f7b92344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1주차 — </a:t>
            </a:r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시뮬레이션인가</a:t>
            </a:r>
            <a:r>
              <a:rPr dirty="0"/>
              <a:t>, </a:t>
            </a:r>
            <a:br>
              <a:rPr lang="en-US" dirty="0"/>
            </a:br>
            <a:r>
              <a:rPr lang="ko-KR" altLang="en-US" dirty="0"/>
              <a:t>                                                    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준비와</a:t>
            </a:r>
            <a:r>
              <a:rPr dirty="0"/>
              <a:t> </a:t>
            </a:r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시뮬레이션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스마트 교통물류 · 교재 1장, 0장</a:t>
            </a:r>
          </a:p>
          <a:p>
            <a:r>
              <a:t>여지호 · 가천대학교 스마트시티학과</a:t>
            </a:r>
          </a:p>
          <a:p>
            <a:r>
              <a:t>2026-09-01 (화) · 09-02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오늘의-질문#1|bef1c8402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하남시가</a:t>
            </a:r>
            <a:r>
              <a:rPr dirty="0"/>
              <a:t> </a:t>
            </a:r>
            <a:r>
              <a:rPr dirty="0" err="1"/>
              <a:t>심야에</a:t>
            </a:r>
            <a:r>
              <a:rPr dirty="0"/>
              <a:t> </a:t>
            </a:r>
            <a:r>
              <a:rPr dirty="0" err="1"/>
              <a:t>수요응답형</a:t>
            </a:r>
            <a:r>
              <a:rPr dirty="0"/>
              <a:t> </a:t>
            </a:r>
            <a:r>
              <a:rPr dirty="0" err="1"/>
              <a:t>버스를</a:t>
            </a:r>
            <a:r>
              <a:rPr dirty="0"/>
              <a:t> 20대 </a:t>
            </a:r>
            <a:r>
              <a:rPr dirty="0" err="1"/>
              <a:t>넣으려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정해야</a:t>
            </a:r>
            <a:r>
              <a:rPr dirty="0"/>
              <a:t> </a:t>
            </a:r>
            <a:r>
              <a:rPr dirty="0" err="1"/>
              <a:t>할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가지입니다</a:t>
            </a:r>
            <a:r>
              <a:rPr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dirty="0" err="1"/>
              <a:t>차량을</a:t>
            </a:r>
            <a:r>
              <a:rPr dirty="0"/>
              <a:t>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차고지에</a:t>
            </a:r>
            <a:r>
              <a:rPr dirty="0"/>
              <a:t> </a:t>
            </a:r>
            <a:r>
              <a:rPr dirty="0" err="1"/>
              <a:t>몇</a:t>
            </a:r>
            <a:r>
              <a:rPr dirty="0"/>
              <a:t> </a:t>
            </a:r>
            <a:r>
              <a:rPr dirty="0" err="1"/>
              <a:t>대씩</a:t>
            </a:r>
            <a:r>
              <a:rPr dirty="0"/>
              <a:t>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것인가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교통 시스템 사전계획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dirty="0"/>
          </a:p>
          <a:p>
            <a:pPr lvl="1"/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dirty="0" err="1"/>
              <a:t>호출이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건</a:t>
            </a:r>
            <a:r>
              <a:rPr dirty="0"/>
              <a:t> </a:t>
            </a:r>
            <a:r>
              <a:rPr dirty="0" err="1"/>
              <a:t>겹쳤을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누구부터</a:t>
            </a:r>
            <a:r>
              <a:rPr dirty="0"/>
              <a:t> </a:t>
            </a:r>
            <a:r>
              <a:rPr dirty="0" err="1"/>
              <a:t>태울</a:t>
            </a:r>
            <a:r>
              <a:rPr dirty="0"/>
              <a:t> </a:t>
            </a:r>
            <a:r>
              <a:rPr dirty="0" err="1"/>
              <a:t>것인가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배차알고리즘</a:t>
            </a:r>
            <a:r>
              <a:rPr lang="en-US" altLang="ko-KR" dirty="0"/>
              <a:t>)</a:t>
            </a:r>
            <a:endParaRPr dirty="0"/>
          </a:p>
          <a:p>
            <a:pPr lvl="1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승객이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몇</a:t>
            </a:r>
            <a:r>
              <a:rPr dirty="0"/>
              <a:t> </a:t>
            </a:r>
            <a:r>
              <a:rPr dirty="0" err="1"/>
              <a:t>분을</a:t>
            </a:r>
            <a:r>
              <a:rPr dirty="0"/>
              <a:t> </a:t>
            </a:r>
            <a:r>
              <a:rPr dirty="0" err="1"/>
              <a:t>기다리게</a:t>
            </a:r>
            <a:r>
              <a:rPr dirty="0"/>
              <a:t> </a:t>
            </a:r>
            <a:r>
              <a:rPr dirty="0" err="1"/>
              <a:t>되는가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서비스 수준 평가</a:t>
            </a:r>
            <a:r>
              <a:rPr lang="en-US" altLang="ko-KR" dirty="0"/>
              <a:t>)</a:t>
            </a:r>
            <a:endParaRPr dirty="0"/>
          </a:p>
          <a:p>
            <a:endParaRPr lang="en-US" dirty="0"/>
          </a:p>
          <a:p>
            <a:r>
              <a:rPr lang="ko-KR" altLang="en-US" dirty="0" err="1"/>
              <a:t>시뮬레션을</a:t>
            </a:r>
            <a:r>
              <a:rPr lang="ko-KR" altLang="en-US" dirty="0"/>
              <a:t> 활용하면 위의 질문에 대한 다양한 답</a:t>
            </a:r>
            <a:r>
              <a:rPr lang="en-US" altLang="ko-KR" dirty="0"/>
              <a:t>(</a:t>
            </a:r>
            <a:r>
              <a:rPr lang="ko-KR" altLang="en-US" dirty="0"/>
              <a:t>시나리오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얻을 수 있습니다</a:t>
            </a:r>
            <a:endParaRPr dirty="0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학습-목표#1|c55e4f76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시뮬레이션이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운영과</a:t>
            </a:r>
            <a:r>
              <a:rPr dirty="0"/>
              <a:t> </a:t>
            </a: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/>
              <a:t>VISSIM·SUMO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도구가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문제에</a:t>
            </a:r>
            <a:r>
              <a:rPr dirty="0"/>
              <a:t> </a:t>
            </a:r>
            <a:r>
              <a:rPr dirty="0" err="1"/>
              <a:t>맞지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이유를</a:t>
            </a:r>
            <a:r>
              <a:rPr dirty="0"/>
              <a:t> </a:t>
            </a:r>
            <a:r>
              <a:rPr dirty="0" err="1"/>
              <a:t>댑니다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/>
              <a:t>0장에서 </a:t>
            </a:r>
            <a:r>
              <a:rPr dirty="0" err="1"/>
              <a:t>돌린</a:t>
            </a:r>
            <a:r>
              <a:rPr dirty="0"/>
              <a:t> </a:t>
            </a:r>
            <a:r>
              <a:rPr dirty="0" err="1"/>
              <a:t>결과에서</a:t>
            </a:r>
            <a:r>
              <a:rPr dirty="0"/>
              <a:t> "</a:t>
            </a:r>
            <a:r>
              <a:rPr dirty="0" err="1"/>
              <a:t>차량을</a:t>
            </a:r>
            <a:r>
              <a:rPr dirty="0"/>
              <a:t> </a:t>
            </a:r>
            <a:r>
              <a:rPr dirty="0" err="1"/>
              <a:t>줄여도</a:t>
            </a:r>
            <a:r>
              <a:rPr dirty="0"/>
              <a:t> </a:t>
            </a:r>
            <a:r>
              <a:rPr dirty="0" err="1"/>
              <a:t>되는가"라는</a:t>
            </a:r>
            <a:r>
              <a:rPr dirty="0"/>
              <a:t> </a:t>
            </a:r>
            <a:r>
              <a:rPr dirty="0" err="1"/>
              <a:t>질문을</a:t>
            </a:r>
            <a:r>
              <a:rPr dirty="0"/>
              <a:t> </a:t>
            </a:r>
            <a:r>
              <a:rPr dirty="0" err="1"/>
              <a:t>끌어냅니다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책이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</a:t>
            </a:r>
            <a:r>
              <a:rPr dirty="0" err="1"/>
              <a:t>시뮬레이터의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부분을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몇</a:t>
            </a:r>
            <a:r>
              <a:rPr dirty="0"/>
              <a:t> </a:t>
            </a:r>
            <a:r>
              <a:rPr dirty="0" err="1"/>
              <a:t>장에서</a:t>
            </a:r>
            <a:r>
              <a:rPr dirty="0"/>
              <a:t> </a:t>
            </a:r>
            <a:r>
              <a:rPr dirty="0" err="1"/>
              <a:t>다루는지</a:t>
            </a:r>
            <a:r>
              <a:rPr dirty="0"/>
              <a:t> </a:t>
            </a:r>
            <a:r>
              <a:rPr dirty="0" err="1"/>
              <a:t>압니다</a:t>
            </a:r>
            <a:r>
              <a:rPr dirty="0"/>
              <a:t>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1#1|8dcf1619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좋은 모빌리티 시스템이란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모빌리티</a:t>
            </a:r>
            <a:r>
              <a:rPr dirty="0"/>
              <a:t> </a:t>
            </a:r>
            <a:r>
              <a:rPr dirty="0" err="1"/>
              <a:t>시스템은</a:t>
            </a:r>
            <a:r>
              <a:rPr dirty="0"/>
              <a:t> </a:t>
            </a:r>
            <a:r>
              <a:rPr dirty="0" err="1"/>
              <a:t>사람과</a:t>
            </a:r>
            <a:r>
              <a:rPr dirty="0"/>
              <a:t> </a:t>
            </a:r>
            <a:r>
              <a:rPr dirty="0" err="1"/>
              <a:t>물건을</a:t>
            </a:r>
            <a:r>
              <a:rPr dirty="0"/>
              <a:t> </a:t>
            </a:r>
            <a:r>
              <a:rPr dirty="0" err="1"/>
              <a:t>옮기는</a:t>
            </a:r>
            <a:r>
              <a:rPr dirty="0"/>
              <a:t> </a:t>
            </a:r>
            <a:r>
              <a:rPr dirty="0" err="1"/>
              <a:t>장치</a:t>
            </a:r>
            <a:r>
              <a:rPr dirty="0"/>
              <a:t> </a:t>
            </a:r>
            <a:r>
              <a:rPr dirty="0" err="1"/>
              <a:t>전부입니다</a:t>
            </a:r>
            <a:r>
              <a:rPr dirty="0"/>
              <a:t>. </a:t>
            </a:r>
            <a:r>
              <a:rPr dirty="0" err="1"/>
              <a:t>지하철과</a:t>
            </a:r>
            <a:r>
              <a:rPr dirty="0"/>
              <a:t> </a:t>
            </a:r>
            <a:r>
              <a:rPr dirty="0" err="1"/>
              <a:t>버스</a:t>
            </a:r>
            <a:r>
              <a:rPr dirty="0"/>
              <a:t>, </a:t>
            </a:r>
            <a:r>
              <a:rPr dirty="0" err="1"/>
              <a:t>택시</a:t>
            </a:r>
            <a:r>
              <a:rPr dirty="0"/>
              <a:t>, </a:t>
            </a:r>
            <a:r>
              <a:rPr dirty="0" err="1"/>
              <a:t>자전거와</a:t>
            </a:r>
            <a:r>
              <a:rPr dirty="0"/>
              <a:t> </a:t>
            </a:r>
            <a:r>
              <a:rPr dirty="0" err="1"/>
              <a:t>전동킥보드</a:t>
            </a:r>
            <a:r>
              <a:rPr dirty="0"/>
              <a:t>, </a:t>
            </a:r>
            <a:r>
              <a:rPr dirty="0" err="1"/>
              <a:t>배달</a:t>
            </a:r>
            <a:r>
              <a:rPr dirty="0"/>
              <a:t> </a:t>
            </a:r>
            <a:r>
              <a:rPr dirty="0" err="1"/>
              <a:t>오토바이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발까지</a:t>
            </a:r>
            <a:r>
              <a:rPr dirty="0"/>
              <a:t> </a:t>
            </a:r>
            <a:r>
              <a:rPr dirty="0" err="1"/>
              <a:t>포함합니다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시스템인지는</a:t>
            </a:r>
            <a:r>
              <a:rPr dirty="0"/>
              <a:t> </a:t>
            </a:r>
            <a:r>
              <a:rPr dirty="0" err="1"/>
              <a:t>누구에게</a:t>
            </a:r>
            <a:r>
              <a:rPr dirty="0"/>
              <a:t> </a:t>
            </a:r>
            <a:r>
              <a:rPr dirty="0" err="1"/>
              <a:t>묻느냐에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pPr lvl="1"/>
            <a:r>
              <a:rPr b="1" dirty="0" err="1"/>
              <a:t>승객</a:t>
            </a:r>
            <a:r>
              <a:rPr dirty="0" err="1"/>
              <a:t>은</a:t>
            </a:r>
            <a:r>
              <a:rPr dirty="0"/>
              <a:t> </a:t>
            </a:r>
            <a:r>
              <a:rPr dirty="0" err="1"/>
              <a:t>빨리</a:t>
            </a:r>
            <a:r>
              <a:rPr dirty="0"/>
              <a:t> </a:t>
            </a:r>
            <a:r>
              <a:rPr dirty="0" err="1"/>
              <a:t>오고</a:t>
            </a:r>
            <a:r>
              <a:rPr dirty="0"/>
              <a:t> </a:t>
            </a:r>
            <a:r>
              <a:rPr dirty="0" err="1"/>
              <a:t>빨리</a:t>
            </a:r>
            <a:r>
              <a:rPr dirty="0"/>
              <a:t> </a:t>
            </a:r>
            <a:r>
              <a:rPr dirty="0" err="1"/>
              <a:t>가기를</a:t>
            </a:r>
            <a:r>
              <a:rPr dirty="0"/>
              <a:t> </a:t>
            </a:r>
            <a:r>
              <a:rPr dirty="0" err="1"/>
              <a:t>바랍니다</a:t>
            </a:r>
            <a:r>
              <a:rPr dirty="0"/>
              <a:t>. </a:t>
            </a:r>
            <a:r>
              <a:rPr dirty="0" err="1"/>
              <a:t>대기시간과</a:t>
            </a:r>
            <a:r>
              <a:rPr dirty="0"/>
              <a:t> </a:t>
            </a:r>
            <a:r>
              <a:rPr dirty="0" err="1"/>
              <a:t>통행시간이</a:t>
            </a:r>
            <a:r>
              <a:rPr dirty="0"/>
              <a:t> </a:t>
            </a:r>
            <a:r>
              <a:rPr dirty="0" err="1"/>
              <a:t>짧아야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pPr lvl="1"/>
            <a:r>
              <a:rPr b="1" dirty="0" err="1"/>
              <a:t>운영자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차를</a:t>
            </a:r>
            <a:r>
              <a:rPr dirty="0"/>
              <a:t> </a:t>
            </a:r>
            <a:r>
              <a:rPr dirty="0" err="1"/>
              <a:t>놀리고</a:t>
            </a:r>
            <a:r>
              <a:rPr dirty="0"/>
              <a:t> </a:t>
            </a:r>
            <a:r>
              <a:rPr dirty="0" err="1"/>
              <a:t>싶지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대가</a:t>
            </a:r>
            <a:r>
              <a:rPr dirty="0"/>
              <a:t> </a:t>
            </a:r>
            <a:r>
              <a:rPr dirty="0" err="1"/>
              <a:t>하루에</a:t>
            </a:r>
            <a:r>
              <a:rPr dirty="0"/>
              <a:t> </a:t>
            </a:r>
            <a:r>
              <a:rPr dirty="0" err="1"/>
              <a:t>몇</a:t>
            </a:r>
            <a:r>
              <a:rPr dirty="0"/>
              <a:t> </a:t>
            </a:r>
            <a:r>
              <a:rPr dirty="0" err="1"/>
              <a:t>명을</a:t>
            </a:r>
            <a:r>
              <a:rPr dirty="0"/>
              <a:t> </a:t>
            </a:r>
            <a:r>
              <a:rPr dirty="0" err="1"/>
              <a:t>태웠는지가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.</a:t>
            </a:r>
          </a:p>
          <a:p>
            <a:pPr lvl="1"/>
            <a:r>
              <a:rPr b="1" dirty="0" err="1"/>
              <a:t>도시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도로가</a:t>
            </a:r>
            <a:r>
              <a:rPr dirty="0"/>
              <a:t> </a:t>
            </a:r>
            <a:r>
              <a:rPr dirty="0" err="1"/>
              <a:t>막히지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배기가스가</a:t>
            </a:r>
            <a:r>
              <a:rPr dirty="0"/>
              <a:t> </a:t>
            </a:r>
            <a:r>
              <a:rPr dirty="0" err="1"/>
              <a:t>적기를</a:t>
            </a:r>
            <a:r>
              <a:rPr dirty="0"/>
              <a:t> </a:t>
            </a:r>
            <a:r>
              <a:rPr dirty="0" err="1"/>
              <a:t>바랍니다</a:t>
            </a:r>
            <a:r>
              <a:rPr dirty="0"/>
              <a:t>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1-2#1|459374b5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세 관점은 서로 부딪힙니다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14363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차를 많이 넣으면 대기시간은 줄지만 빈 차가 늘고, 도로에는 차가 더 늘어납니다.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"좋다"를 말하려면 무엇을 얼마나 좋게 했는지와, 대신 무엇을 얼마나 포기했는지를 함께 숫자로 내놓아야 합니다.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이 과목은 그 숫자를 만드는 방법을 다룹니다. 12장에서 지표를 정리할 때 이 세 관점이 다시 나옵니다.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548640" y="3128010"/>
          <a:ext cx="11094414" cy="1327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58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관점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바라는 것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지표의 예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승객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빨리 오고 빨리 간다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대기시간, 통행시간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운영자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차를 놀리지 않는다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차량당 하루 승객 수, 가동률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도시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막히지 않고 배기가스가 적다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총 주행거리, 공차 거리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#1|1221f5f4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왜 시뮬레이션이 필요한가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확실한</a:t>
            </a:r>
            <a:r>
              <a:rPr dirty="0"/>
              <a:t> </a:t>
            </a:r>
            <a:r>
              <a:rPr dirty="0" err="1"/>
              <a:t>답은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20대를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달</a:t>
            </a:r>
            <a:r>
              <a:rPr dirty="0"/>
              <a:t> </a:t>
            </a:r>
            <a:r>
              <a:rPr dirty="0" err="1"/>
              <a:t>굴려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달을</a:t>
            </a:r>
            <a:r>
              <a:rPr dirty="0"/>
              <a:t> </a:t>
            </a:r>
            <a:r>
              <a:rPr dirty="0" err="1"/>
              <a:t>굴려도</a:t>
            </a:r>
            <a:r>
              <a:rPr dirty="0"/>
              <a:t> </a:t>
            </a:r>
            <a:r>
              <a:rPr dirty="0" err="1"/>
              <a:t>얻는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하나입니다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질문에는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답할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pPr lvl="1"/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dirty="0"/>
              <a:t>10대였으면 </a:t>
            </a:r>
            <a:r>
              <a:rPr dirty="0" err="1"/>
              <a:t>어땠을까</a:t>
            </a:r>
            <a:endParaRPr dirty="0"/>
          </a:p>
          <a:p>
            <a:pPr lvl="1"/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dirty="0" err="1"/>
              <a:t>차고지를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곳으로</a:t>
            </a:r>
            <a:r>
              <a:rPr dirty="0"/>
              <a:t> </a:t>
            </a:r>
            <a:r>
              <a:rPr dirty="0" err="1"/>
              <a:t>나눴으면</a:t>
            </a:r>
            <a:endParaRPr dirty="0"/>
          </a:p>
          <a:p>
            <a:pPr lvl="1"/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dirty="0" err="1"/>
              <a:t>가까운</a:t>
            </a:r>
            <a:r>
              <a:rPr dirty="0"/>
              <a:t> </a:t>
            </a:r>
            <a:r>
              <a:rPr dirty="0" err="1"/>
              <a:t>차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빨리</a:t>
            </a:r>
            <a:r>
              <a:rPr dirty="0"/>
              <a:t> </a:t>
            </a:r>
            <a:r>
              <a:rPr dirty="0" err="1"/>
              <a:t>도착할</a:t>
            </a:r>
            <a:r>
              <a:rPr dirty="0"/>
              <a:t> </a:t>
            </a:r>
            <a:r>
              <a:rPr dirty="0" err="1"/>
              <a:t>차를</a:t>
            </a:r>
            <a:r>
              <a:rPr dirty="0"/>
              <a:t> </a:t>
            </a:r>
            <a:r>
              <a:rPr dirty="0" err="1"/>
              <a:t>보냈으면</a:t>
            </a:r>
            <a:endParaRPr dirty="0"/>
          </a:p>
          <a:p>
            <a:endParaRPr lang="en-US" dirty="0"/>
          </a:p>
          <a:p>
            <a:r>
              <a:rPr dirty="0" err="1"/>
              <a:t>대안끼리</a:t>
            </a:r>
            <a:r>
              <a:rPr dirty="0"/>
              <a:t> </a:t>
            </a:r>
            <a:r>
              <a:rPr dirty="0" err="1"/>
              <a:t>비교하려면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달을</a:t>
            </a:r>
            <a:r>
              <a:rPr dirty="0"/>
              <a:t> </a:t>
            </a:r>
            <a:r>
              <a:rPr dirty="0" err="1"/>
              <a:t>조건만</a:t>
            </a:r>
            <a:r>
              <a:rPr dirty="0"/>
              <a:t> </a:t>
            </a:r>
            <a:r>
              <a:rPr dirty="0" err="1"/>
              <a:t>바꿔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살아야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도시에는</a:t>
            </a:r>
            <a:r>
              <a:rPr dirty="0"/>
              <a:t> </a:t>
            </a:r>
            <a:r>
              <a:rPr dirty="0" err="1"/>
              <a:t>그런</a:t>
            </a:r>
            <a:r>
              <a:rPr dirty="0"/>
              <a:t> </a:t>
            </a:r>
            <a:r>
              <a:rPr dirty="0" err="1"/>
              <a:t>되감기</a:t>
            </a:r>
            <a:r>
              <a:rPr dirty="0"/>
              <a:t> </a:t>
            </a:r>
            <a:r>
              <a:rPr dirty="0" err="1"/>
              <a:t>버튼이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  <a:endParaRPr lang="en-US" dirty="0"/>
          </a:p>
          <a:p>
            <a:r>
              <a:rPr lang="ko-KR" altLang="en-US" dirty="0"/>
              <a:t>다양한 시나리오를 설정하고</a:t>
            </a:r>
            <a:r>
              <a:rPr lang="en-US" altLang="ko-KR" dirty="0"/>
              <a:t>,</a:t>
            </a:r>
            <a:r>
              <a:rPr lang="ko-KR" altLang="en-US" dirty="0"/>
              <a:t> 시나리오의 효과를 평가할 수 있는 것이 시뮬레이션의 가장 큰 장점입니다</a:t>
            </a:r>
            <a:endParaRPr dirty="0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-2#1|53d6a283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시뮬레이션은 되감기 버튼을 만드는 일입니다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도로망 위에 차량과 승객을 올려놓고 시간을 1분씩 밀면서, 몇 시 몇 분에 어떤 차가 어느 지점에 있었고 누구를 태웠는지를 전부 기록합니다.</a:t>
            </a:r>
          </a:p>
          <a:p>
            <a:r>
              <a:t>차량 수를 10대로 바꿔 다시 돌리면, 같은 수요와 같은 도로망 위에서 두 조건의 평균 대기시간을 나란히 놓고 비교할 수 있습니다.</a:t>
            </a:r>
          </a:p>
          <a:p>
            <a:r>
              <a:t>실제 운영과의 차이는 이것 하나입니다. 같은 하루를 조건만 바꿔 여러 번 살 수 있습니다.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-3#1|f7993befc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1.2 </a:t>
            </a:r>
            <a:r>
              <a:rPr sz="3200" dirty="0" err="1"/>
              <a:t>이미</a:t>
            </a:r>
            <a:r>
              <a:rPr sz="3200" dirty="0"/>
              <a:t> </a:t>
            </a:r>
            <a:r>
              <a:rPr sz="3200" dirty="0" err="1"/>
              <a:t>있는</a:t>
            </a:r>
            <a:r>
              <a:rPr sz="3200" dirty="0"/>
              <a:t> </a:t>
            </a:r>
            <a:r>
              <a:rPr sz="3200" dirty="0" err="1"/>
              <a:t>도구를</a:t>
            </a:r>
            <a:r>
              <a:rPr sz="3200" dirty="0"/>
              <a:t> </a:t>
            </a:r>
            <a:r>
              <a:rPr sz="3200" dirty="0" err="1"/>
              <a:t>쓰면</a:t>
            </a:r>
            <a:r>
              <a:rPr sz="3200" dirty="0"/>
              <a:t> </a:t>
            </a:r>
            <a:r>
              <a:rPr sz="3200" dirty="0" err="1"/>
              <a:t>되지</a:t>
            </a:r>
            <a:r>
              <a:rPr sz="3200" dirty="0"/>
              <a:t> </a:t>
            </a:r>
            <a:r>
              <a:rPr sz="3200" dirty="0" err="1"/>
              <a:t>않는가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/>
          <a:lstStyle/>
          <a:p>
            <a:r>
              <a:rPr dirty="0" err="1"/>
              <a:t>교통</a:t>
            </a:r>
            <a:r>
              <a:rPr dirty="0"/>
              <a:t> </a:t>
            </a:r>
            <a:r>
              <a:rPr dirty="0" err="1"/>
              <a:t>시뮬레이터는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여럿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쓰지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이유는</a:t>
            </a:r>
            <a:r>
              <a:rPr dirty="0"/>
              <a:t> </a:t>
            </a:r>
            <a:r>
              <a:rPr dirty="0" err="1"/>
              <a:t>성능이</a:t>
            </a:r>
            <a:r>
              <a:rPr dirty="0"/>
              <a:t> </a:t>
            </a:r>
            <a:r>
              <a:rPr dirty="0" err="1"/>
              <a:t>나빠서가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도구가</a:t>
            </a:r>
            <a:r>
              <a:rPr dirty="0"/>
              <a:t> </a:t>
            </a:r>
            <a:r>
              <a:rPr dirty="0" err="1"/>
              <a:t>답하도록</a:t>
            </a:r>
            <a:r>
              <a:rPr dirty="0"/>
              <a:t> </a:t>
            </a:r>
            <a:r>
              <a:rPr dirty="0" err="1"/>
              <a:t>만들어진</a:t>
            </a:r>
            <a:r>
              <a:rPr dirty="0"/>
              <a:t>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질문과</a:t>
            </a:r>
            <a:r>
              <a:rPr dirty="0"/>
              <a:t> </a:t>
            </a:r>
            <a:r>
              <a:rPr dirty="0" err="1"/>
              <a:t>다르기</a:t>
            </a:r>
            <a:r>
              <a:rPr dirty="0"/>
              <a:t> </a:t>
            </a:r>
            <a:r>
              <a:rPr dirty="0" err="1"/>
              <a:t>때문입니다</a:t>
            </a:r>
            <a:r>
              <a:rPr dirty="0"/>
              <a:t>.</a:t>
            </a:r>
          </a:p>
          <a:p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전체가</a:t>
            </a:r>
            <a:r>
              <a:rPr dirty="0"/>
              <a:t> </a:t>
            </a:r>
            <a:r>
              <a:rPr dirty="0" err="1"/>
              <a:t>교차로</a:t>
            </a:r>
            <a:r>
              <a:rPr dirty="0"/>
              <a:t> </a:t>
            </a:r>
            <a:r>
              <a:rPr dirty="0" err="1"/>
              <a:t>하나입니다</a:t>
            </a:r>
            <a:r>
              <a:rPr dirty="0"/>
              <a:t>. </a:t>
            </a:r>
            <a:r>
              <a:rPr dirty="0" err="1"/>
              <a:t>차로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그리고</a:t>
            </a:r>
            <a:r>
              <a:rPr dirty="0"/>
              <a:t>, </a:t>
            </a:r>
            <a:r>
              <a:rPr dirty="0" err="1"/>
              <a:t>차량마다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개별로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</a:t>
            </a:r>
          </a:p>
        </p:txBody>
      </p:sp>
      <p:sp>
        <p:nvSpPr>
          <p:cNvPr id="10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pic>
        <p:nvPicPr>
          <p:cNvPr id="103" name="Figure: ch01_vissim.png" descr="ch01_vis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4" y="1600200"/>
            <a:ext cx="5394960" cy="3395651"/>
          </a:xfrm>
          <a:prstGeom prst="rect">
            <a:avLst/>
          </a:prstGeom>
        </p:spPr>
      </p:pic>
      <p:sp>
        <p:nvSpPr>
          <p:cNvPr id="104" name="Caption"/>
          <p:cNvSpPr txBox="1"/>
          <p:nvPr/>
        </p:nvSpPr>
        <p:spPr>
          <a:xfrm>
            <a:off x="6248094" y="5041571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</a:rPr>
              <a:t>그림 1. VISSIM 화면 — 교차로 하나를 차로 단위로 그립니다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-4#1|1d6cba9d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미시 교통류 시뮬레이터가 계산하는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/>
          <a:lstStyle/>
          <a:p>
            <a:r>
              <a:rPr dirty="0"/>
              <a:t>VISSIM(</a:t>
            </a:r>
            <a:r>
              <a:rPr dirty="0" err="1"/>
              <a:t>독일</a:t>
            </a:r>
            <a:r>
              <a:rPr dirty="0"/>
              <a:t> PTV)</a:t>
            </a:r>
            <a:r>
              <a:rPr dirty="0" err="1"/>
              <a:t>과</a:t>
            </a:r>
            <a:r>
              <a:rPr dirty="0"/>
              <a:t> AIMSUN(</a:t>
            </a:r>
            <a:r>
              <a:rPr dirty="0" err="1"/>
              <a:t>스페인</a:t>
            </a:r>
            <a:r>
              <a:rPr dirty="0"/>
              <a:t> TSS)</a:t>
            </a:r>
            <a:r>
              <a:rPr dirty="0" err="1"/>
              <a:t>은</a:t>
            </a:r>
            <a:r>
              <a:rPr dirty="0"/>
              <a:t> </a:t>
            </a:r>
            <a:r>
              <a:rPr dirty="0" err="1"/>
              <a:t>미시</a:t>
            </a:r>
            <a:r>
              <a:rPr dirty="0"/>
              <a:t> </a:t>
            </a:r>
            <a:r>
              <a:rPr dirty="0" err="1"/>
              <a:t>교통류</a:t>
            </a:r>
            <a:r>
              <a:rPr dirty="0"/>
              <a:t> </a:t>
            </a:r>
            <a:r>
              <a:rPr dirty="0" err="1"/>
              <a:t>시뮬레이터입니다</a:t>
            </a:r>
            <a:r>
              <a:rPr dirty="0"/>
              <a:t>.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대의</a:t>
            </a:r>
            <a:r>
              <a:rPr dirty="0"/>
              <a:t> </a:t>
            </a:r>
            <a:r>
              <a:rPr dirty="0" err="1"/>
              <a:t>차간거리와</a:t>
            </a:r>
            <a:r>
              <a:rPr dirty="0"/>
              <a:t> </a:t>
            </a:r>
            <a:r>
              <a:rPr dirty="0" err="1"/>
              <a:t>차로</a:t>
            </a:r>
            <a:r>
              <a:rPr dirty="0"/>
              <a:t> </a:t>
            </a:r>
            <a:r>
              <a:rPr dirty="0" err="1"/>
              <a:t>변경을</a:t>
            </a:r>
            <a:r>
              <a:rPr dirty="0"/>
              <a:t> </a:t>
            </a:r>
            <a:r>
              <a:rPr dirty="0" err="1"/>
              <a:t>초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그래서</a:t>
            </a:r>
            <a:r>
              <a:rPr dirty="0"/>
              <a:t> "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교차로의</a:t>
            </a:r>
            <a:r>
              <a:rPr dirty="0"/>
              <a:t> </a:t>
            </a:r>
            <a:r>
              <a:rPr dirty="0" err="1"/>
              <a:t>좌회전</a:t>
            </a:r>
            <a:r>
              <a:rPr dirty="0"/>
              <a:t> </a:t>
            </a:r>
            <a:r>
              <a:rPr dirty="0" err="1"/>
              <a:t>신호를</a:t>
            </a:r>
            <a:r>
              <a:rPr dirty="0"/>
              <a:t> 5초 </a:t>
            </a:r>
            <a:r>
              <a:rPr dirty="0" err="1"/>
              <a:t>늘리면</a:t>
            </a:r>
            <a:r>
              <a:rPr dirty="0"/>
              <a:t> </a:t>
            </a:r>
            <a:r>
              <a:rPr dirty="0" err="1"/>
              <a:t>대기행렬이</a:t>
            </a:r>
            <a:r>
              <a:rPr dirty="0"/>
              <a:t> </a:t>
            </a:r>
            <a:r>
              <a:rPr dirty="0" err="1"/>
              <a:t>몇</a:t>
            </a:r>
            <a:r>
              <a:rPr dirty="0"/>
              <a:t> </a:t>
            </a:r>
            <a:r>
              <a:rPr dirty="0" err="1"/>
              <a:t>미터</a:t>
            </a:r>
            <a:r>
              <a:rPr dirty="0"/>
              <a:t> </a:t>
            </a:r>
            <a:r>
              <a:rPr dirty="0" err="1"/>
              <a:t>줄어드는가</a:t>
            </a:r>
            <a:r>
              <a:rPr dirty="0"/>
              <a:t>"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질문에</a:t>
            </a:r>
            <a:r>
              <a:rPr dirty="0"/>
              <a:t> </a:t>
            </a:r>
            <a:r>
              <a:rPr dirty="0" err="1"/>
              <a:t>강합니다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계산량이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정밀도를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늘어납니다</a:t>
            </a:r>
            <a:r>
              <a:rPr dirty="0"/>
              <a:t>. </a:t>
            </a:r>
            <a:r>
              <a:rPr dirty="0" err="1"/>
              <a:t>교차로</a:t>
            </a:r>
            <a:r>
              <a:rPr dirty="0"/>
              <a:t> </a:t>
            </a:r>
            <a:r>
              <a:rPr dirty="0" err="1"/>
              <a:t>수십</a:t>
            </a:r>
            <a:r>
              <a:rPr dirty="0"/>
              <a:t> </a:t>
            </a:r>
            <a:r>
              <a:rPr dirty="0" err="1"/>
              <a:t>개짜리</a:t>
            </a:r>
            <a:r>
              <a:rPr dirty="0"/>
              <a:t> </a:t>
            </a:r>
            <a:r>
              <a:rPr dirty="0" err="1"/>
              <a:t>구역을</a:t>
            </a:r>
            <a:r>
              <a:rPr dirty="0"/>
              <a:t> </a:t>
            </a:r>
            <a:r>
              <a:rPr dirty="0" err="1"/>
              <a:t>넘어</a:t>
            </a:r>
            <a:r>
              <a:rPr dirty="0"/>
              <a:t> </a:t>
            </a:r>
            <a:r>
              <a:rPr dirty="0" err="1"/>
              <a:t>도시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하루를</a:t>
            </a:r>
            <a:r>
              <a:rPr dirty="0"/>
              <a:t> </a:t>
            </a:r>
            <a:r>
              <a:rPr dirty="0" err="1"/>
              <a:t>통째로</a:t>
            </a:r>
            <a:r>
              <a:rPr dirty="0"/>
              <a:t> </a:t>
            </a:r>
            <a:r>
              <a:rPr dirty="0" err="1"/>
              <a:t>돌리는</a:t>
            </a:r>
            <a:r>
              <a:rPr dirty="0"/>
              <a:t> </a:t>
            </a:r>
            <a:r>
              <a:rPr dirty="0" err="1"/>
              <a:t>용도가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상용</a:t>
            </a:r>
            <a:r>
              <a:rPr dirty="0"/>
              <a:t> </a:t>
            </a:r>
            <a:r>
              <a:rPr dirty="0" err="1"/>
              <a:t>라이선스가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 </a:t>
            </a:r>
            <a:r>
              <a:rPr dirty="0" err="1"/>
              <a:t>수강생이</a:t>
            </a:r>
            <a:r>
              <a:rPr dirty="0"/>
              <a:t> </a:t>
            </a:r>
            <a:r>
              <a:rPr dirty="0" err="1"/>
              <a:t>각자</a:t>
            </a:r>
            <a:r>
              <a:rPr dirty="0"/>
              <a:t> </a:t>
            </a:r>
            <a:r>
              <a:rPr dirty="0" err="1"/>
              <a:t>노트북에서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바꿔</a:t>
            </a:r>
            <a:r>
              <a:rPr dirty="0"/>
              <a:t> </a:t>
            </a:r>
            <a:r>
              <a:rPr dirty="0" err="1"/>
              <a:t>가며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실험하기</a:t>
            </a:r>
            <a:r>
              <a:rPr dirty="0"/>
              <a:t> </a:t>
            </a:r>
            <a:r>
              <a:rPr dirty="0" err="1"/>
              <a:t>어렵습니다</a:t>
            </a:r>
            <a:r>
              <a:rPr dirty="0"/>
              <a:t>.</a:t>
            </a:r>
          </a:p>
        </p:txBody>
      </p:sp>
      <p:sp>
        <p:nvSpPr>
          <p:cNvPr id="10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pic>
        <p:nvPicPr>
          <p:cNvPr id="103" name="Figure: ch01_aimsun.jpg" descr="ch01_aims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4" y="1600200"/>
            <a:ext cx="5394960" cy="3034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-5#1|652296a3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SUMO는 가장 가깝지만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SUMO(</a:t>
            </a:r>
            <a:r>
              <a:rPr dirty="0" err="1"/>
              <a:t>독일</a:t>
            </a:r>
            <a:r>
              <a:rPr dirty="0"/>
              <a:t> DLR)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미시</a:t>
            </a:r>
            <a:r>
              <a:rPr dirty="0"/>
              <a:t> </a:t>
            </a:r>
            <a:r>
              <a:rPr dirty="0" err="1"/>
              <a:t>시뮬레이터지만</a:t>
            </a:r>
            <a:r>
              <a:rPr dirty="0"/>
              <a:t> </a:t>
            </a:r>
            <a:r>
              <a:rPr dirty="0" err="1"/>
              <a:t>오픈소스입니다</a:t>
            </a:r>
            <a:r>
              <a:rPr dirty="0"/>
              <a:t>. </a:t>
            </a:r>
            <a:r>
              <a:rPr dirty="0" err="1"/>
              <a:t>TraCI</a:t>
            </a:r>
            <a:r>
              <a:rPr dirty="0"/>
              <a:t> </a:t>
            </a:r>
            <a:r>
              <a:rPr dirty="0" err="1"/>
              <a:t>인터페이스로</a:t>
            </a:r>
            <a:r>
              <a:rPr dirty="0"/>
              <a:t> </a:t>
            </a:r>
            <a:r>
              <a:rPr dirty="0" err="1"/>
              <a:t>시뮬레이션이</a:t>
            </a:r>
            <a:r>
              <a:rPr dirty="0"/>
              <a:t> </a:t>
            </a:r>
            <a:r>
              <a:rPr dirty="0" err="1"/>
              <a:t>도는</a:t>
            </a:r>
            <a:r>
              <a:rPr dirty="0"/>
              <a:t> </a:t>
            </a:r>
            <a:r>
              <a:rPr dirty="0" err="1"/>
              <a:t>중에</a:t>
            </a:r>
            <a:r>
              <a:rPr dirty="0"/>
              <a:t> </a:t>
            </a:r>
            <a:r>
              <a:rPr dirty="0" err="1"/>
              <a:t>파이썬에서</a:t>
            </a:r>
            <a:r>
              <a:rPr dirty="0"/>
              <a:t> </a:t>
            </a:r>
            <a:r>
              <a:rPr dirty="0" err="1"/>
              <a:t>차량을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제어할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우리가</a:t>
            </a:r>
            <a:r>
              <a:rPr dirty="0"/>
              <a:t> </a:t>
            </a:r>
            <a:r>
              <a:rPr dirty="0" err="1"/>
              <a:t>하려는</a:t>
            </a:r>
            <a:r>
              <a:rPr dirty="0"/>
              <a:t> </a:t>
            </a:r>
            <a:r>
              <a:rPr dirty="0" err="1"/>
              <a:t>일에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가깝습니다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단위는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'</a:t>
            </a:r>
            <a:r>
              <a:rPr dirty="0" err="1"/>
              <a:t>차로</a:t>
            </a:r>
            <a:r>
              <a:rPr dirty="0"/>
              <a:t> </a:t>
            </a:r>
            <a:r>
              <a:rPr dirty="0" err="1"/>
              <a:t>위의</a:t>
            </a:r>
            <a:r>
              <a:rPr dirty="0"/>
              <a:t> </a:t>
            </a:r>
            <a:r>
              <a:rPr dirty="0" err="1"/>
              <a:t>차량'입니다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규칙을</a:t>
            </a:r>
            <a:r>
              <a:rPr dirty="0"/>
              <a:t> </a:t>
            </a:r>
            <a:r>
              <a:rPr dirty="0" err="1"/>
              <a:t>바꿔</a:t>
            </a:r>
            <a:r>
              <a:rPr dirty="0"/>
              <a:t> </a:t>
            </a:r>
            <a:r>
              <a:rPr dirty="0" err="1"/>
              <a:t>가며</a:t>
            </a:r>
            <a:r>
              <a:rPr dirty="0"/>
              <a:t> </a:t>
            </a:r>
            <a:r>
              <a:rPr dirty="0" err="1"/>
              <a:t>대기시간을</a:t>
            </a:r>
            <a:r>
              <a:rPr dirty="0"/>
              <a:t> </a:t>
            </a:r>
            <a:r>
              <a:rPr dirty="0" err="1"/>
              <a:t>비교하려는</a:t>
            </a:r>
            <a:r>
              <a:rPr dirty="0"/>
              <a:t> </a:t>
            </a:r>
            <a:r>
              <a:rPr dirty="0" err="1"/>
              <a:t>우리에게</a:t>
            </a:r>
            <a:r>
              <a:rPr dirty="0"/>
              <a:t>, </a:t>
            </a:r>
            <a:r>
              <a:rPr dirty="0" err="1"/>
              <a:t>차로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모형까지</a:t>
            </a:r>
            <a:r>
              <a:rPr dirty="0"/>
              <a:t> </a:t>
            </a:r>
            <a:r>
              <a:rPr dirty="0" err="1"/>
              <a:t>계산하는</a:t>
            </a:r>
            <a:r>
              <a:rPr dirty="0"/>
              <a:t> </a:t>
            </a:r>
            <a:r>
              <a:rPr dirty="0" err="1"/>
              <a:t>비용은</a:t>
            </a:r>
            <a:r>
              <a:rPr dirty="0"/>
              <a:t> </a:t>
            </a:r>
            <a:r>
              <a:rPr dirty="0" err="1"/>
              <a:t>필요가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-6#1|a8c2f7e3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도구 비교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6616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세 도구의 차이는 성능이 아니라 기본 단위와 답하는 질문입니다.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548640" y="2353310"/>
          <a:ext cx="11094412" cy="1200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35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228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도구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기본 단위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공간 범위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라이선스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잘 답하는 질문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VISSIM, AIMSUN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차로 위의 차량 (초)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교차로~구역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상용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신호 5초 늘리면 대기행렬은?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SUMO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차로 위의 차량 (초)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구역~도시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오픈소스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위와 같음 + 파이썬 제어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이 과목의 시뮬레이터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노드 위의 차량 (분)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도시 전체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직접 작성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차를 40대로 줄이면 대기시간은?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2-7#1|69150d2d6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우리에게 필요한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해상도: '차량이 차로 위 어디에 있는가'가 아니라 '차량이 몇 시 몇 분에 어느 노드에 있는가'면 충분합니다.</a:t>
            </a:r>
          </a:p>
          <a:p>
            <a:r>
              <a:t>공간 범위: 교차로가 아니라 도시 전체여야 합니다.</a:t>
            </a:r>
          </a:p>
          <a:p>
            <a:r>
              <a:t>반복: 수강생이 각자 값을 바꿔 가며 다시 돌릴 수 있어야 합니다.</a:t>
            </a:r>
          </a:p>
          <a:p>
            <a:r>
              <a:t>직접 만든다고 하면 큰일처럼 들리지만, 재료는 이미 다 공개되어 있습니다.</a:t>
            </a:r>
          </a:p>
          <a:p>
            <a:pPr lvl="1"/>
            <a:r>
              <a:t>도로망은 OpenStreetMap에서 받습니다 (2장). 최단경로는 직접 짠 다익스트라로 구합니다 (3장). 대중교통 시간표는 공개 표준 GTFS를 씁니다 (5장).</a:t>
            </a:r>
          </a:p>
          <a:p>
            <a:r>
              <a:t>우리가 새로 쓰는 것은 이 부품들을 시간 축 위에서 돌리는 수백 줄짜리 코드뿐입니다.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3#1|519e02c3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답이 나오면 다음 질문이 생깁니다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6616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0장에서 하남시 저녁 시간대를 한 번 돌렸습니다. 그 결과를 다시 열어 봅니다.</a:t>
            </a:r>
          </a:p>
        </p:txBody>
      </p:sp>
      <p:sp>
        <p:nvSpPr>
          <p:cNvPr id="104" name="Code"/>
          <p:cNvSpPr/>
          <p:nvPr/>
        </p:nvSpPr>
        <p:spPr>
          <a:xfrm>
            <a:off x="548640" y="2353310"/>
            <a:ext cx="11094415" cy="1889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from smartmob import Dtumos</a:t>
            </a:r>
          </a:p>
          <a:p>
            <a:pPr algn="l"/>
            <a:endParaRPr sz="120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dt = Dtumos()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sim = dt.run_simulation(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city="hanam", mode="taxi", fleet_size=80, num_passengers=1000,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time_start=1080, time_end=1440, random_seed=42,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sim.summary()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548640" y="4425950"/>
            <a:ext cx="11094415" cy="1700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호출 990건이 전부 배차됐고 평균 대기시간은 4.1분입니다. 여기까지는 좋은 결과처럼 보입니다.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3-2#1|670e907a9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평균만 보면 놓치는 것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sp>
        <p:nvSpPr>
          <p:cNvPr id="103" name="Code"/>
          <p:cNvSpPr/>
          <p:nvPr/>
        </p:nvSpPr>
        <p:spPr>
          <a:xfrm>
            <a:off x="548640" y="1600200"/>
            <a:ext cx="11094415" cy="1127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wait = sim.passengers["wait_min"]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for q in [0.5, 0.9, 0.95]: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print(f"{q:&gt;5.0%} 분위  {wait.quantile(q):5.1f}분")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print(f"최댓값     {wait.max():5.1f}분")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548640" y="2910840"/>
            <a:ext cx="11094415" cy="321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절반은 3분 안에 탔습니다 (중앙값 3.0분). 열에 하나는 8.3분 넘게, 스무 명 중 한 명은 11분 넘게 기다렸습니다.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가장 오래 기다린 사람은 41.6분입니다. 평균 4.1분이라는 숫자 하나로는 이 사람이 보이지 않습니다.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3-3#1|6b4e50da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차량 쪽도 봅니다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sp>
        <p:nvSpPr>
          <p:cNvPr id="103" name="Code"/>
          <p:cNvSpPr/>
          <p:nvPr/>
        </p:nvSpPr>
        <p:spPr>
          <a:xfrm>
            <a:off x="548640" y="1600200"/>
            <a:ext cx="11094415" cy="1127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r = sim.result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print(f"승객 태운 차량 평균  {r['occupied_vehicle_num'].mean():.1f}대")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print(f"데리러 가는 차량 평균 {r['dispatched_vehicle_num'].mean():.1f}대")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print(f"빈 차 평균          {r['empty_vehicle_num'].mean():.1f}대")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548640" y="2910840"/>
            <a:ext cx="11094415" cy="321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승객을 태우고 있던 차는 평균 9.9대입니다. 31.3대는 그냥 서 있었습니다.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80대 중 승객을 태운 차는 열에 하나뿐입니다.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3-4#1|8bdb7e321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차량을 절반으로 줄이면?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40대로도 41분 기다린 사람이 더 늘지 않는다면, 나머지 40대는 다른 지역에 두는 편이 낫습니다.</a:t>
            </a:r>
          </a:p>
          <a:p>
            <a:r>
              <a:t>이 질문에 답하려면 같은 저녁을 40대로 다시 살아야 합니다. 실제 운영에서는 불가능하고, 시뮬레이터에서는 인자 하나를 바꾸면 됩니다.</a:t>
            </a:r>
          </a:p>
          <a:p>
            <a:r>
              <a:t>학기 내내 이 질문을 답할 수 있는 상태로 갑니다. 11장에서 직접 짠 루프로 답합니다.</a:t>
            </a:r>
          </a:p>
          <a:p>
            <a:r>
              <a:t>교재 녹화본에는 80대짜리 결과만 들어 있습니다. 40대로 바꿔 돌리려면 DTUMOS 서버가 필요합니다 (부록 B).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4#1|59b5eeac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시뮬레이터의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/>
          <a:lstStyle/>
          <a:p>
            <a:r>
              <a:t>우리가 만들 시뮬레이터는 네 부분으로 나뉩니다. 데이터를 넣어 모델을 보정하고, 그 위에서 서비스를 운영한 뒤, 결과를 지표와 그림으로 냅니다.</a:t>
            </a:r>
          </a:p>
        </p:txBody>
      </p:sp>
      <p:sp>
        <p:nvSpPr>
          <p:cNvPr id="10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pic>
        <p:nvPicPr>
          <p:cNvPr id="103" name="Figure: ch01_framework.png" descr="ch0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4" y="1600200"/>
            <a:ext cx="5394960" cy="44467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4-2#1|3461c1a20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각 상자가 이 책의 장입니다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548640" y="1600200"/>
          <a:ext cx="11094414" cy="232384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15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그림의 부분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하는 일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다루는 장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Data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도로망, 대중교통 시간표, 과거 통행 기록을 모읍니다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2장, 5장, 8장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Calibration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두 지점 사이가 실제로 몇 분 걸리는지 예측하는 모델을 만듭니다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3~4장, 9장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Demand &amp; Supply Generator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언제 어디서 몇 명이 호출할지, 차량은 몇 대를 어디에 둘지 정합니다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8장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Dispatch Algorithm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호출이 겹쳤을 때 어느 차를 보낼지 정합니다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10~11장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Vehicle Router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정해진 차를 실제 도로 위로 움직입니다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3~4장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Outputs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지표를 계산하고 화면에 그립니다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12장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4" name="Text"/>
          <p:cNvSpPr txBox="1"/>
          <p:nvPr/>
        </p:nvSpPr>
        <p:spPr>
          <a:xfrm>
            <a:off x="548640" y="4106926"/>
            <a:ext cx="11094415" cy="2019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이 표를 학기 지도로 씁니다. 매주 어느 상자를 만들고 있는지 확인합니다.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.4-3#1|681364b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가운데의 ETA 모델이 왜 필요한가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배차 알고리즘은 "어느 차가 가장 빨리 도착하는가"를 알아야 합니다. 그 값이 곧 ETA(도착 예정 시간)입니다.</a:t>
            </a:r>
          </a:p>
          <a:p>
            <a:r>
              <a:t>직선거리로 어림하면 강을 건너야 하는 차를 가깝다고 잘못 고릅니다.</a:t>
            </a:r>
          </a:p>
          <a:p>
            <a:r>
              <a:t>3장에서 도로망 위 최단경로로, 9장에서 실제 통행 기록으로 학습한 모델로 이 값을 구합니다.</a:t>
            </a:r>
          </a:p>
          <a:p>
            <a:r>
              <a:rPr>
                <a:latin typeface="Consolas"/>
              </a:rPr>
              <a:t>Vehicle Relocation Algorithm</a:t>
            </a:r>
            <a:r>
              <a:t>은 이 과목에서 다루지 않습니다. 빈 차를 수요가 많은 곳으로 미리 옮기는 문제인데, 배차와 수요 예측을 둘 다 알아야 손댈 수 있습니다.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정리#1|43b60453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시뮬레이터는 같은 하루를 조건만 바꿔 여러 번 돌려 보는 장치입니다.</a:t>
            </a:r>
          </a:p>
          <a:p>
            <a:r>
              <a:t>VISSIM·SUMO는 차로 단위 해상도를 위해 만들어졌고, 우리가 필요한 것은 도시 단위 범위입니다.</a:t>
            </a:r>
          </a:p>
          <a:p>
            <a:r>
              <a:t>평균만 보면 41분 기다린 승객이 보이지 않습니다. 분포를 함께 봐야 합니다.</a:t>
            </a:r>
          </a:p>
          <a:p>
            <a:r>
              <a:t>하남시 80대 시나리오에서 승객을 태운 차는 평균 9.9대, 빈 차는 31.3대였습니다.</a:t>
            </a:r>
          </a:p>
          <a:p>
            <a:r>
              <a:t>시뮬레이터 그림의 각 상자가 2장부터 12장까지에 하나씩 대응합니다.</a:t>
            </a:r>
          </a:p>
          <a:p>
            <a:r>
              <a:t>2장에서는 첫 번째 상자인 도로망 데이터를 직접 열어 봅니다.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연습문제#1|30b27075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연습문제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연습</a:t>
            </a:r>
            <a:r>
              <a:rPr b="1" dirty="0"/>
              <a:t> 1.1 ★</a:t>
            </a:r>
            <a:r>
              <a:rPr dirty="0"/>
              <a:t> — </a:t>
            </a:r>
            <a:r>
              <a:rPr dirty="0" err="1">
                <a:latin typeface="Consolas"/>
              </a:rPr>
              <a:t>sim.passengers</a:t>
            </a:r>
            <a:r>
              <a:rPr dirty="0" err="1"/>
              <a:t>에서</a:t>
            </a:r>
            <a:r>
              <a:rPr dirty="0"/>
              <a:t> 10분 </a:t>
            </a:r>
            <a:r>
              <a:rPr dirty="0" err="1"/>
              <a:t>넘게</a:t>
            </a:r>
            <a:r>
              <a:rPr dirty="0"/>
              <a:t> </a:t>
            </a:r>
            <a:r>
              <a:rPr dirty="0" err="1"/>
              <a:t>기다린</a:t>
            </a:r>
            <a:r>
              <a:rPr dirty="0"/>
              <a:t> </a:t>
            </a:r>
            <a:r>
              <a:rPr dirty="0" err="1"/>
              <a:t>승객을</a:t>
            </a:r>
            <a:r>
              <a:rPr dirty="0"/>
              <a:t> </a:t>
            </a:r>
            <a:r>
              <a:rPr dirty="0" err="1"/>
              <a:t>골라</a:t>
            </a:r>
            <a:r>
              <a:rPr dirty="0"/>
              <a:t>, </a:t>
            </a:r>
            <a:r>
              <a:rPr dirty="0" err="1"/>
              <a:t>호출</a:t>
            </a:r>
            <a:r>
              <a:rPr dirty="0"/>
              <a:t> </a:t>
            </a:r>
            <a:r>
              <a:rPr dirty="0" err="1"/>
              <a:t>시각</a:t>
            </a:r>
            <a:r>
              <a:rPr dirty="0"/>
              <a:t> </a:t>
            </a:r>
            <a:r>
              <a:rPr dirty="0" err="1"/>
              <a:t>분포를</a:t>
            </a:r>
            <a:r>
              <a:rPr dirty="0"/>
              <a:t> </a:t>
            </a:r>
            <a:r>
              <a:rPr dirty="0" err="1"/>
              <a:t>그려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시간대에</a:t>
            </a:r>
            <a:r>
              <a:rPr dirty="0"/>
              <a:t> </a:t>
            </a:r>
            <a:r>
              <a:rPr dirty="0" err="1"/>
              <a:t>몰려</a:t>
            </a:r>
            <a:r>
              <a:rPr dirty="0"/>
              <a:t> </a:t>
            </a:r>
            <a:r>
              <a:rPr dirty="0" err="1"/>
              <a:t>있나요</a:t>
            </a:r>
            <a:r>
              <a:rPr dirty="0"/>
              <a:t>, </a:t>
            </a:r>
            <a:r>
              <a:rPr dirty="0" err="1"/>
              <a:t>저녁</a:t>
            </a:r>
            <a:r>
              <a:rPr dirty="0"/>
              <a:t> </a:t>
            </a:r>
            <a:r>
              <a:rPr dirty="0" err="1"/>
              <a:t>내내</a:t>
            </a:r>
            <a:r>
              <a:rPr dirty="0"/>
              <a:t> </a:t>
            </a:r>
            <a:r>
              <a:rPr dirty="0" err="1"/>
              <a:t>흩어져</a:t>
            </a:r>
            <a:r>
              <a:rPr dirty="0"/>
              <a:t> </a:t>
            </a:r>
            <a:r>
              <a:rPr dirty="0" err="1"/>
              <a:t>있나요</a:t>
            </a:r>
            <a:r>
              <a:rPr dirty="0"/>
              <a:t>?</a:t>
            </a:r>
          </a:p>
          <a:p>
            <a:pPr lvl="1"/>
            <a:r>
              <a:rPr dirty="0" err="1"/>
              <a:t>산출물</a:t>
            </a:r>
            <a:r>
              <a:rPr dirty="0"/>
              <a:t>: </a:t>
            </a:r>
            <a:r>
              <a:rPr dirty="0" err="1"/>
              <a:t>히스토그램</a:t>
            </a:r>
            <a:r>
              <a:rPr dirty="0"/>
              <a:t> 1장, </a:t>
            </a:r>
            <a:r>
              <a:rPr dirty="0" err="1"/>
              <a:t>그것을</a:t>
            </a:r>
            <a:r>
              <a:rPr dirty="0"/>
              <a:t> </a:t>
            </a:r>
            <a:r>
              <a:rPr dirty="0" err="1"/>
              <a:t>읽은</a:t>
            </a:r>
            <a:r>
              <a:rPr dirty="0"/>
              <a:t> </a:t>
            </a:r>
            <a:r>
              <a:rPr dirty="0" err="1"/>
              <a:t>문장</a:t>
            </a:r>
            <a:r>
              <a:rPr dirty="0"/>
              <a:t> 2~3줄</a:t>
            </a:r>
            <a:endParaRPr lang="en-US" dirty="0"/>
          </a:p>
          <a:p>
            <a:pPr lvl="1"/>
            <a:endParaRPr dirty="0"/>
          </a:p>
          <a:p>
            <a:r>
              <a:rPr b="1" dirty="0" err="1"/>
              <a:t>연습</a:t>
            </a:r>
            <a:r>
              <a:rPr b="1" dirty="0"/>
              <a:t> 1.2 ★★</a:t>
            </a:r>
            <a:r>
              <a:rPr dirty="0"/>
              <a:t> — </a:t>
            </a:r>
            <a:r>
              <a:rPr dirty="0" err="1"/>
              <a:t>승객·운영자·도시</a:t>
            </a:r>
            <a:r>
              <a:rPr dirty="0"/>
              <a:t> </a:t>
            </a:r>
            <a:r>
              <a:rPr dirty="0" err="1"/>
              <a:t>관점에서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하나씩</a:t>
            </a:r>
            <a:r>
              <a:rPr dirty="0"/>
              <a:t>, </a:t>
            </a:r>
            <a:r>
              <a:rPr dirty="0" err="1"/>
              <a:t>하남시</a:t>
            </a:r>
            <a:r>
              <a:rPr dirty="0"/>
              <a:t> </a:t>
            </a:r>
            <a:r>
              <a:rPr dirty="0" err="1"/>
              <a:t>심야</a:t>
            </a:r>
            <a:r>
              <a:rPr dirty="0"/>
              <a:t> </a:t>
            </a:r>
            <a:r>
              <a:rPr dirty="0" err="1"/>
              <a:t>버스를</a:t>
            </a:r>
            <a:r>
              <a:rPr dirty="0"/>
              <a:t> </a:t>
            </a:r>
            <a:r>
              <a:rPr dirty="0" err="1"/>
              <a:t>평가할</a:t>
            </a:r>
            <a:r>
              <a:rPr dirty="0"/>
              <a:t> </a:t>
            </a:r>
            <a:r>
              <a:rPr dirty="0" err="1"/>
              <a:t>지표를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지표에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(a)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계산하는지</a:t>
            </a:r>
            <a:r>
              <a:rPr dirty="0"/>
              <a:t>, (b) </a:t>
            </a:r>
            <a:r>
              <a:rPr dirty="0" err="1"/>
              <a:t>값이</a:t>
            </a:r>
            <a:r>
              <a:rPr dirty="0"/>
              <a:t> </a:t>
            </a:r>
            <a:r>
              <a:rPr dirty="0" err="1"/>
              <a:t>커지면</a:t>
            </a:r>
            <a:r>
              <a:rPr dirty="0"/>
              <a:t> </a:t>
            </a:r>
            <a:r>
              <a:rPr dirty="0" err="1"/>
              <a:t>좋은지</a:t>
            </a:r>
            <a:r>
              <a:rPr dirty="0"/>
              <a:t> </a:t>
            </a:r>
            <a:r>
              <a:rPr dirty="0" err="1"/>
              <a:t>작아지면</a:t>
            </a:r>
            <a:r>
              <a:rPr dirty="0"/>
              <a:t> </a:t>
            </a:r>
            <a:r>
              <a:rPr dirty="0" err="1"/>
              <a:t>좋은지</a:t>
            </a:r>
            <a:r>
              <a:rPr dirty="0"/>
              <a:t>, (c)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지표와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부딪히는지를</a:t>
            </a:r>
            <a:r>
              <a:rPr dirty="0"/>
              <a:t> </a:t>
            </a:r>
            <a:r>
              <a:rPr dirty="0" err="1"/>
              <a:t>씁니다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pPr lvl="1"/>
            <a:r>
              <a:rPr dirty="0" err="1"/>
              <a:t>산출물</a:t>
            </a:r>
            <a:r>
              <a:rPr dirty="0"/>
              <a:t>: </a:t>
            </a:r>
            <a:r>
              <a:rPr dirty="0" err="1"/>
              <a:t>지표</a:t>
            </a:r>
            <a:r>
              <a:rPr dirty="0"/>
              <a:t> 3개,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문장</a:t>
            </a:r>
            <a:endParaRPr dirty="0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수요일-준비물#1|1140c5fe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수요일 준비물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dirty="0"/>
              <a:t>Python 3.11을 </a:t>
            </a:r>
            <a:r>
              <a:rPr dirty="0" err="1"/>
              <a:t>설치합니다</a:t>
            </a:r>
            <a:r>
              <a:rPr dirty="0"/>
              <a:t>.</a:t>
            </a:r>
          </a:p>
          <a:p>
            <a:pPr>
              <a:buFont typeface="+mj-lt"/>
              <a:buAutoNum type="arabicPeriod"/>
            </a:pPr>
            <a:r>
              <a:rPr dirty="0" err="1"/>
              <a:t>교재</a:t>
            </a:r>
            <a:r>
              <a:rPr dirty="0"/>
              <a:t> </a:t>
            </a:r>
            <a:r>
              <a:rPr dirty="0" err="1"/>
              <a:t>저장소를</a:t>
            </a:r>
            <a:r>
              <a:rPr dirty="0"/>
              <a:t> </a:t>
            </a:r>
            <a:r>
              <a:rPr dirty="0" err="1"/>
              <a:t>받고</a:t>
            </a:r>
            <a:r>
              <a:rPr dirty="0"/>
              <a:t> </a:t>
            </a:r>
            <a:r>
              <a:rPr dirty="0">
                <a:latin typeface="Consolas"/>
              </a:rPr>
              <a:t>pip install -r </a:t>
            </a:r>
            <a:r>
              <a:rPr dirty="0" err="1">
                <a:latin typeface="Consolas"/>
              </a:rPr>
              <a:t>requirements.txt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실행합니다</a:t>
            </a:r>
            <a:r>
              <a:rPr dirty="0"/>
              <a:t>.</a:t>
            </a:r>
          </a:p>
          <a:p>
            <a:pPr>
              <a:buFont typeface="+mj-lt"/>
              <a:buAutoNum type="arabicPeriod"/>
            </a:pPr>
            <a:r>
              <a:rPr dirty="0">
                <a:latin typeface="Consolas"/>
              </a:rPr>
              <a:t>from </a:t>
            </a:r>
            <a:r>
              <a:rPr dirty="0" err="1">
                <a:latin typeface="Consolas"/>
              </a:rPr>
              <a:t>smartmob</a:t>
            </a:r>
            <a:r>
              <a:rPr dirty="0">
                <a:latin typeface="Consolas"/>
              </a:rPr>
              <a:t> import </a:t>
            </a:r>
            <a:r>
              <a:rPr dirty="0" err="1">
                <a:latin typeface="Consolas"/>
              </a:rPr>
              <a:t>Dtumos</a:t>
            </a:r>
            <a:r>
              <a:rPr dirty="0" err="1"/>
              <a:t>가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되는지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읽을거리</a:t>
            </a:r>
            <a:r>
              <a:rPr dirty="0"/>
              <a:t>: Lopez et al. (2018) </a:t>
            </a:r>
            <a:r>
              <a:rPr i="1" dirty="0"/>
              <a:t>Microscopic Traffic Simulation using SUMO</a:t>
            </a:r>
            <a:r>
              <a:rPr dirty="0"/>
              <a:t> — </a:t>
            </a:r>
            <a:r>
              <a:rPr dirty="0" err="1"/>
              <a:t>TraCI</a:t>
            </a:r>
            <a:r>
              <a:rPr dirty="0"/>
              <a:t> </a:t>
            </a:r>
            <a:r>
              <a:rPr dirty="0" err="1"/>
              <a:t>부분만</a:t>
            </a:r>
            <a:r>
              <a:rPr dirty="0"/>
              <a:t> </a:t>
            </a:r>
            <a:r>
              <a:rPr dirty="0" err="1"/>
              <a:t>읽어도</a:t>
            </a:r>
            <a:r>
              <a:rPr dirty="0"/>
              <a:t> </a:t>
            </a:r>
            <a:r>
              <a:rPr dirty="0" err="1"/>
              <a:t>충분합니다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Horni</a:t>
            </a:r>
            <a:r>
              <a:rPr dirty="0"/>
              <a:t>, Nagel &amp; </a:t>
            </a:r>
            <a:r>
              <a:rPr dirty="0" err="1"/>
              <a:t>Axhausen</a:t>
            </a:r>
            <a:r>
              <a:rPr dirty="0"/>
              <a:t> (2016) </a:t>
            </a:r>
            <a:r>
              <a:rPr i="1" dirty="0" err="1"/>
              <a:t>MATSim</a:t>
            </a:r>
            <a:r>
              <a:rPr dirty="0"/>
              <a:t> — </a:t>
            </a:r>
            <a:r>
              <a:rPr dirty="0" err="1"/>
              <a:t>도시</a:t>
            </a:r>
            <a:r>
              <a:rPr dirty="0"/>
              <a:t> </a:t>
            </a:r>
            <a:r>
              <a:rPr dirty="0" err="1"/>
              <a:t>전체를</a:t>
            </a:r>
            <a:r>
              <a:rPr dirty="0"/>
              <a:t> </a:t>
            </a:r>
            <a:r>
              <a:rPr dirty="0" err="1"/>
              <a:t>에이전트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돌리는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접근입니다</a:t>
            </a:r>
            <a:r>
              <a:rPr dirty="0"/>
              <a:t>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화요일 — 왜 시뮬레이션인가 (교재 1장)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오늘-할-일#1|1c1c2b6fb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할 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책의 코드는 전부 실행됩니다. 화면에 보이는 숫자와 그림은 여러분의 노트북에서도 똑같이 나와야 합니다.</a:t>
            </a:r>
          </a:p>
          <a:p>
            <a:r>
              <a:t>그러려면 세 가지가 필요합니다. 파이썬 환경, 실습 데이터, 시뮬레이션 엔진입니다.</a:t>
            </a:r>
          </a:p>
          <a:p>
            <a:r>
              <a:t>셋을 준비하고, 마지막에 하남시 택시 시뮬레이션을 한 번 돌립니다.</a:t>
            </a:r>
          </a:p>
          <a:p>
            <a:r>
              <a:t>실습이 끝나면 </a:t>
            </a:r>
            <a:r>
              <a:rPr>
                <a:latin typeface="Consolas"/>
              </a:rPr>
              <a:t>sim.summary()</a:t>
            </a:r>
            <a:r>
              <a:t>의 서비스율·평균 대기시간·차량 가동률을 읽을 수 있습니다.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1#1|cf816f39f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0.1 설치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6616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파이썬 3.11을 씁니다. 저장소를 받고 의존성을 설치합니다.</a:t>
            </a:r>
          </a:p>
        </p:txBody>
      </p:sp>
      <p:sp>
        <p:nvSpPr>
          <p:cNvPr id="104" name="Code"/>
          <p:cNvSpPr/>
          <p:nvPr/>
        </p:nvSpPr>
        <p:spPr>
          <a:xfrm>
            <a:off x="548640" y="2353310"/>
            <a:ext cx="11094415" cy="93725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git clone https://github.com/jihoyeo/mobility-simulation-book.git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cd mobility-simulation-book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548640" y="3473450"/>
            <a:ext cx="11094415" cy="2653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>
                <a:latin typeface="Consolas"/>
              </a:rPr>
              <a:t>requirements.txt</a:t>
            </a:r>
            <a:r>
              <a:rPr sz="1800"/>
              <a:t>는 버전을 전부 고정해 두었습니다. 같은 버전을 쓰면 같은 그림이 나옵니다.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9장의 통행시간 예측 모델은 </a:t>
            </a:r>
            <a:r>
              <a:rPr sz="1800">
                <a:latin typeface="Consolas"/>
              </a:rPr>
              <a:t>scikit-learn</a:t>
            </a:r>
            <a:r>
              <a:rPr sz="1800"/>
              <a:t>과 </a:t>
            </a:r>
            <a:r>
              <a:rPr sz="1800">
                <a:latin typeface="Consolas"/>
              </a:rPr>
              <a:t>LightGBM</a:t>
            </a:r>
            <a:r>
              <a:rPr sz="1800"/>
              <a:t>이 더 필요합니다 (</a:t>
            </a:r>
            <a:r>
              <a:rPr sz="1800">
                <a:latin typeface="Consolas"/>
              </a:rPr>
              <a:t>requirements-heavy.txt</a:t>
            </a:r>
            <a:r>
              <a:rPr sz="1800"/>
              <a:t>). 그 장에 가서 설치해도 됩니다.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구글 코랩에서는 각 장 위쪽의 Colab 배지를 누르고, 첫 셀에서 </a:t>
            </a:r>
            <a:r>
              <a:rPr sz="1800">
                <a:latin typeface="Consolas"/>
              </a:rPr>
              <a:t>smartmob.colab.bootstrap()</a:t>
            </a:r>
            <a:r>
              <a:rPr sz="1800"/>
              <a:t>을 실행합니다.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2#1|21428771f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0.2 데이터가 있는지 확인하기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1049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실습 도시는 </a:t>
            </a:r>
            <a:r>
              <a:rPr sz="1800" b="1"/>
              <a:t>하남시</a:t>
            </a:r>
            <a:r>
              <a:rPr sz="1800"/>
              <a:t>입니다. 서울과 붙어 있으면서 노트북에서 다루기 좋은 크기라 골랐습니다.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도로망과 대중교통 시간표가 저장소에 이미 들어 있습니다.</a:t>
            </a:r>
          </a:p>
        </p:txBody>
      </p:sp>
      <p:sp>
        <p:nvSpPr>
          <p:cNvPr id="104" name="Code"/>
          <p:cNvSpPr/>
          <p:nvPr/>
        </p:nvSpPr>
        <p:spPr>
          <a:xfrm>
            <a:off x="548640" y="2740660"/>
            <a:ext cx="11094415" cy="13182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from smartmob.data import data_path</a:t>
            </a:r>
          </a:p>
          <a:p>
            <a:pPr algn="l"/>
            <a:endParaRPr sz="120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for name in ["road_graph_nodes.parquet", "road_graph_edges.parquet", "demand.csv"]: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p = data_path(f"hanam/{name}")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print(f"{name:28s} {p.stat().st_size / 1e6:6.2f} MB")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2-2#1|f0035191a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0.2 도로망 읽기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Code"/>
          <p:cNvSpPr/>
          <p:nvPr/>
        </p:nvSpPr>
        <p:spPr>
          <a:xfrm>
            <a:off x="548640" y="1600200"/>
            <a:ext cx="11094415" cy="1127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from smartmob.data import load_road_graph</a:t>
            </a:r>
          </a:p>
          <a:p>
            <a:pPr algn="l"/>
            <a:endParaRPr sz="120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G = load_road_graph("hanam", modes=("drive",))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G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548640" y="2910840"/>
            <a:ext cx="11094415" cy="321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노드가 12,566개, 엣지가 28,589개입니다. 하남시 전체 도로망치고는 적어 보이지만, 교차로와 막다른 길만 노드로 잡고 그 사이 직선 구간은 엣지 하나로 묶은 결과입니다.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>
                <a:latin typeface="Consolas"/>
              </a:rPr>
              <a:t>modes=("drive",)</a:t>
            </a:r>
            <a:r>
              <a:rPr sz="1800"/>
              <a:t>는 자동차가 다닐 수 있는 도로만 남기라는 뜻입니다. 왜 이 인자가 필요한지는 2장에서 다룹니다.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3#1|2d14ba00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0.3 엔진에 연결하기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947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최단경로나 시뮬레이션을 실제로 돌리는 것은 </a:t>
            </a:r>
            <a:r>
              <a:rPr sz="1800" b="1"/>
              <a:t>DTUMOS</a:t>
            </a:r>
            <a:r>
              <a:rPr sz="1800"/>
              <a:t>라는 별도 프로그램입니다. Rust로 짜여 있고 Docker 컨테이너로 돕니다. 이 과목에서는 그 안을 들여다보지 않고 HTTP로 부르기만 합니다.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548640" y="2639060"/>
          <a:ext cx="11094414" cy="1327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75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1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방법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언제 쓰는가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설정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공용 서버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수업 중 무거운 시뮬레이션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SMARTMOB_DTUMOS_URL=http://&lt;주소&gt;:&lt;팀별 포트&gt;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로컬 Docker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엔진 코드를 직접 열어 볼 때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docker compose up -d 후 기본값 그대로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녹화본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서버 없이 복습할 때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SMARTMOB_OFFLINE=1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Text"/>
          <p:cNvSpPr txBox="1"/>
          <p:nvPr/>
        </p:nvSpPr>
        <p:spPr>
          <a:xfrm>
            <a:off x="548640" y="4149852"/>
            <a:ext cx="11094415" cy="19766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세 번째가 중요합니다. 서버에 못 붙어도 책이 멈추지 않습니다. 저장소에는 실제 실행 결과가 </a:t>
            </a:r>
            <a:r>
              <a:rPr sz="1800">
                <a:latin typeface="Consolas"/>
              </a:rPr>
              <a:t>data/fixtures/</a:t>
            </a:r>
            <a:r>
              <a:rPr sz="1800"/>
              <a:t>에 녹화되어 있고, 연결이 안 되면 그것을 대신 돌려줍니다.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3-2#1|c2323b7d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0.3 서버에 못 붙어도 책이 멈추지 않습니다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Code"/>
          <p:cNvSpPr/>
          <p:nvPr/>
        </p:nvSpPr>
        <p:spPr>
          <a:xfrm>
            <a:off x="548640" y="1600200"/>
            <a:ext cx="11094415" cy="1127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from smartmob import Dtumos</a:t>
            </a:r>
          </a:p>
          <a:p>
            <a:pPr algn="l"/>
            <a:endParaRPr sz="120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dt = Dtumos()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dt.health()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548640" y="2910840"/>
            <a:ext cx="11094415" cy="321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>
                <a:latin typeface="Consolas"/>
              </a:rPr>
              <a:t>status</a:t>
            </a:r>
            <a:r>
              <a:rPr sz="1800"/>
              <a:t>가 </a:t>
            </a:r>
            <a:r>
              <a:rPr sz="1800">
                <a:latin typeface="Consolas"/>
              </a:rPr>
              <a:t>fixture</a:t>
            </a:r>
            <a:r>
              <a:rPr sz="1800"/>
              <a:t>로 나오면 녹화본을 쓰는 중입니다. 실서버에 붙었다면 서버가 돌려준 상태가 그대로 나옵니다.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녹화본에는 이 책에 나오는 요청만 들어 있습니다. 차량 대수를 80대에서 81대로 바꾸면 </a:t>
            </a:r>
            <a:r>
              <a:rPr sz="1800">
                <a:latin typeface="Consolas"/>
              </a:rPr>
              <a:t>FixtureMissing</a:t>
            </a:r>
            <a:r>
              <a:rPr sz="1800"/>
              <a:t> 오류가 납니다. 실서버가 필요하다는 뜻이지, 코드가 틀린 것이 아닙니다.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4#1|8342e6ab8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0.4 첫 시뮬레이션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548640" y="1600200"/>
            <a:ext cx="11094415" cy="1049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하남시에서 저녁 6시부터 자정까지, 택시 80대로 1,000건의 호출을 처리합니다.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>
                <a:latin typeface="Consolas"/>
              </a:rPr>
              <a:t>1080</a:t>
            </a:r>
            <a:r>
              <a:rPr sz="1800"/>
              <a:t>은 자정부터의 분이고 18:00입니다. 이 책의 시간은 전부 이 단위입니다.</a:t>
            </a:r>
          </a:p>
        </p:txBody>
      </p:sp>
      <p:sp>
        <p:nvSpPr>
          <p:cNvPr id="104" name="Code"/>
          <p:cNvSpPr/>
          <p:nvPr/>
        </p:nvSpPr>
        <p:spPr>
          <a:xfrm>
            <a:off x="548640" y="2740660"/>
            <a:ext cx="11094415" cy="2270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sim = dt.run_simulation(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city="hanam",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mode="taxi",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fleet_size=80,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num_passengers=1000,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time_start=1080,   # 18:00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time_end=1440,     # 24:00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    random_seed=42,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sim.summary()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4-2#1|e407ede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0.4 숫자를 하나씩 읽습니다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548640" y="1600200"/>
          <a:ext cx="11094414" cy="1327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937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4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항목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값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뜻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service_rate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1.0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990건의 호출이 전부 배차됐습니다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avg_waiting_time_min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약 4.1분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호출하고 차가 올 때까지 평균 4분 걸렸습니다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utilization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약 0.27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차량이 승객을 태우고 있던 시간이 전체의 27%뿐입니다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" name="Text"/>
          <p:cNvSpPr txBox="1"/>
          <p:nvPr/>
        </p:nvSpPr>
        <p:spPr>
          <a:xfrm>
            <a:off x="548640" y="3110992"/>
            <a:ext cx="11094415" cy="301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마지막 값이 흥미롭습니다. 대기시간 4분이면 승객 입장에서는 괜찮은데, 차량의 4분의 3은 놀고 있었습니다.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80대가 너무 많은 것은 아닐까요? 40대로 줄이면 대기시간이 얼마나 늘어날까요? 같은 저녁을 조건만 바꿔 다시 살아야 답할 수 있습니다. 그게 이 책이 만드는 장치입니다.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5#1|d9959f3c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0.5 시간에 따라 무슨 일이 있었는지 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/>
          <a:lstStyle/>
          <a:p>
            <a:r>
              <a:rPr>
                <a:latin typeface="Consolas"/>
              </a:rPr>
              <a:t>sim.record</a:t>
            </a:r>
            <a:r>
              <a:t>는 1분마다 한 줄씩 기록된 표입니다. </a:t>
            </a:r>
            <a:r>
              <a:rPr>
                <a:latin typeface="Consolas"/>
              </a:rPr>
              <a:t>plot_record(sim.record)</a:t>
            </a:r>
            <a:r>
              <a:t>로 그립니다.</a:t>
            </a:r>
          </a:p>
          <a:p>
            <a:r>
              <a:t>운행 중 차량과 대기 중 차량은 거울처럼 움직입니다. 둘을 더하면 대부분의 시간에 80이 됩니다.</a:t>
            </a:r>
          </a:p>
          <a:p>
            <a:r>
              <a:t>마지막 30분쯤에서 합이 80보다 작아지고, 대기 승객 수는 오히려 늘어납니다.</a:t>
            </a:r>
          </a:p>
        </p:txBody>
      </p:sp>
      <p:sp>
        <p:nvSpPr>
          <p:cNvPr id="10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pic>
        <p:nvPicPr>
          <p:cNvPr id="103" name="Figure: ch00_record.png" descr="ch00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4" y="1600200"/>
            <a:ext cx="5394960" cy="2922889"/>
          </a:xfrm>
          <a:prstGeom prst="rect">
            <a:avLst/>
          </a:prstGeom>
        </p:spPr>
      </p:pic>
      <p:sp>
        <p:nvSpPr>
          <p:cNvPr id="104" name="Caption"/>
          <p:cNvSpPr txBox="1"/>
          <p:nvPr/>
        </p:nvSpPr>
        <p:spPr>
          <a:xfrm>
            <a:off x="6248094" y="4568809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</a:rPr>
              <a:t>그림 2. 하남시 18:00–24:00 시뮬레이션의 분 단위 기록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0.5-2#1|5f174b60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0.5 "차량 80대"는 항상 80대가 아닙니다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  <p:sp>
        <p:nvSpPr>
          <p:cNvPr id="103" name="Code"/>
          <p:cNvSpPr/>
          <p:nvPr/>
        </p:nvSpPr>
        <p:spPr>
          <a:xfrm>
            <a:off x="548640" y="1600200"/>
            <a:ext cx="11094415" cy="1127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on_duty = sim.record["empty_vehicle_cnt"] + sim.record["driving_vehicle_cnt"]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print("근무 중 차량 최대:", on_duty.max())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print("근무 중 차량 최소:", on_duty.min())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print("마지막 시각 대기 승객:", sim.record["waiting_passenger_cnt"].iloc[-1])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548640" y="2910840"/>
            <a:ext cx="11094415" cy="321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근무 시간이 끝난 차량이 하나씩 빠집니다. 차량마다 </a:t>
            </a:r>
            <a:r>
              <a:rPr sz="1800">
                <a:latin typeface="Consolas"/>
              </a:rPr>
              <a:t>work_start</a:t>
            </a:r>
            <a:r>
              <a:rPr sz="1800"/>
              <a:t>와 </a:t>
            </a:r>
            <a:r>
              <a:rPr sz="1800">
                <a:latin typeface="Consolas"/>
              </a:rPr>
              <a:t>work_end</a:t>
            </a:r>
            <a:r>
              <a:rPr sz="1800"/>
              <a:t>가 정해져 있고, 자정이 가까워지면 남는 차가 줄어듭니다.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시뮬레이션이 "차량 80대"를 항상 80대로 다루지 않는다는 뜻입니다. 이런 것을 미리 알고 있어야 결과를 잘못 읽지 않습니다.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정리와-연습#1|ef36bf8b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정리와 연습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nsolas"/>
              </a:rPr>
              <a:t>pip install -r requirements.txt</a:t>
            </a:r>
            <a:r>
              <a:t>로 환경을 만들고, </a:t>
            </a:r>
            <a:r>
              <a:rPr>
                <a:latin typeface="Consolas"/>
              </a:rPr>
              <a:t>smartmob</a:t>
            </a:r>
            <a:r>
              <a:t>을 통해 데이터와 엔진에 접근합니다.</a:t>
            </a:r>
          </a:p>
          <a:p>
            <a:r>
              <a:rPr>
                <a:latin typeface="Consolas"/>
              </a:rPr>
              <a:t>load_road_graph("hanam")</a:t>
            </a:r>
            <a:r>
              <a:t>이 도로망을, </a:t>
            </a:r>
            <a:r>
              <a:rPr>
                <a:latin typeface="Consolas"/>
              </a:rPr>
              <a:t>Dtumos()</a:t>
            </a:r>
            <a:r>
              <a:t>가 시뮬레이션 엔진을 담당합니다. 엔진에 못 붙으면 </a:t>
            </a:r>
            <a:r>
              <a:rPr>
                <a:latin typeface="Consolas"/>
              </a:rPr>
              <a:t>data/fixtures/</a:t>
            </a:r>
            <a:r>
              <a:t>의 녹화본으로 자동 전환됩니다.</a:t>
            </a:r>
          </a:p>
          <a:p>
            <a:r>
              <a:rPr>
                <a:latin typeface="Consolas"/>
              </a:rPr>
              <a:t>sim.summary()</a:t>
            </a:r>
            <a:r>
              <a:t>는 서비스율·평균 대기시간·차량 가동률을, </a:t>
            </a:r>
            <a:r>
              <a:rPr>
                <a:latin typeface="Consolas"/>
              </a:rPr>
              <a:t>sim.record</a:t>
            </a:r>
            <a:r>
              <a:t>는 분 단위 시계열을 줍니다.</a:t>
            </a:r>
          </a:p>
          <a:p>
            <a:r>
              <a:rPr b="1"/>
              <a:t>연습 0.1 ★</a:t>
            </a:r>
            <a:r>
              <a:t> — </a:t>
            </a:r>
            <a:r>
              <a:rPr>
                <a:latin typeface="Consolas"/>
              </a:rPr>
              <a:t>sim.record</a:t>
            </a:r>
            <a:r>
              <a:t>에서 대기 승객 수가 가장 많았던 시각과 그때의 인원을 구합니다. </a:t>
            </a:r>
            <a:r>
              <a:rPr>
                <a:latin typeface="Consolas"/>
              </a:rPr>
              <a:t>smartmob.data.minutes_to_hhmm</a:t>
            </a:r>
            <a:r>
              <a:t>으로 분을 </a:t>
            </a:r>
            <a:r>
              <a:rPr>
                <a:latin typeface="Consolas"/>
              </a:rPr>
              <a:t>HH:MM</a:t>
            </a:r>
            <a:r>
              <a:t>으로 바꿉니다. 산출물: 시각 1개, 인원 1개.</a:t>
            </a:r>
          </a:p>
          <a:p>
            <a:r>
              <a:t>다음 주: 이 계산이 서 있는 바닥, 도로망 데이터를 직접 엽니다 (교재 2장).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1주차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102" name="Section Label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수요일 — 환경 준비와 첫 시뮬레이션 (교재 0장)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ademic">
      <a:dk1>
        <a:srgbClr val="1F2937"/>
      </a:dk1>
      <a:lt1>
        <a:srgbClr val="FFFFFF"/>
      </a:lt1>
      <a:dk2>
        <a:srgbClr val="1F3A5F"/>
      </a:dk2>
      <a:lt2>
        <a:srgbClr val="F3F4F6"/>
      </a:lt2>
      <a:accent1>
        <a:srgbClr val="2F5C8F"/>
      </a:accent1>
      <a:accent2>
        <a:srgbClr val="C2410C"/>
      </a:accent2>
      <a:accent3>
        <a:srgbClr val="3F8F6B"/>
      </a:accent3>
      <a:accent4>
        <a:srgbClr val="8C6D3F"/>
      </a:accent4>
      <a:accent5>
        <a:srgbClr val="6B7280"/>
      </a:accent5>
      <a:accent6>
        <a:srgbClr val="A23B3B"/>
      </a:accent6>
      <a:hlink>
        <a:srgbClr val="2F5C8F"/>
      </a:hlink>
      <a:folHlink>
        <a:srgbClr val="6B7280"/>
      </a:folHlink>
    </a:clrScheme>
    <a:fontScheme name="Academic">
      <a:majorFont>
        <a:latin typeface="Pretendard"/>
        <a:ea typeface="Pretendard"/>
        <a:cs typeface=""/>
        <a:font script="Hang" typeface="Pretendard"/>
        <a:font script="Jpan" typeface="Pretendard"/>
        <a:font script="Hans" typeface="Pretendard"/>
        <a:font script="Hant" typeface="Pretendard"/>
      </a:majorFont>
      <a:minorFont>
        <a:latin typeface="Pretendard"/>
        <a:ea typeface="Pretendard"/>
        <a:cs typeface=""/>
        <a:font script="Hang" typeface="Pretendard"/>
        <a:font script="Jpan" typeface="Pretendard"/>
        <a:font script="Hans" typeface="Pretendard"/>
        <a:font script="Hant"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3275</Words>
  <Application>Microsoft Macintosh PowerPoint</Application>
  <PresentationFormat>와이드스크린</PresentationFormat>
  <Paragraphs>379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Pretendard</vt:lpstr>
      <vt:lpstr>Arial</vt:lpstr>
      <vt:lpstr>Consolas</vt:lpstr>
      <vt:lpstr>Office Theme</vt:lpstr>
      <vt:lpstr>1주차 — 왜 시뮬레이션인가,                                                       환경 준비와 첫 시뮬레이션</vt:lpstr>
      <vt:lpstr>오늘의 질문</vt:lpstr>
      <vt:lpstr>학습 목표</vt:lpstr>
      <vt:lpstr>1.1 좋은 모빌리티 시스템이란</vt:lpstr>
      <vt:lpstr>1.1 세 관점은 서로 부딪힙니다</vt:lpstr>
      <vt:lpstr>1.2 왜 시뮬레이션이 필요한가</vt:lpstr>
      <vt:lpstr>1.2 시뮬레이션은 되감기 버튼을 만드는 일입니다</vt:lpstr>
      <vt:lpstr>1.2 이미 있는 도구를 쓰면 되지 않는가</vt:lpstr>
      <vt:lpstr>1.2 미시 교통류 시뮬레이터가 계산하는 것</vt:lpstr>
      <vt:lpstr>1.2 SUMO는 가장 가깝지만</vt:lpstr>
      <vt:lpstr>1.2 도구 비교</vt:lpstr>
      <vt:lpstr>1.2 우리에게 필요한 조건</vt:lpstr>
      <vt:lpstr>1.3 답이 나오면 다음 질문이 생깁니다</vt:lpstr>
      <vt:lpstr>1.3 평균만 보면 놓치는 것</vt:lpstr>
      <vt:lpstr>1.3 차량 쪽도 봅니다</vt:lpstr>
      <vt:lpstr>1.3 차량을 절반으로 줄이면?</vt:lpstr>
      <vt:lpstr>1.4 시뮬레이터의 구조</vt:lpstr>
      <vt:lpstr>1.4 각 상자가 이 책의 장입니다</vt:lpstr>
      <vt:lpstr>1.4 가운데의 ETA 모델이 왜 필요한가</vt:lpstr>
      <vt:lpstr>정리</vt:lpstr>
      <vt:lpstr>연습문제</vt:lpstr>
      <vt:lpstr>수요일 준비물</vt:lpstr>
      <vt:lpstr>오늘 할 일</vt:lpstr>
      <vt:lpstr>0.1 설치</vt:lpstr>
      <vt:lpstr>0.2 데이터가 있는지 확인하기</vt:lpstr>
      <vt:lpstr>0.2 도로망 읽기</vt:lpstr>
      <vt:lpstr>0.3 엔진에 연결하기</vt:lpstr>
      <vt:lpstr>0.3 서버에 못 붙어도 책이 멈추지 않습니다</vt:lpstr>
      <vt:lpstr>0.4 첫 시뮬레이션</vt:lpstr>
      <vt:lpstr>0.4 숫자를 하나씩 읽습니다</vt:lpstr>
      <vt:lpstr>0.5 시간에 따라 무슨 일이 있었는지 보기</vt:lpstr>
      <vt:lpstr>0.5 "차량 80대"는 항상 80대가 아닙니다</vt:lpstr>
      <vt:lpstr>정리와 연습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— 왜 시뮬레이션인가,                                                       환경 준비와 첫 시뮬레이션</dc:title>
  <dc:subject/>
  <dc:creator/>
  <cp:keywords/>
  <dc:description>generated using python-pptx</dc:description>
  <cp:lastModifiedBy>Jiho Yeo</cp:lastModifiedBy>
  <cp:revision>5</cp:revision>
  <dcterms:created xsi:type="dcterms:W3CDTF">2013-01-27T09:14:16Z</dcterms:created>
  <dcterms:modified xsi:type="dcterms:W3CDTF">2026-09-08T03:54:42Z</dcterms:modified>
  <cp:category/>
</cp:coreProperties>
</file>