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6"/>
    <p:sldId id="265" r:id="rId5"/>
    <p:sldId id="266" r:id="rId4"/>
    <p:sldId id="267" r:id="rId3"/>
    <p:sldId id="268" r:id="rId2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3.xml"/><Relationship Id="rId3" Type="http://schemas.openxmlformats.org/officeDocument/2006/relationships/slide" Target="slides/slide12.xml"/><Relationship Id="rId4" Type="http://schemas.openxmlformats.org/officeDocument/2006/relationships/slide" Target="slides/slide11.xml"/><Relationship Id="rId5" Type="http://schemas.openxmlformats.org/officeDocument/2006/relationships/slide" Target="slides/slide10.xml"/><Relationship Id="rId6" Type="http://schemas.openxmlformats.org/officeDocument/2006/relationships/slide" Target="slides/slide9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목차는 표입니다. 섹션 수가 바뀌면 행을 삽입/삭제하세요.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교재 12장 도입부. 이 표가 왜 이렇게 나오는지가 오늘의 주제다. 학생들에게 먼저 원인을 추측하게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교재 12장 학습 목표와 같다. 두 번째가 기말 프로젝트 보고서에서 가장 자주 문제가 되는 부분이다.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1장에서 확인한 세 관점이 여기서 지표로 구체화된다. 마지막 값이 도시가 관심을 두는 부분이다.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함정이 프로젝트 보고서에서 가장 자주 나온다. 차량을 줄였는데 대기시간이 그대로였다는 결론을 보면 먼저 서비스율을 확인하게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둘 다 맞는 방법이고 답하려는 질문이 다르다. 하나만 적으면 읽는 사람이 잘못 이해한다. 연습 12.2에서 벌점 값을 바꿔 순위가 뒤집히는 지점을 찾는다.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평균이 숨기는 두 가지를 한 장에서 확인할 수 있다. 7장에서 통행시간 분포를 확인한 것과 같은 접근이다.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프론트 위에서는 데이터가 답을 정해 주지 않는다. 사람이 정한다. 기말 프로젝트에서 시나리오를 고를 때 이 그림을 근거로 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남의 결과와 숫자가 다르면 먼저 같은 것을 세고 있는지 확인한다. 정의나 표본이 다른 경우가 알고리즘이 틀린 경우보다 훨씬 많다.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0장에서 확인한 근무 시간 종료 효과가 여기서 다시 나온다. 지표 하나로 요약하기 전에 시계열을 먼저 확인하는 순서를 지킨다.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숫자만으로는 어디가 문제인지 알 수 없다. 11장 연습 11.3이 이 재배치 문제이고, 기말 프로젝트의 노선 변경 시나리오와도 연결된다.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항목을 빼지 않는다. 우리 시뮬레이터는 차량 재배치가 없고 소요시간을 근사했으며 신호 대기를 반영하지 않았다. 이것을 적지 않은 보고서는 결과를 실제보다 확실한 것처럼 보이게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파레토 프론트 위에서는 사람이 정한다는 점을 다시 언급한다. 이것으로 중간시험 범위인 0장부터 8장과 12장이 끝난다.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HW3 명세는 assignments/hw3.md에 있다. 휴강 주간에 팀별로 현장조사를 하고 마감은 10-28이다. 중간시험은 10-27이고 범위는 0장부터 8장과 12장이다. 9주차 시험 전까지 교재의 연습문제를 다시 확인하도록 안내한다.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표지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400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과목 코드 · 과목명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19659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8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8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N주차</a:t>
            </a:r>
            <a:endParaRPr lang="en-US" sz="18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685800" y="23774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52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defRPr>
            </a:lvl1pPr>
          </a:lstStyle>
          <a:p>
            <a:pPr indent="0" marL="0">
              <a:buNone/>
            </a:pPr>
            <a:r>
              <a:rPr lang="en-US" sz="52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강의 제목</a:t>
            </a:r>
            <a:endParaRPr lang="en-US" sz="5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34747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2200" dirty="0">
                <a:solidFill>
                  <a:srgbClr val="000000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defRPr>
            </a:lvl1pPr>
          </a:lstStyle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rPr>
              <a:t>부제</a:t>
            </a:r>
            <a:endParaRPr lang="en-US" sz="2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557784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4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이름 · 소속</a:t>
            </a:r>
            <a:endParaRPr lang="en-US" sz="14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685800" y="58978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4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4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날짜</a:t>
            </a: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섹션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Autofit/>
          </a:bodyPr>
          <a:lstStyle>
            <a:lvl1pPr algn="l" indent="0" marL="0">
              <a:buNone/>
              <a:defRPr lang="en-US" sz="12000" dirty="0">
                <a:solidFill>
                  <a:srgbClr val="AFAFAF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defRPr>
            </a:lvl1pPr>
          </a:lstStyle>
          <a:p>
            <a:pPr indent="0" marL="0">
              <a:buNone/>
            </a:pPr>
            <a:r>
              <a:rPr lang="en-US" sz="12000" dirty="0">
                <a:solidFill>
                  <a:srgbClr val="AFAFAF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rPr>
              <a:t>01</a:t>
            </a:r>
            <a:endParaRPr lang="en-US" sz="1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35204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44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defRPr>
            </a:lvl1pPr>
          </a:lstStyle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섹션 이름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949440" y="3611880"/>
            <a:ext cx="4572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1.1 하위 섹션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12장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본문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1082009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marL="228600" indent="-228600">
              <a:lnSpc>
                <a:spcPct val="115000"/>
              </a:lnSpc>
              <a:spcAft>
                <a:spcPts val="1000"/>
              </a:spcAft>
              <a:buClr>
                <a:srgbClr val="000000"/>
              </a:buClr>
              <a:buFont typeface="Arial"/>
              <a:buChar char="•"/>
              <a:defRPr sz="160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lvl1pPr>
            <a:lvl2pPr marL="4064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2pPr>
            <a:lvl3pPr marL="6096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3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본문 (Tab: 2단계 불릿)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12장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본문+그림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393192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marL="228600" indent="-228600">
              <a:lnSpc>
                <a:spcPct val="115000"/>
              </a:lnSpc>
              <a:spcAft>
                <a:spcPts val="1000"/>
              </a:spcAft>
              <a:buClr>
                <a:srgbClr val="000000"/>
              </a:buClr>
              <a:buFont typeface="Arial"/>
              <a:buChar char="•"/>
              <a:defRPr sz="160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lvl1pPr>
            <a:lvl2pPr marL="4064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2pPr>
            <a:lvl3pPr marL="6096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3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본문 (Tab: 2단계 불릿)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4937760" y="1417320"/>
            <a:ext cx="6565392" cy="4160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그림</a:t>
            </a:r>
            <a:endParaRPr lang="en-US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4937760" y="5715000"/>
            <a:ext cx="65653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그림 1. 캡션</a:t>
            </a:r>
            <a:endParaRPr lang="en-US" sz="1200" dirty="0"/>
          </a:p>
        </p:txBody>
      </p:sp>
      <p:sp>
        <p:nvSpPr>
          <p:cNvPr id="7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12장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pic" hasCustomPrompt="1"/>
          </p:nvPr>
        </p:nvSpPr>
        <p:spPr>
          <a:xfrm>
            <a:off x="685800" y="1417320"/>
            <a:ext cx="10820095" cy="4297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그림</a:t>
            </a:r>
            <a:endParaRPr lang="en-US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5852160"/>
            <a:ext cx="10820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그림 1. 캡션</a:t>
            </a:r>
            <a:endParaRPr lang="en-US" sz="1200" dirty="0"/>
          </a:p>
        </p:txBody>
      </p:sp>
      <p:sp>
        <p:nvSpPr>
          <p:cNvPr id="6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12장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표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10820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표 1. 캡션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tbl" hasCustomPrompt="1"/>
          </p:nvPr>
        </p:nvSpPr>
        <p:spPr>
          <a:xfrm>
            <a:off x="685800" y="1828800"/>
            <a:ext cx="10820095" cy="4251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표</a:t>
            </a:r>
            <a:endParaRPr lang="en-US" dirty="0"/>
          </a:p>
        </p:txBody>
      </p:sp>
      <p:sp>
        <p:nvSpPr>
          <p:cNvPr id="6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12장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본문+표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393192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marL="228600" indent="-228600">
              <a:lnSpc>
                <a:spcPct val="115000"/>
              </a:lnSpc>
              <a:spcAft>
                <a:spcPts val="1000"/>
              </a:spcAft>
              <a:buClr>
                <a:srgbClr val="000000"/>
              </a:buClr>
              <a:buFont typeface="Arial"/>
              <a:buChar char="•"/>
              <a:defRPr sz="160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lvl1pPr>
            <a:lvl2pPr marL="4064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2pPr>
            <a:lvl3pPr marL="6096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3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본문 (Tab: 2단계 불릿)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937760" y="1417320"/>
            <a:ext cx="65653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표 1. 캡션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tbl" hasCustomPrompt="1"/>
          </p:nvPr>
        </p:nvSpPr>
        <p:spPr>
          <a:xfrm>
            <a:off x="4937760" y="1828800"/>
            <a:ext cx="6565392" cy="4251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표</a:t>
            </a:r>
            <a:endParaRPr lang="en-US" dirty="0"/>
          </a:p>
        </p:txBody>
      </p:sp>
      <p:sp>
        <p:nvSpPr>
          <p:cNvPr id="7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12장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본문+코드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393192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marL="228600" indent="-228600">
              <a:lnSpc>
                <a:spcPct val="115000"/>
              </a:lnSpc>
              <a:spcAft>
                <a:spcPts val="1000"/>
              </a:spcAft>
              <a:buClr>
                <a:srgbClr val="000000"/>
              </a:buClr>
              <a:buFont typeface="Arial"/>
              <a:buChar char="•"/>
              <a:defRPr sz="160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lvl1pPr>
            <a:lvl2pPr marL="4064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2pPr>
            <a:lvl3pPr marL="6096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3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본문 (Tab: 2단계 불릿)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937760" y="1417320"/>
            <a:ext cx="6565392" cy="4663440"/>
          </a:xfrm>
          <a:prstGeom prst="roundRect">
            <a:avLst>
              <a:gd name="adj" fmla="val 3268"/>
            </a:avLst>
          </a:prstGeom>
          <a:solidFill>
            <a:srgbClr val="EFEFEF"/>
          </a:solidFill>
          <a:ln/>
        </p:spPr>
        <p:txBody>
          <a:bodyPr wrap="square" lIns="228600" tIns="384048" rIns="228600" bIns="137160" rtlCol="0" anchor="t">
            <a:noAutofit/>
          </a:bodyPr>
          <a:lstStyle>
            <a:lvl1pPr algn="l" marL="0" indent="0">
              <a:lnSpc>
                <a:spcPct val="100000"/>
              </a:lnSpc>
              <a:spcAft>
                <a:spcPts val="0"/>
              </a:spcAft>
              <a:buNone/>
              <a:defRPr sz="1100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코드</a:t>
            </a:r>
            <a:endParaRPr lang="en-US" sz="1100" dirty="0"/>
          </a:p>
        </p:txBody>
      </p:sp>
      <p:sp>
        <p:nvSpPr>
          <p:cNvPr id="6" name="Text 0"/>
          <p:cNvSpPr/>
          <p:nvPr/>
        </p:nvSpPr>
        <p:spPr>
          <a:xfrm>
            <a:off x="5166360" y="15270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FAF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 [ ]</a:t>
            </a:r>
            <a:endParaRPr lang="en-US" sz="900" dirty="0"/>
          </a:p>
        </p:txBody>
      </p:sp>
      <p:sp>
        <p:nvSpPr>
          <p:cNvPr id="7" name="Text 1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12장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마무리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219456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52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defRPr>
            </a:lvl1pPr>
          </a:lstStyle>
          <a:p>
            <a:pPr indent="0" marL="0">
              <a:buNone/>
            </a:pPr>
            <a:r>
              <a:rPr lang="en-US" sz="52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감사합니다</a:t>
            </a:r>
            <a:endParaRPr lang="en-US" sz="5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32461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2200" dirty="0">
                <a:solidFill>
                  <a:srgbClr val="000000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defRPr>
            </a:lvl1pPr>
          </a:lstStyle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rPr>
              <a:t>부제</a:t>
            </a:r>
            <a:endParaRPr lang="en-US" sz="2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5577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4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4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연락처</a:t>
            </a:r>
            <a:endParaRPr lang="en-US" sz="14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스마트 교통물류 · 2026-2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7주차 수요일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t>결과 읽기 — 지표와 시각화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교재 12장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r>
              <a:t>여지호 · 가천대학교 스마트시티학과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r>
              <a:t>2026년 10월 14일 (수)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강의 목차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교재 12장</a:t>
            </a:r>
          </a:p>
        </p:txBody>
      </p:sp>
      <p:graphicFrame>
        <p:nvGraphicFramePr>
          <p:cNvPr id="5" name="Table Placeholder 4"/>
          <p:cNvGraphicFramePr>
            <a:graphicFrameLocks noGrp="1"/>
          </p:cNvGraphicFramePr>
          <p:nvPr>
            <p:ph type="tbl" idx="103"/>
          </p:nvPr>
        </p:nvGraphicFramePr>
        <p:xfrm>
          <a:off x="685800" y="1828800"/>
          <a:ext cx="10820093" cy="44196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914631"/>
                <a:gridCol w="2560969"/>
                <a:gridCol w="7344493"/>
              </a:tblGrid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01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도입과 학습 목표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1.1 이상한 줄이 있는 표  ·  1.2 학습 목표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02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교재 12.1 지표 세 무리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2.1 관점별 지표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03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교재 12.2–12.3 생존 편향과 분포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3.1 대기시간이 줄지 않는 이유  ·  3.2 포기 승객을 세는 방법  ·  3.3 분포로 확인하기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04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교재 12.4–12.5 파레토와 엔진 대조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4.1 서비스율과 가동률의 상충  ·  4.2 엔진 결과와의 대조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05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교재 12.6–12.7 시간대와 공간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5.1 시간대별 변화  ·  5.2 오래 기다린 승객의 위치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06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교재 12.8 보고서와 정리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6.1 보고서 결과 절의 구성  ·  6.2 오늘의 정리  ·  6.3 연습과 다음 주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01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도입과 학습 목표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1.1  </a:t>
            </a:r>
            <a:r>
              <a:t>이상한 줄이 있는 표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1.2  </a:t>
            </a:r>
            <a:r>
              <a:t>학습 목표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1.1 이상한 줄이 있는 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1. 도입과 학습 목표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차량 20대의 평균 대기시간 7.32분, 60대는 7.21분</a:t>
            </a:r>
          </a:p>
          <a:p>
            <a:pPr/>
            <a:r>
              <a:t>차량을 세 배로 늘렸는데 대기시간이 거의 동일</a:t>
            </a:r>
          </a:p>
          <a:p>
            <a:pPr/>
            <a:r>
              <a:t>20대 시나리오에서 승객의 61%가 배차 실패</a:t>
            </a:r>
          </a:p>
          <a:p>
            <a:pPr/>
            <a:r>
              <a:t>숫자가 틀린 것이 아니라 읽는 방법이 틀린 상황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1.2 학습 목표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1. 도입과 학습 목표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지표를 승객, 운영자, 도시 세 관점으로 구분</a:t>
            </a:r>
          </a:p>
          <a:p>
            <a:pPr/>
            <a:r>
              <a:t>평균 하나로 판단할 때 생기는 편향 발견</a:t>
            </a:r>
          </a:p>
          <a:p>
            <a:pPr/>
            <a:r>
              <a:t>시나리오 여러 개를 한 표로 비교하고 파레토 프론트 작성</a:t>
            </a:r>
          </a:p>
          <a:p>
            <a:pPr/>
            <a:r>
              <a:t>차량 이동 기록을 지도로 재생해 공간 문제 확인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교재 12.1 지표 세 무리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2.1  </a:t>
            </a:r>
            <a:r>
              <a:t>관점별 지표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2.1 관점별 지표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2. 교재 12.1 지표 세 무리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기준 실행 결과: 서비스율 1.0, 대기 중앙값 3.05분, 90분위 8.27분</a:t>
            </a:r>
          </a:p>
          <a:p>
            <a:pPr/>
            <a:r>
              <a:t>최댓값 26.45분, 가동률 0.67, 공차 비율 0.19</a:t>
            </a:r>
          </a:p>
          <a:p>
            <a:pPr/>
            <a:r>
              <a:t>공차 비율의 뜻: 승객 없이 도로를 사용한 거리의 비중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표 1. 세 관점이 확인하는 것과 대응 지표</a:t>
            </a:r>
          </a:p>
        </p:txBody>
      </p:sp>
      <p:graphicFrame>
        <p:nvGraphicFramePr>
          <p:cNvPr id="6" name="Table Placeholder 5"/>
          <p:cNvGraphicFramePr>
            <a:graphicFrameLocks noGrp="1"/>
          </p:cNvGraphicFramePr>
          <p:nvPr>
            <p:ph type="tbl" idx="104"/>
          </p:nvPr>
        </p:nvGraphicFramePr>
        <p:xfrm>
          <a:off x="4937760" y="1828800"/>
          <a:ext cx="6565392" cy="23114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2188464"/>
                <a:gridCol w="2188464"/>
                <a:gridCol w="2188464"/>
              </a:tblGrid>
              <a:tr h="4064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관점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확인하는 것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지표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승객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탑승 여부와 대기 시간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서비스율, 대기시간 중앙값·90분위·최댓값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운영자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차량 가동과 처리량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가동률, 차량당 처리 건수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도시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도로 사용량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총 주행거리, 공차 비율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03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교재 12.2–12.3 생존 편향과 분포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3.1  </a:t>
            </a:r>
            <a:r>
              <a:t>대기시간이 줄지 않는 이유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3.2  </a:t>
            </a:r>
            <a:r>
              <a:t>포기 승객을 세는 방법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3.3  </a:t>
            </a:r>
            <a:r>
              <a:t>분포로 확인하기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3.1 대기시간이 줄지 않는 이유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3. 교재 12.2–12.3 생존 편향과 분포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대기시간은 배차에 성공한 승객만 계산 대상</a:t>
            </a:r>
          </a:p>
          <a:p>
            <a:pPr/>
            <a:r>
              <a:t>차량이 적으면 가까운 승객만 배차되고 먼 승객은 포기 처리</a:t>
            </a:r>
          </a:p>
          <a:p>
            <a:pPr/>
            <a:r>
              <a:t>남은 승객의 평균 대기가 짧게 산출 — 생존 편향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표 2. 차량 대수별 평균 대기시간과 서비스율</a:t>
            </a:r>
          </a:p>
        </p:txBody>
      </p:sp>
      <p:graphicFrame>
        <p:nvGraphicFramePr>
          <p:cNvPr id="6" name="Table Placeholder 5"/>
          <p:cNvGraphicFramePr>
            <a:graphicFrameLocks noGrp="1"/>
          </p:cNvGraphicFramePr>
          <p:nvPr>
            <p:ph type="tbl" idx="104"/>
          </p:nvPr>
        </p:nvGraphicFramePr>
        <p:xfrm>
          <a:off x="4937760" y="1828800"/>
          <a:ext cx="6565392" cy="23114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2188464"/>
                <a:gridCol w="2188464"/>
                <a:gridCol w="2188464"/>
              </a:tblGrid>
              <a:tr h="4064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차량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평균 대기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서비스율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20대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7.32분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0.39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60대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7.21분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—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80대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4.28분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1.00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3.2 포기 승객을 세는 방법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3. 교재 12.2–12.3 생존 편향과 분포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방법 1: 배차된 승객만 집계</a:t>
            </a:r>
          </a:p>
          <a:p>
            <a:pPr/>
            <a:r>
              <a:t>방법 2: 포기 승객에게 벌점 시간 부여 — 예를 들어 30분</a:t>
            </a:r>
          </a:p>
          <a:p>
            <a:pPr lvl="1"/>
            <a:r>
              <a:t>20대 시나리오가 21분 초과, 80대는 4.28분 — 순위 역전</a:t>
            </a:r>
          </a:p>
          <a:p>
            <a:pPr/>
            <a:r>
              <a:t>선택 기준은 답하려는 질문</a:t>
            </a:r>
          </a:p>
          <a:p>
            <a:pPr lvl="1"/>
            <a:r>
              <a:t>택시를 탄 사람의 대기 시간 → 방법 1</a:t>
            </a:r>
          </a:p>
          <a:p>
            <a:pPr lvl="1"/>
            <a:r>
              <a:t>이 지역에서 택시를 부를 때의 소요 → 방법 2</a:t>
            </a:r>
          </a:p>
          <a:p>
            <a:pPr/>
            <a:r>
              <a:t>보고서 원칙: 서비스율과 대기시간을 항상 함께 기재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3.3 분포로 확인하기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3. 교재 12.2–12.3 생존 편향과 분포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80대는 분포가 왼쪽에 집중되고 높이도 큼</a:t>
            </a:r>
          </a:p>
          <a:p>
            <a:pPr/>
            <a:r>
              <a:t>높이 차이가 곧 배차 성공 인원의 차이</a:t>
            </a:r>
          </a:p>
          <a:p>
            <a:pPr/>
            <a:r>
              <a:t>히스토그램이 동시에 보여주는 것: 분포 모양과 인원 수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r>
              <a:t>그림 1. 차량 20대와 80대의 대기시간 분포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  <p:pic>
        <p:nvPicPr>
          <p:cNvPr id="26" name="Picture 25" descr="ch12_wait_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417320"/>
            <a:ext cx="624078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04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교재 12.4–12.5 파레토와 엔진 대조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4.1  </a:t>
            </a:r>
            <a:r>
              <a:t>서비스율과 가동률의 상충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4.2  </a:t>
            </a:r>
            <a:r>
              <a:t>엔진 결과와의 대조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4.1 서비스율과 가동률의 상충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4. 교재 12.4–12.5 파레토와 엔진 대조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오른쪽 위가 바람직하지만 해당 영역에 점이 없음</a:t>
            </a:r>
          </a:p>
          <a:p>
            <a:pPr/>
            <a:r>
              <a:t>서비스율을 올리면 가동률 하락, 가동률을 올리면 서비스율 하락</a:t>
            </a:r>
          </a:p>
          <a:p>
            <a:pPr/>
            <a:r>
              <a:t>어느 쪽도 상대를 완전히 이기지 못하는 선택지 집합 = 파레토 프론트</a:t>
            </a:r>
          </a:p>
          <a:p>
            <a:pPr/>
            <a:r>
              <a:t>곡선이 꺾이는 지점 부근이 대체로 합리적 선택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r>
              <a:t>그림 2. 차량 대수별 서비스율과 가동률의 파레토 프론트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  <p:pic>
        <p:nvPicPr>
          <p:cNvPr id="26" name="Picture 25" descr="ch12_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417320"/>
            <a:ext cx="624078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4.2 엔진 결과와의 대조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4. 교재 12.4–12.5 파레토와 엔진 대조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대기시간 분위와 공차 비율은 우리 루프와 엔진이 거의 일치</a:t>
            </a:r>
          </a:p>
          <a:p>
            <a:pPr lvl="1"/>
            <a:r>
              <a:t>공차 비율 0.19 대 0.186</a:t>
            </a:r>
          </a:p>
          <a:p>
            <a:pPr/>
            <a:r>
              <a:t>총 주행거리는 두 배 이상 차이 — 우리 루프의 오류가 아님</a:t>
            </a:r>
          </a:p>
          <a:p>
            <a:pPr/>
            <a:r>
              <a:t>원인: 엔진은 시각화용으로 전체 통행의 10%만 기록</a:t>
            </a:r>
          </a:p>
          <a:p>
            <a:pPr/>
            <a:r>
              <a:t>절댓값을 비교할 수 없을 때도 비율은 비교 가능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교재 12.6–12.7 시간대와 공간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5.1  </a:t>
            </a:r>
            <a:r>
              <a:t>시간대별 변화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5.2  </a:t>
            </a:r>
            <a:r>
              <a:t>오래 기다린 승객의 위치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5.1 시간대별 변화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5. 교재 12.6–12.7 시간대와 공간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한 숫자로 요약하면 시간에 따른 변화가 사라짐</a:t>
            </a:r>
          </a:p>
          <a:p>
            <a:pPr/>
            <a:r>
              <a:t>분 단위 기록을 시간 단위로 집계해 확인</a:t>
            </a:r>
          </a:p>
          <a:p>
            <a:pPr/>
            <a:r>
              <a:t>저녁 6시 시작, 밤 10시경 운행 차량 정점</a:t>
            </a:r>
          </a:p>
          <a:p>
            <a:pPr/>
            <a:r>
              <a:t>자정에 근접할수록 근무 종료로 차량 감소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5.2 오래 기다린 승객의 위치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5. 교재 12.6–12.7 시간대와 공간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10분 초과 대기 승객의 호출 위치를 지도에 표시</a:t>
            </a:r>
          </a:p>
          <a:p>
            <a:pPr/>
            <a:r>
              <a:t>결과: 시가지가 아니라 외곽에 집중</a:t>
            </a:r>
          </a:p>
          <a:p>
            <a:pPr/>
            <a:r>
              <a:t>해석: 차량이 시가지 중심에 머무는 동안 외곽 호출이 지연</a:t>
            </a:r>
          </a:p>
          <a:p>
            <a:pPr/>
            <a:r>
              <a:t>차량 재배치가 필요한 지점이 지도에서 확인됨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06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교재 12.8 보고서와 정리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6.1  </a:t>
            </a:r>
            <a:r>
              <a:t>보고서 결과 절의 구성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6.2  </a:t>
            </a:r>
            <a:r>
              <a:t>오늘의 정리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6.3  </a:t>
            </a:r>
            <a:r>
              <a:t>연습과 다음 주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6.1 보고서 결과 절의 구성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6. 교재 12.8 보고서와 정리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한 문장 결론 — 예를 들어 차량 60대가 하남시 저녁 수요에 적정</a:t>
            </a:r>
          </a:p>
          <a:p>
            <a:pPr/>
            <a:r>
              <a:t>근거 표 — 시나리오별 서비스율, 대기 분위, 가동률, 공차 비율</a:t>
            </a:r>
          </a:p>
          <a:p>
            <a:pPr/>
            <a:r>
              <a:t>그림 세 장 — 분포 히스토그램, 파레토 산점도, 공간 지도</a:t>
            </a:r>
          </a:p>
          <a:p>
            <a:pPr/>
            <a:r>
              <a:t>한계 — 가정한 것과 반영하지 않은 것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6.2 오늘의 정리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6. 교재 12.8 보고서와 정리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지표는 승객, 운영자, 도시 세 관점 — 셋은 서로 상충</a:t>
            </a:r>
          </a:p>
          <a:p>
            <a:pPr/>
            <a:r>
              <a:t>대기시간은 배차 성공자만 집계 — 서비스율과 함께 보지 않으면 생존 편향</a:t>
            </a:r>
          </a:p>
          <a:p>
            <a:pPr/>
            <a:r>
              <a:t>평균 대신 중앙값, 90분위, 분포를 확인</a:t>
            </a:r>
          </a:p>
          <a:p>
            <a:pPr/>
            <a:r>
              <a:t>남의 결과와 다르면 알고리즘보다 정의와 표본을 먼저 확인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6.3 연습과 다음 주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6. 교재 12.8 보고서와 정리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연습 12.1 ★ — 90분위와 최댓값 중 서비스 품질 지표 선택</a:t>
            </a:r>
          </a:p>
          <a:p>
            <a:pPr lvl="1"/>
            <a:r>
              <a:t>산출물: 꺾은선 그래프 1장, 선택과 근거 3~4줄</a:t>
            </a:r>
          </a:p>
          <a:p>
            <a:pPr/>
            <a:r>
              <a:t>연습 12.2 ★★ — 포기 벌점을 15, 30, 60분으로 변경했을 때의 순위 변화</a:t>
            </a:r>
          </a:p>
          <a:p>
            <a:pPr lvl="1"/>
            <a:r>
              <a:t>산출물: 벌점별 순위표, 역전 지점, 보고서 문장 2~3줄</a:t>
            </a:r>
          </a:p>
          <a:p>
            <a:pPr/>
            <a:r>
              <a:t>연습 12.3 ★★★ — 공간 형평성 지표 정의와 구현</a:t>
            </a:r>
          </a:p>
          <a:p>
            <a:pPr/>
            <a:r>
              <a:t>다음 주: 8주차 휴강, HW3 무당이 GTFS 작성과 승하차 조사 (팀)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다음 주에 봅니다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8주차 휴강 · HW3 무당이 조사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jihoyeo@gachon.ac.kr · AI공학관 210호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2026-08-31T14:39:01Z</dcterms:created>
  <dcterms:modified xsi:type="dcterms:W3CDTF">2026-08-31T14:39:01Z</dcterms:modified>
</cp:coreProperties>
</file>