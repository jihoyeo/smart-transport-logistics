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12장 도입부. 이 표가 왜 이렇게 나오는지가 오늘의 주제다. 학생들에게 먼저 원인을 추측하게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12장 학습 목표와 같다. 두 번째가 기말 프로젝트 보고서에서 가장 자주 문제가 되는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1장에서 확인한 세 관점이 여기서 지표로 구체화된다. 마지막 값이 도시가 관심을 두는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함정이 프로젝트 보고서에서 가장 자주 나온다. 차량을 줄였는데 대기시간이 그대로였다는 결론을 보면 먼저 서비스율을 확인하게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둘 다 맞는 방법이고 답하려는 질문이 다르다. 하나만 적으면 읽는 사람이 잘못 이해한다. 연습 12.2에서 벌점 값을 바꿔 순위가 뒤집히는 지점을 찾는다.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평균이 숨기는 두 가지를 한 장에서 확인할 수 있다. 7장에서 통행시간 분포를 확인한 것과 같은 접근이다.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프론트 위에서는 데이터가 답을 정해 주지 않는다. 사람이 정한다. 기말 프로젝트에서 시나리오를 고를 때 이 그림을 근거로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남의 결과와 숫자가 다르면 먼저 같은 것을 세고 있는지 확인한다. 정의나 표본이 다른 경우가 알고리즘이 틀린 경우보다 훨씬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0장에서 확인한 근무 시간 종료 효과가 여기서 다시 나온다. 지표 하나로 요약하기 전에 시계열을 먼저 확인하는 순서를 지킨다.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숫자만으로는 어디가 문제인지 알 수 없다. 11장 연습 11.3이 이 재배치 문제이고, 기말 프로젝트의 노선 변경 시나리오와도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항목을 빼지 않는다. 우리 시뮬레이터는 차량 재배치가 없고 소요시간을 근사했으며 신호 대기를 반영하지 않았다. 이것을 적지 않은 보고서는 결과를 실제보다 확실한 것처럼 보이게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파레토 프론트 위에서는 사람이 정한다는 점을 다시 언급한다. 이것으로 중간시험 범위인 0장부터 8장과 12장이 끝난다.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중간시험은 10-27이고 범위는 0장부터 8장과 12장이다. 9주차 시험 전까지 교재의 연습문제를 다시 확인하도록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7주차 수요일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결과 읽기 — 지표와 시각화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12장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10월 14일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12장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이상한 줄이 있는 표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12.1 지표 세 무리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관점별 지표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12.2–12.3 생존 편향과 분포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대기시간이 줄지 않는 이유  ·  3.2 포기 승객을 세는 방법  ·  3.3 분포로 확인하기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12.4–12.5 파레토와 엔진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서비스율과 가동률의 상충  ·  4.2 엔진 결과와의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12.6–12.7 시간대와 공간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시간대별 변화  ·  5.2 오래 기다린 승객의 위치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12.8 보고서와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보고서 결과 절의 구성  ·  6.2 오늘의 정리  ·  6.3 연습과 다음 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이상한 줄이 있는 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이상한 줄이 있는 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차량 20대의 평균 대기시간 7.32분, 60대는 7.21분</a:t>
            </a:r>
          </a:p>
          <a:p>
            <a:pPr/>
            <a:r>
              <a:t>차량을 세 배로 늘렸는데 대기시간이 거의 동일</a:t>
            </a:r>
          </a:p>
          <a:p>
            <a:pPr/>
            <a:r>
              <a:t>20대 시나리오에서 승객의 61%가 배차 실패</a:t>
            </a:r>
          </a:p>
          <a:p>
            <a:pPr/>
            <a:r>
              <a:t>숫자가 틀린 것이 아니라 읽는 방법이 틀린 상황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지표를 승객, 운영자, 도시 세 관점으로 구분</a:t>
            </a:r>
          </a:p>
          <a:p>
            <a:pPr/>
            <a:r>
              <a:t>평균 하나로 판단할 때 생기는 편향 발견</a:t>
            </a:r>
          </a:p>
          <a:p>
            <a:pPr/>
            <a:r>
              <a:t>시나리오 여러 개를 한 표로 비교하고 파레토 프론트 작성</a:t>
            </a:r>
          </a:p>
          <a:p>
            <a:pPr/>
            <a:r>
              <a:t>차량 이동 기록을 지도로 재생해 공간 문제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12.1 지표 세 무리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관점별 지표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관점별 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12.1 지표 세 무리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기준 실행 결과: 서비스율 1.0, 대기 중앙값 3.05분, 90분위 8.27분</a:t>
            </a:r>
          </a:p>
          <a:p>
            <a:pPr/>
            <a:r>
              <a:t>최댓값 26.45분, 가동률 0.67, 공차 비율 0.19</a:t>
            </a:r>
          </a:p>
          <a:p>
            <a:pPr/>
            <a:r>
              <a:t>공차 비율의 뜻: 승객 없이 도로를 사용한 거리의 비중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세 관점이 확인하는 것과 대응 지표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관점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확인하는 것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지표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승객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탑승 여부와 대기 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서비스율, 대기시간 중앙값·90분위·최댓값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운영자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차량 가동과 처리량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가동률, 차량당 처리 건수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도로 사용량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총 주행거리, 공차 비율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12.2–12.3 생존 편향과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대기시간이 줄지 않는 이유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포기 승객을 세는 방법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분포로 확인하기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대기시간이 줄지 않는 이유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12.2–12.3 생존 편향과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대기시간은 배차에 성공한 승객만 계산 대상</a:t>
            </a:r>
          </a:p>
          <a:p>
            <a:pPr/>
            <a:r>
              <a:t>차량이 적으면 가까운 승객만 배차되고 먼 승객은 포기 처리</a:t>
            </a:r>
          </a:p>
          <a:p>
            <a:pPr/>
            <a:r>
              <a:t>남은 승객의 평균 대기가 짧게 산출 — 생존 편향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차량 대수별 평균 대기시간과 서비스율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차량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평균 대기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서비스율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20대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7.32분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0.39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7.21분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80대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4.28분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1.00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포기 승객을 세는 방법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12.2–12.3 생존 편향과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방법 1: 배차된 승객만 집계</a:t>
            </a:r>
          </a:p>
          <a:p>
            <a:pPr/>
            <a:r>
              <a:t>방법 2: 포기 승객에게 벌점 시간 부여 — 예를 들어 30분</a:t>
            </a:r>
          </a:p>
          <a:p>
            <a:pPr lvl="1"/>
            <a:r>
              <a:t>20대 시나리오가 21분 초과, 80대는 4.28분 — 순위 역전</a:t>
            </a:r>
          </a:p>
          <a:p>
            <a:pPr/>
            <a:r>
              <a:t>선택 기준은 답하려는 질문</a:t>
            </a:r>
          </a:p>
          <a:p>
            <a:pPr lvl="1"/>
            <a:r>
              <a:t>택시를 탄 사람의 대기 시간 → 방법 1</a:t>
            </a:r>
          </a:p>
          <a:p>
            <a:pPr lvl="1"/>
            <a:r>
              <a:t>이 지역에서 택시를 부를 때의 소요 → 방법 2</a:t>
            </a:r>
          </a:p>
          <a:p>
            <a:pPr/>
            <a:r>
              <a:t>보고서 원칙: 서비스율과 대기시간을 항상 함께 기재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분포로 확인하기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12.2–12.3 생존 편향과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80대는 분포가 왼쪽에 집중되고 높이도 큼</a:t>
            </a:r>
          </a:p>
          <a:p>
            <a:pPr/>
            <a:r>
              <a:t>높이 차이가 곧 배차 성공 인원의 차이</a:t>
            </a:r>
          </a:p>
          <a:p>
            <a:pPr/>
            <a:r>
              <a:t>히스토그램이 동시에 보여주는 것: 분포 모양과 인원 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차량 20대와 80대의 대기시간 분포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12_wait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12.4–12.5 파레토와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서비스율과 가동률의 상충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엔진 결과와의 대조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서비스율과 가동률의 상충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12.4–12.5 파레토와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오른쪽 위가 바람직하지만 해당 영역에 점이 없음</a:t>
            </a:r>
          </a:p>
          <a:p>
            <a:pPr/>
            <a:r>
              <a:t>서비스율을 올리면 가동률 하락, 가동률을 올리면 서비스율 하락</a:t>
            </a:r>
          </a:p>
          <a:p>
            <a:pPr/>
            <a:r>
              <a:t>어느 쪽도 상대를 완전히 이기지 못하는 선택지 집합 = 파레토 프론트</a:t>
            </a:r>
          </a:p>
          <a:p>
            <a:pPr/>
            <a:r>
              <a:t>곡선이 꺾이는 지점 부근이 대체로 합리적 선택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2. 차량 대수별 서비스율과 가동률의 파레토 프론트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12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엔진 결과와의 대조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12.4–12.5 파레토와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대기시간 분위와 공차 비율은 우리 루프와 엔진이 거의 일치</a:t>
            </a:r>
          </a:p>
          <a:p>
            <a:pPr lvl="1"/>
            <a:r>
              <a:t>공차 비율 0.19 대 0.186</a:t>
            </a:r>
          </a:p>
          <a:p>
            <a:pPr/>
            <a:r>
              <a:t>총 주행거리는 두 배 이상 차이 — 우리 루프의 오류가 아님</a:t>
            </a:r>
          </a:p>
          <a:p>
            <a:pPr/>
            <a:r>
              <a:t>원인: 엔진은 시각화용으로 전체 통행의 10%만 기록</a:t>
            </a:r>
          </a:p>
          <a:p>
            <a:pPr/>
            <a:r>
              <a:t>절댓값을 비교할 수 없을 때도 비율은 비교 가능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12.6–12.7 시간대와 공간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시간대별 변화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오래 기다린 승객의 위치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시간대별 변화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12.6–12.7 시간대와 공간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 숫자로 요약하면 시간에 따른 변화가 사라짐</a:t>
            </a:r>
          </a:p>
          <a:p>
            <a:pPr/>
            <a:r>
              <a:t>분 단위 기록을 시간 단위로 집계해 확인</a:t>
            </a:r>
          </a:p>
          <a:p>
            <a:pPr/>
            <a:r>
              <a:t>저녁 6시 시작, 밤 10시경 운행 차량 정점</a:t>
            </a:r>
          </a:p>
          <a:p>
            <a:pPr/>
            <a:r>
              <a:t>자정에 근접할수록 근무 종료로 차량 감소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오래 기다린 승객의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12.6–12.7 시간대와 공간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10분 초과 대기 승객의 호출 위치를 지도에 표시</a:t>
            </a:r>
          </a:p>
          <a:p>
            <a:pPr/>
            <a:r>
              <a:t>결과: 시가지가 아니라 외곽에 집중</a:t>
            </a:r>
          </a:p>
          <a:p>
            <a:pPr/>
            <a:r>
              <a:t>해석: 차량이 시가지 중심에 머무는 동안 외곽 호출이 지연</a:t>
            </a:r>
          </a:p>
          <a:p>
            <a:pPr/>
            <a:r>
              <a:t>차량 재배치가 필요한 지점이 지도에서 확인됨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12.8 보고서와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보고서 결과 절의 구성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연습과 다음 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보고서 결과 절의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12.8 보고서와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 문장 결론 — 예를 들어 차량 60대가 하남시 저녁 수요에 적정</a:t>
            </a:r>
          </a:p>
          <a:p>
            <a:pPr/>
            <a:r>
              <a:t>근거 표 — 시나리오별 서비스율, 대기 분위, 가동률, 공차 비율</a:t>
            </a:r>
          </a:p>
          <a:p>
            <a:pPr/>
            <a:r>
              <a:t>그림 세 장 — 분포 히스토그램, 파레토 산점도, 공간 지도</a:t>
            </a:r>
          </a:p>
          <a:p>
            <a:pPr/>
            <a:r>
              <a:t>한계 — 가정한 것과 반영하지 않은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12.8 보고서와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지표는 승객, 운영자, 도시 세 관점 — 셋은 서로 상충</a:t>
            </a:r>
          </a:p>
          <a:p>
            <a:pPr/>
            <a:r>
              <a:t>대기시간은 배차 성공자만 집계 — 서비스율과 함께 보지 않으면 생존 편향</a:t>
            </a:r>
          </a:p>
          <a:p>
            <a:pPr/>
            <a:r>
              <a:t>평균 대신 중앙값, 90분위, 분포를 확인</a:t>
            </a:r>
          </a:p>
          <a:p>
            <a:pPr/>
            <a:r>
              <a:t>남의 결과와 다르면 알고리즘보다 정의와 표본을 먼저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연습과 다음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12.8 보고서와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12.1 ★ — 90분위와 최댓값 중 서비스 품질 지표 선택</a:t>
            </a:r>
          </a:p>
          <a:p>
            <a:pPr lvl="1"/>
            <a:r>
              <a:t>산출물: 꺾은선 그래프 1장, 선택과 근거 3~4줄</a:t>
            </a:r>
          </a:p>
          <a:p>
            <a:pPr/>
            <a:r>
              <a:t>연습 12.2 ★★ — 포기 벌점을 15, 30, 60분으로 변경했을 때의 순위 변화</a:t>
            </a:r>
          </a:p>
          <a:p>
            <a:pPr lvl="1"/>
            <a:r>
              <a:t>산출물: 벌점별 순위표, 역전 지점, 보고서 문장 2~3줄</a:t>
            </a:r>
          </a:p>
          <a:p>
            <a:pPr/>
            <a:r>
              <a:t>연습 12.3 ★★★ — 공간 형평성 지표 정의와 구현</a:t>
            </a:r>
          </a:p>
          <a:p>
            <a:pPr/>
            <a:r>
              <a:t>다음 주: 8주차 휴강, HW3 무당이 GTFS 작성과 승하차 조사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8주차 휴강 · HW3 무당이 조사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