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  <p:sldId id="268" r:id="rId2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목차는 표입니다. 섹션 수가 바뀌면 행을 삽입/삭제하세요.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8장 도입부. 지금까지 만든 경로 탐색이 개인 단위였다면, 오늘부터는 집단 단위로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8장 학습 목표와 같다. 기말 프로젝트에서 무당이 수요를 만들 때 이 절차를 그대로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개인 기록이 아니라 집계값이라는 점이 중요하다. 8시 12분에 미사동에서 출발했다는 정보는 없고, 8시대에 미사동에서 신장동으로 47.3명이 갔다는 정보만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통행이 많으면서 하루를 전부 실행하지 않아도 되는 구간이라 그 시간대를 골랐다.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행정동 코드 앞 다섯 자리가 시군구다. 이 54%라는 숫자가 시뮬레이션 대상 범위를 정하는 근거가 된다. 기말 프로젝트에서 무당이는 캠퍼스 안에서 끝나므로 사정이 다르다.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단위를 틀리면 오류 없이 이상한 결과가 나온다. 그래서 형식 검증을 계약처럼 강제한다. 기말 프로젝트 제출물도 이 검증을 먼저 통과해야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산 중턱에서 택시를 부르는 사람은 없다. 지도를 보여주면 학생들이 먼저 문제를 발견한다.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대체로 맞지만 항상은 아니다. 고속도로 구간은 도로가 길지만 거기서 택시를 부르지 않는다. 가정을 명시하고 넘어가는 것이 이 과목의 방식이다.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8.2절의 실제 통행량 그래프와 생성된 수요의 모양이 같은지 나란히 확인한다. 같지 않으면 프로파일 적용이 잘못된 것이다.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형식이 틀린 수요가 서버에 올라가 이상한 결과를 내는 것보다 올리기 전에 막히는 편이 낫다. 서버가 없으면 이 절은 건너뛴다.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도로 위 샘플링의 가정을 다시 언급하고 넘어간다. 오후에는 12장으로 이동해 결과를 읽는 방법을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연습 8.3은 가정을 전부 명시하고 가정 하나를 바꿨을 때 결과 범위를 제시하는 과제다. 기말 프로젝트 보고서에서 요구하는 형식과 같다.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과목 코드 · 과목명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N주차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강의 제목</a:t>
            </a:r>
            <a:endParaRPr lang="en-US" sz="5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577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이름 · 소속</a:t>
            </a:r>
            <a:endParaRPr lang="en-US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날짜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섹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>
            <a:lvl1pPr algn="l" indent="0" marL="0">
              <a:buNone/>
              <a:def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섹션 이름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949440" y="3611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1.1 하위 섹션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8장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8장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pic" hasCustomPrompt="1"/>
          </p:nvPr>
        </p:nvSpPr>
        <p:spPr>
          <a:xfrm>
            <a:off x="4937760" y="1417320"/>
            <a:ext cx="6565392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937760" y="571500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8장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pic" hasCustomPrompt="1"/>
          </p:nvPr>
        </p:nvSpPr>
        <p:spPr>
          <a:xfrm>
            <a:off x="685800" y="1417320"/>
            <a:ext cx="10820095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8521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8장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tbl" hasCustomPrompt="1"/>
          </p:nvPr>
        </p:nvSpPr>
        <p:spPr>
          <a:xfrm>
            <a:off x="685800" y="1828800"/>
            <a:ext cx="10820095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8장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type="tbl" hasCustomPrompt="1"/>
          </p:nvPr>
        </p:nvSpPr>
        <p:spPr>
          <a:xfrm>
            <a:off x="4937760" y="1828800"/>
            <a:ext cx="6565392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8장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코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4663440"/>
          </a:xfrm>
          <a:prstGeom prst="roundRect">
            <a:avLst>
              <a:gd name="adj" fmla="val 3268"/>
            </a:avLst>
          </a:prstGeom>
          <a:solidFill>
            <a:srgbClr val="EFEFEF"/>
          </a:solidFill>
          <a:ln/>
        </p:spPr>
        <p:txBody>
          <a:bodyPr wrap="square" lIns="228600" tIns="384048" rIns="228600" bIns="137160" rtlCol="0" anchor="t">
            <a:noAutofit/>
          </a:bodyPr>
          <a:lstStyle>
            <a:lvl1pPr algn="l"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코드</a:t>
            </a:r>
            <a:endParaRPr lang="en-US" sz="1100" dirty="0"/>
          </a:p>
        </p:txBody>
      </p:sp>
      <p:sp>
        <p:nvSpPr>
          <p:cNvPr id="6" name="Text 0"/>
          <p:cNvSpPr/>
          <p:nvPr/>
        </p:nvSpPr>
        <p:spPr>
          <a:xfrm>
            <a:off x="516636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 ]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8장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마무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연락처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스마트 교통물류 · 2026-2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7주차 화요일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통행 수요와 수요 생성기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교재 8장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여지호 · 가천대학교 스마트시티학과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2026년 10월 13일 (화)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강의 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8장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03"/>
          </p:nvPr>
        </p:nvGraphicFramePr>
        <p:xfrm>
          <a:off x="685800" y="1828800"/>
          <a:ext cx="10820093" cy="44196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914631"/>
                <a:gridCol w="2560969"/>
                <a:gridCol w="7344493"/>
              </a:tblGrid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01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도입과 학습 목표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1.1 승객 990명의 출처  ·  1.2 학습 목표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02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8.1–8.3 O-D 데이터와 패턴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2.1 O-D 표의 구조  ·  2.2 시간대 패턴  ·  2.3 공간 패턴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03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8.4 시뮬레이터 수요 형식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3.1 다섯 개 컬럼과 검증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04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8.5–8.7 수요 생성 세 단계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4.1 1단계 경계 안 균등 샘플링  ·  4.2 2단계 도로 위 샘플링  ·  4.3 3단계 시간대 프로파일 반영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05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8.8 엔진 투입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5.1 만든 수요로 시뮬레이션 실행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06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정리와 연습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6.1 오늘의 정리  ·  6.2 연습과 다음 장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1.1  </a:t>
            </a:r>
            <a:r>
              <a:t>승객 990명의 출처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1.2  </a:t>
            </a:r>
            <a:r>
              <a:t>학습 목표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1.1 승객 990명의 출처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0장 시뮬레이션의 승객 990명 — 출발지와 도착지를 누가 정했는지 미확인</a:t>
            </a:r>
          </a:p>
          <a:p>
            <a:pPr/>
            <a:r>
              <a:t>지금까지 다룬 것은 한 사람의 경로</a:t>
            </a:r>
          </a:p>
          <a:p>
            <a:pPr/>
            <a:r>
              <a:t>시뮬레이션에 들어가는 것은 수천 명</a:t>
            </a:r>
          </a:p>
          <a:p>
            <a:pPr/>
            <a:r>
              <a:t>이 장의 범위: 수요 데이터 확인, 형식 이해, 데이터가 없을 때의 생성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1.2 학습 목표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도입과 학습 목표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수도권 생활이동 O-D 데이터의 시간대와 공간 패턴 추출</a:t>
            </a:r>
          </a:p>
          <a:p>
            <a:pPr/>
            <a:r>
              <a:t>시뮬레이터가 받는 수요 형식 다섯 개 컬럼 이해</a:t>
            </a:r>
          </a:p>
          <a:p>
            <a:pPr/>
            <a:r>
              <a:t>수요 생성기 세 단계 비교와 각 단계의 개선 내용 설명</a:t>
            </a:r>
          </a:p>
          <a:p>
            <a:pPr/>
            <a:r>
              <a:t>실제 데이터에서 추출한 시간대 프로파일로 수요 생성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8.1–8.3 O-D 데이터와 패턴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2.1  </a:t>
            </a:r>
            <a:r>
              <a:t>O-D 표의 구조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2.2  </a:t>
            </a:r>
            <a:r>
              <a:t>시간대 패턴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2.3  </a:t>
            </a:r>
            <a:r>
              <a:t>공간 패턴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2.1 O-D 표의 구조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8.1–8.3 O-D 데이터와 패턴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출처: 통신사 기지국 접속 기록</a:t>
            </a:r>
          </a:p>
          <a:p>
            <a:pPr/>
            <a:r>
              <a:t>행 하나의 의미: 이 동에서 저 동으로, 이 시간대에, 몇 명</a:t>
            </a:r>
          </a:p>
          <a:p>
            <a:pPr/>
            <a:r>
              <a:t>이동거리 중앙값 5.2 km · 이동시간 중앙값 20분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1. 수도권 생활이동 O-D 데이터의 컬럼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94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3282696"/>
                <a:gridCol w="3282696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컬럼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뜻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O_ADMDONG_CD · D_ADMDONG_CD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출발·도착 행정동 코드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ST_TIME_CD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출발 시간대 0~23시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CNT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통행량, 추정치라 소수점 존재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MOVE_DIST · MOVE_TIME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평균 이동거리와 이동시간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2.2 시간대 패턴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8.1–8.3 O-D 데이터와 패턴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봉우리 두 개 — 오전 7~8시가 최고, 오후 5~6시가 그다음</a:t>
            </a:r>
          </a:p>
          <a:p>
            <a:pPr/>
            <a:r>
              <a:t>최저 시간대는 새벽 3~4시</a:t>
            </a:r>
          </a:p>
          <a:p>
            <a:pPr/>
            <a:r>
              <a:t>0장에서 저녁 6시부터 자정을 선택한 근거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그림 1. 하남 O-D 데이터의 출발 시각별 통행량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  <p:pic>
        <p:nvPicPr>
          <p:cNvPr id="26" name="Picture 25" descr="ch08_hou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6565392" cy="26150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2.3 공간 패턴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8.1–8.3 O-D 데이터와 패턴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하남 출발 통행의 54%가 하남 안에서 종료</a:t>
            </a:r>
          </a:p>
          <a:p>
            <a:pPr/>
            <a:r>
              <a:t>나머지 절반의 목적지: 서울 동남권(강동·송파·강남)과 인접 시군</a:t>
            </a:r>
          </a:p>
          <a:p>
            <a:pPr/>
            <a:r>
              <a:t>경계 설정의 영향</a:t>
            </a:r>
          </a:p>
          <a:p>
            <a:pPr lvl="1"/>
            <a:r>
              <a:t>하남 경계 안만 다루면 통행의 절반 누락</a:t>
            </a:r>
          </a:p>
          <a:p>
            <a:pPr lvl="1"/>
            <a:r>
              <a:t>수도권 전체를 다루면 데이터와 계산량이 크게 증가</a:t>
            </a:r>
          </a:p>
          <a:p>
            <a:pPr/>
            <a:r>
              <a:t>결정 기준: 답하려는 질문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8.4 시뮬레이터 수요 형식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3.1  </a:t>
            </a:r>
            <a:r>
              <a:t>다섯 개 컬럼과 검증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3.1 다섯 개 컬럼과 검증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8.4 시뮬레이터 수요 형식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시뮬레이터는 집계표가 아니라 개인 목록을 입력받음</a:t>
            </a:r>
          </a:p>
          <a:p>
            <a:pPr/>
            <a:r>
              <a:t>컬럼 다섯 개: request_time과 출발·도착 위경도 네 개</a:t>
            </a:r>
          </a:p>
          <a:p>
            <a:pPr/>
            <a:r>
              <a:t>request_time은 자정부터의 분 — 1080이 18:00</a:t>
            </a:r>
          </a:p>
          <a:p>
            <a:pPr/>
            <a:r>
              <a:t>검증 함수가 잡아 주는 실수</a:t>
            </a:r>
          </a:p>
          <a:p>
            <a:pPr lvl="1"/>
            <a:r>
              <a:t>분 단위를 초 단위로 입력한 경우</a:t>
            </a:r>
          </a:p>
          <a:p>
            <a:pPr lvl="1"/>
            <a:r>
              <a:t>위도와 경도를 서로 바꿔 입력한 경우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8.5–8.7 수요 생성 세 단계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4.1  </a:t>
            </a:r>
            <a:r>
              <a:t>1단계 경계 안 균등 샘플링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4.2  </a:t>
            </a:r>
            <a:r>
              <a:t>2단계 도로 위 샘플링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4.3  </a:t>
            </a:r>
            <a:r>
              <a:t>3단계 시간대 프로파일 반영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4.1 1단계 경계 안 균등 샘플링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8.5–8.7 수요 생성 세 단계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방법: 행정 경계 안에 점을 고르게 배치</a:t>
            </a:r>
          </a:p>
          <a:p>
            <a:pPr/>
            <a:r>
              <a:t>결과: 경계 전체에 균등 분포</a:t>
            </a:r>
          </a:p>
          <a:p>
            <a:pPr/>
            <a:r>
              <a:t>문제: 검단산 중턱과 한강 위에도 호출이 생성</a:t>
            </a:r>
          </a:p>
          <a:p>
            <a:pPr/>
            <a:r>
              <a:t>판단: 가장 단순하지만 그럴듯하지 않음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4.2 2단계 도로 위 샘플링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8.5–8.7 수요 생성 세 단계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방법: 2장의 도로망 위에서만 추출, 도로 길이에 비례한 가중치</a:t>
            </a:r>
          </a:p>
          <a:p>
            <a:pPr/>
            <a:r>
              <a:t>결과: 산과 강이 비고 시가지에 집중</a:t>
            </a:r>
          </a:p>
          <a:p>
            <a:pPr/>
            <a:r>
              <a:t>숨은 가정: 도로가 많은 곳에 사람이 많음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그림 2. 경계 안 균등 샘플링과 도로 위 샘플링의 비교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  <p:pic>
        <p:nvPicPr>
          <p:cNvPr id="26" name="Picture 25" descr="ch08_sam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6565392" cy="26150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4.3 3단계 시간대 프로파일 반영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8.5–8.7 수요 생성 세 단계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앞의 두 단계는 시간에 대해 균등 — 출퇴근 첨두가 없음</a:t>
            </a:r>
          </a:p>
          <a:p>
            <a:pPr/>
            <a:r>
              <a:t>방법: O-D 데이터에서 시간대 비중을 추출해 호출 시각에 적용</a:t>
            </a:r>
          </a:p>
          <a:p>
            <a:pPr/>
            <a:r>
              <a:t>결과: 오전 7~8시와 오후 5~6시에 봉우리 재현</a:t>
            </a:r>
          </a:p>
          <a:p>
            <a:pPr/>
            <a:r>
              <a:t>검증: 생성한 수요도 형식 검증을 통과해야 함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8.8 엔진 투입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5.1  </a:t>
            </a:r>
            <a:r>
              <a:t>만든 수요로 시뮬레이션 실행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5.1 만든 수요로 시뮬레이션 실행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교재 8.8 엔진 투입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순서: 수요 생성 → 서버 업로드 → 조건을 바꿔 반복 실행</a:t>
            </a:r>
          </a:p>
          <a:p>
            <a:pPr/>
            <a:r>
              <a:t>업로드 함수가 내부에서 형식 검증을 먼저 수행</a:t>
            </a:r>
          </a:p>
          <a:p>
            <a:pPr/>
            <a:r>
              <a:t>형식이 틀린 수요는 업로드 단계에서 차단</a:t>
            </a:r>
          </a:p>
          <a:p>
            <a:pPr/>
            <a:r>
              <a:t>기말 프로젝트도 같은 순서로 진행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정리와 연습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6.1  </a:t>
            </a:r>
            <a:r>
              <a:t>오늘의 정리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6.2  </a:t>
            </a:r>
            <a:r>
              <a:t>연습과 다음 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6.1 오늘의 정리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정리와 연습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O-D 표는 집계 자료 — 개인 기록이 아니므로 개인 단위로 분해 필요</a:t>
            </a:r>
          </a:p>
          <a:p>
            <a:pPr/>
            <a:r>
              <a:t>하남 통행은 오전 7~8시와 오후 5~6시에 봉우리, 54%가 하남 안에서 종료</a:t>
            </a:r>
          </a:p>
          <a:p>
            <a:pPr/>
            <a:r>
              <a:t>시뮬레이터 수요 형식은 호출 시각과 출발·도착 좌표 다섯 개</a:t>
            </a:r>
          </a:p>
          <a:p>
            <a:pPr/>
            <a:r>
              <a:t>생성 3단계: 경계 안 균등 → 도로 위 → 시간대 프로파일 반영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6.2 연습과 다음 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정리와 연습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연습 8.1 ★ — 통행량 상위 행정동 쌍 10개, 오전과 저녁의 순서 역전</a:t>
            </a:r>
          </a:p>
          <a:p>
            <a:pPr lvl="1"/>
            <a:r>
              <a:t>산출물: 시간대별 상위 10쌍 표, 역전의 의미 2~3줄</a:t>
            </a:r>
          </a:p>
          <a:p>
            <a:pPr/>
            <a:r>
              <a:t>연습 8.2 ★★ — 출발지와 목적지를 쌍으로 추출하도록 개선</a:t>
            </a:r>
          </a:p>
          <a:p>
            <a:pPr lvl="1"/>
            <a:r>
              <a:t>산출물: 구현 코드, 기존 방식과의 통행거리 분포 비교 그래프</a:t>
            </a:r>
          </a:p>
          <a:p>
            <a:pPr/>
            <a:r>
              <a:t>연습 8.3 ★★★ — 하남시 하루 택시 수요 추정과 민감도 분석</a:t>
            </a:r>
          </a:p>
          <a:p>
            <a:pPr/>
            <a:r>
              <a:t>다음: 오후에 12장 지표와 결과 읽기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수요일에 봅니다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12장 — 지표와 결과 읽기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jihoyeo@gachon.ac.kr · AI공학관 210호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2026-08-31T14:39:01Z</dcterms:created>
  <dcterms:modified xsi:type="dcterms:W3CDTF">2026-08-31T14:39:01Z</dcterms:modified>
</cp:coreProperties>
</file>